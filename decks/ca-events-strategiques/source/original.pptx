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6858000" cy="9144000"/>
  <p:embeddedFontLst>
    <p:embeddedFont>
      <p:font typeface="Roboto"/>
      <p:regular r:id="rId35"/>
      <p:bold r:id="rId36"/>
      <p:italic r:id="rId37"/>
      <p:boldItalic r:id="rId38"/>
    </p:embeddedFont>
    <p:embeddedFont>
      <p:font typeface="Inter"/>
      <p:regular r:id="rId39"/>
      <p:bold r:id="rId40"/>
      <p:italic r:id="rId41"/>
      <p:boldItalic r:id="rId42"/>
    </p:embeddedFont>
    <p:embeddedFont>
      <p:font typeface="Arial Black"/>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77">
          <p15:clr>
            <a:srgbClr val="747775"/>
          </p15:clr>
        </p15:guide>
        <p15:guide id="2" pos="3947">
          <p15:clr>
            <a:srgbClr val="747775"/>
          </p15:clr>
        </p15:guide>
        <p15:guide id="3" pos="35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77" orient="horz"/>
        <p:guide pos="3947"/>
        <p:guide pos="35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fntdata"/><Relationship Id="rId20" Type="http://schemas.openxmlformats.org/officeDocument/2006/relationships/slide" Target="slides/slide15.xml"/><Relationship Id="rId42" Type="http://schemas.openxmlformats.org/officeDocument/2006/relationships/font" Target="fonts/Inter-boldItalic.fntdata"/><Relationship Id="rId41" Type="http://schemas.openxmlformats.org/officeDocument/2006/relationships/font" Target="fonts/Inter-italic.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ArialBlack-regular.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italic.fntdata"/><Relationship Id="rId14" Type="http://schemas.openxmlformats.org/officeDocument/2006/relationships/slide" Target="slides/slide9.xml"/><Relationship Id="rId36" Type="http://schemas.openxmlformats.org/officeDocument/2006/relationships/font" Target="fonts/Roboto-bold.fntdata"/><Relationship Id="rId17" Type="http://schemas.openxmlformats.org/officeDocument/2006/relationships/slide" Target="slides/slide12.xml"/><Relationship Id="rId39" Type="http://schemas.openxmlformats.org/officeDocument/2006/relationships/font" Target="fonts/Inter-regular.fntdata"/><Relationship Id="rId16" Type="http://schemas.openxmlformats.org/officeDocument/2006/relationships/slide" Target="slides/slide11.xml"/><Relationship Id="rId38" Type="http://schemas.openxmlformats.org/officeDocument/2006/relationships/font" Target="fonts/Robo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6a34e0d73_0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d6a34e0d73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8d0d6bada_1_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d8d0d6bada_1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8d0d6bada_1_10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8d0d6bada_1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8d0d6bada_1_1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g3d8d0d6bada_1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8d0d6bada_1_1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g3d8d0d6bada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9915ff622_0_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d9915ff622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9915ff622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g3d9915ff622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9915ff622_0_10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d9915ff622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9915ff622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d9915ff622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9915ff622_0_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g3d9915ff622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d8d0d6bada_1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g3d8d0d6bada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d8d0d6bada_1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g3d8d0d6bada_1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d8d0d6bada_1_1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g3d8d0d6bada_1_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8d0d6bada_1_20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d8d0d6bada_1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8d0d6bada_1_2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g3d8d0d6bada_1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8d0d6bada_1_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d8d0d6bada_1_2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d8d0d6bada_1_2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8d0d6bada_1_2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g3d8d0d6bada_1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d9915ff62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3d9915ff62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d9915ff622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3d9915ff622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9915ff622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g3d9915ff622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d6a34e0d73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g3d6a34e0d73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d6a34e0d73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d9915ff622_0_2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g3d9915ff622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6a34e0d73_0_8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g3d6a34e0d73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d9915ff622_0_2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3d9915ff622_0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d9915ff622_0_2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g3d9915ff622_0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d9915ff622_0_2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g3d9915ff622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avec photo" showMasterSp="0">
  <p:cSld name="Couverture avec photo">
    <p:spTree>
      <p:nvGrpSpPr>
        <p:cNvPr id="17" name="Shape 17"/>
        <p:cNvGrpSpPr/>
        <p:nvPr/>
      </p:nvGrpSpPr>
      <p:grpSpPr>
        <a:xfrm>
          <a:off x="0" y="0"/>
          <a:ext cx="0" cy="0"/>
          <a:chOff x="0" y="0"/>
          <a:chExt cx="0" cy="0"/>
        </a:xfrm>
      </p:grpSpPr>
      <p:pic>
        <p:nvPicPr>
          <p:cNvPr id="18" name="Google Shape;18;p2"/>
          <p:cNvPicPr preferRelativeResize="0"/>
          <p:nvPr/>
        </p:nvPicPr>
        <p:blipFill rotWithShape="1">
          <a:blip r:embed="rId2">
            <a:alphaModFix/>
          </a:blip>
          <a:srcRect b="0" l="0" r="0" t="0"/>
          <a:stretch/>
        </p:blipFill>
        <p:spPr>
          <a:xfrm>
            <a:off x="6637595" y="4822825"/>
            <a:ext cx="4907826" cy="1188114"/>
          </a:xfrm>
          <a:prstGeom prst="rect">
            <a:avLst/>
          </a:prstGeom>
          <a:noFill/>
          <a:ln>
            <a:noFill/>
          </a:ln>
        </p:spPr>
      </p:pic>
      <p:sp>
        <p:nvSpPr>
          <p:cNvPr id="19" name="Google Shape;19;p2"/>
          <p:cNvSpPr txBox="1"/>
          <p:nvPr>
            <p:ph idx="1" type="body"/>
          </p:nvPr>
        </p:nvSpPr>
        <p:spPr>
          <a:xfrm>
            <a:off x="7194207"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0" name="Google Shape;20;p2"/>
          <p:cNvSpPr txBox="1"/>
          <p:nvPr>
            <p:ph type="ctrTitle"/>
          </p:nvPr>
        </p:nvSpPr>
        <p:spPr>
          <a:xfrm>
            <a:off x="6230470" y="731743"/>
            <a:ext cx="5580000" cy="2414623"/>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2"/>
              </a:buClr>
              <a:buSzPts val="4400"/>
              <a:buFont typeface="Arial Black"/>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
          <p:cNvSpPr txBox="1"/>
          <p:nvPr>
            <p:ph idx="2" type="subTitle"/>
          </p:nvPr>
        </p:nvSpPr>
        <p:spPr>
          <a:xfrm>
            <a:off x="6230470" y="3056037"/>
            <a:ext cx="5580000" cy="23400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accent1"/>
              </a:buClr>
              <a:buSzPts val="4400"/>
              <a:buNone/>
              <a:defRPr b="1" sz="4400" cap="none">
                <a:solidFill>
                  <a:schemeClr val="accent1"/>
                </a:solidFill>
                <a:latin typeface="Arial Black"/>
                <a:ea typeface="Arial Black"/>
                <a:cs typeface="Arial Black"/>
                <a:sym typeface="Arial Black"/>
              </a:defRPr>
            </a:lvl1pPr>
            <a:lvl2pPr lvl="1" algn="ctr">
              <a:lnSpc>
                <a:spcPct val="100000"/>
              </a:lnSpc>
              <a:spcBef>
                <a:spcPts val="2000"/>
              </a:spcBef>
              <a:spcAft>
                <a:spcPts val="0"/>
              </a:spcAft>
              <a:buSzPts val="2000"/>
              <a:buNone/>
              <a:defRPr sz="2000"/>
            </a:lvl2pPr>
            <a:lvl3pPr lvl="2" algn="ctr">
              <a:lnSpc>
                <a:spcPct val="100000"/>
              </a:lnSpc>
              <a:spcBef>
                <a:spcPts val="2300"/>
              </a:spcBef>
              <a:spcAft>
                <a:spcPts val="0"/>
              </a:spcAft>
              <a:buClr>
                <a:schemeClr val="dk1"/>
              </a:buClr>
              <a:buSzPts val="1800"/>
              <a:buNone/>
              <a:defRPr sz="1800"/>
            </a:lvl3pPr>
            <a:lvl4pPr lvl="3" algn="ctr">
              <a:lnSpc>
                <a:spcPct val="100000"/>
              </a:lnSpc>
              <a:spcBef>
                <a:spcPts val="180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22" name="Google Shape;22;p2"/>
          <p:cNvCxnSpPr/>
          <p:nvPr/>
        </p:nvCxnSpPr>
        <p:spPr>
          <a:xfrm>
            <a:off x="804000" y="6120000"/>
            <a:ext cx="10584000" cy="0"/>
          </a:xfrm>
          <a:prstGeom prst="straightConnector1">
            <a:avLst/>
          </a:prstGeom>
          <a:noFill/>
          <a:ln cap="flat" cmpd="sng" w="9525">
            <a:solidFill>
              <a:schemeClr val="dk1"/>
            </a:solidFill>
            <a:prstDash val="solid"/>
            <a:miter lim="800000"/>
            <a:headEnd len="sm" w="sm" type="none"/>
            <a:tailEnd len="sm" w="sm" type="none"/>
          </a:ln>
        </p:spPr>
      </p:cxnSp>
      <p:pic>
        <p:nvPicPr>
          <p:cNvPr id="23" name="Google Shape;23;p2"/>
          <p:cNvPicPr preferRelativeResize="0"/>
          <p:nvPr/>
        </p:nvPicPr>
        <p:blipFill rotWithShape="1">
          <a:blip r:embed="rId3">
            <a:alphaModFix/>
          </a:blip>
          <a:srcRect b="0" l="0" r="0" t="0"/>
          <a:stretch/>
        </p:blipFill>
        <p:spPr>
          <a:xfrm>
            <a:off x="798768" y="731743"/>
            <a:ext cx="5162551" cy="51625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uverture" showMasterSp="0">
  <p:cSld name="Couverture">
    <p:spTree>
      <p:nvGrpSpPr>
        <p:cNvPr id="24" name="Shape 24"/>
        <p:cNvGrpSpPr/>
        <p:nvPr/>
      </p:nvGrpSpPr>
      <p:grpSpPr>
        <a:xfrm>
          <a:off x="0" y="0"/>
          <a:ext cx="0" cy="0"/>
          <a:chOff x="0" y="0"/>
          <a:chExt cx="0" cy="0"/>
        </a:xfrm>
      </p:grpSpPr>
      <p:pic>
        <p:nvPicPr>
          <p:cNvPr id="25" name="Google Shape;25;p3"/>
          <p:cNvPicPr preferRelativeResize="0"/>
          <p:nvPr/>
        </p:nvPicPr>
        <p:blipFill rotWithShape="1">
          <a:blip r:embed="rId2">
            <a:alphaModFix/>
          </a:blip>
          <a:srcRect b="0" l="0" r="0" t="0"/>
          <a:stretch/>
        </p:blipFill>
        <p:spPr>
          <a:xfrm>
            <a:off x="6637595" y="4822825"/>
            <a:ext cx="4907826" cy="1188114"/>
          </a:xfrm>
          <a:prstGeom prst="rect">
            <a:avLst/>
          </a:prstGeom>
          <a:noFill/>
          <a:ln>
            <a:noFill/>
          </a:ln>
        </p:spPr>
      </p:pic>
      <p:sp>
        <p:nvSpPr>
          <p:cNvPr id="26" name="Google Shape;26;p3"/>
          <p:cNvSpPr txBox="1"/>
          <p:nvPr>
            <p:ph idx="1" type="body"/>
          </p:nvPr>
        </p:nvSpPr>
        <p:spPr>
          <a:xfrm>
            <a:off x="7192800"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7" name="Google Shape;27;p3"/>
          <p:cNvSpPr txBox="1"/>
          <p:nvPr>
            <p:ph type="ctrTitle"/>
          </p:nvPr>
        </p:nvSpPr>
        <p:spPr>
          <a:xfrm>
            <a:off x="720000" y="460800"/>
            <a:ext cx="10980000" cy="2520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2"/>
              </a:buClr>
              <a:buSzPts val="5400"/>
              <a:buFont typeface="Arial Black"/>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2" type="subTitle"/>
          </p:nvPr>
        </p:nvSpPr>
        <p:spPr>
          <a:xfrm>
            <a:off x="720000" y="2890800"/>
            <a:ext cx="10980000" cy="23400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accent1"/>
              </a:buClr>
              <a:buSzPts val="5400"/>
              <a:buNone/>
              <a:defRPr b="1" sz="5400" cap="none">
                <a:solidFill>
                  <a:schemeClr val="accent1"/>
                </a:solidFill>
                <a:latin typeface="Arial Black"/>
                <a:ea typeface="Arial Black"/>
                <a:cs typeface="Arial Black"/>
                <a:sym typeface="Arial Black"/>
              </a:defRPr>
            </a:lvl1pPr>
            <a:lvl2pPr lvl="1" algn="ctr">
              <a:lnSpc>
                <a:spcPct val="100000"/>
              </a:lnSpc>
              <a:spcBef>
                <a:spcPts val="2000"/>
              </a:spcBef>
              <a:spcAft>
                <a:spcPts val="0"/>
              </a:spcAft>
              <a:buSzPts val="2000"/>
              <a:buNone/>
              <a:defRPr sz="2000"/>
            </a:lvl2pPr>
            <a:lvl3pPr lvl="2" algn="ctr">
              <a:lnSpc>
                <a:spcPct val="100000"/>
              </a:lnSpc>
              <a:spcBef>
                <a:spcPts val="2300"/>
              </a:spcBef>
              <a:spcAft>
                <a:spcPts val="0"/>
              </a:spcAft>
              <a:buClr>
                <a:schemeClr val="dk1"/>
              </a:buClr>
              <a:buSzPts val="1800"/>
              <a:buNone/>
              <a:defRPr sz="1800"/>
            </a:lvl3pPr>
            <a:lvl4pPr lvl="3" algn="ctr">
              <a:lnSpc>
                <a:spcPct val="100000"/>
              </a:lnSpc>
              <a:spcBef>
                <a:spcPts val="180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29" name="Google Shape;29;p3"/>
          <p:cNvCxnSpPr/>
          <p:nvPr/>
        </p:nvCxnSpPr>
        <p:spPr>
          <a:xfrm>
            <a:off x="804000" y="6120000"/>
            <a:ext cx="105840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verture de chapitre">
  <p:cSld name="Ouverture de chapitre">
    <p:spTree>
      <p:nvGrpSpPr>
        <p:cNvPr id="30" name="Shape 30"/>
        <p:cNvGrpSpPr/>
        <p:nvPr/>
      </p:nvGrpSpPr>
      <p:grpSpPr>
        <a:xfrm>
          <a:off x="0" y="0"/>
          <a:ext cx="0" cy="0"/>
          <a:chOff x="0" y="0"/>
          <a:chExt cx="0" cy="0"/>
        </a:xfrm>
      </p:grpSpPr>
      <p:sp>
        <p:nvSpPr>
          <p:cNvPr id="31" name="Google Shape;31;p4"/>
          <p:cNvSpPr txBox="1"/>
          <p:nvPr>
            <p:ph idx="1" type="body"/>
          </p:nvPr>
        </p:nvSpPr>
        <p:spPr>
          <a:xfrm>
            <a:off x="6480000"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4"/>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35" name="Google Shape;35;p4"/>
          <p:cNvSpPr txBox="1"/>
          <p:nvPr>
            <p:ph type="ctrTitle"/>
          </p:nvPr>
        </p:nvSpPr>
        <p:spPr>
          <a:xfrm>
            <a:off x="720000" y="462061"/>
            <a:ext cx="10980000" cy="2520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2"/>
              </a:buClr>
              <a:buSzPts val="5400"/>
              <a:buFont typeface="Arial Black"/>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2" type="subTitle"/>
          </p:nvPr>
        </p:nvSpPr>
        <p:spPr>
          <a:xfrm>
            <a:off x="720000" y="2891731"/>
            <a:ext cx="10980000" cy="2340000"/>
          </a:xfrm>
          <a:prstGeom prst="rect">
            <a:avLst/>
          </a:prstGeom>
          <a:noFill/>
          <a:ln>
            <a:noFill/>
          </a:ln>
        </p:spPr>
        <p:txBody>
          <a:bodyPr anchorCtr="0" anchor="t" bIns="45700" lIns="91425" spcFirstLastPara="1" rIns="91425" wrap="square" tIns="45700">
            <a:noAutofit/>
          </a:bodyPr>
          <a:lstStyle>
            <a:lvl1pPr lvl="0" algn="l">
              <a:lnSpc>
                <a:spcPct val="85000"/>
              </a:lnSpc>
              <a:spcBef>
                <a:spcPts val="0"/>
              </a:spcBef>
              <a:spcAft>
                <a:spcPts val="0"/>
              </a:spcAft>
              <a:buClr>
                <a:schemeClr val="accent1"/>
              </a:buClr>
              <a:buSzPts val="5400"/>
              <a:buNone/>
              <a:defRPr b="1" sz="5400" cap="none">
                <a:solidFill>
                  <a:schemeClr val="accent1"/>
                </a:solidFill>
                <a:latin typeface="Arial Black"/>
                <a:ea typeface="Arial Black"/>
                <a:cs typeface="Arial Black"/>
                <a:sym typeface="Arial Black"/>
              </a:defRPr>
            </a:lvl1pPr>
            <a:lvl2pPr lvl="1" algn="ctr">
              <a:lnSpc>
                <a:spcPct val="100000"/>
              </a:lnSpc>
              <a:spcBef>
                <a:spcPts val="2000"/>
              </a:spcBef>
              <a:spcAft>
                <a:spcPts val="0"/>
              </a:spcAft>
              <a:buSzPts val="2000"/>
              <a:buNone/>
              <a:defRPr sz="2000"/>
            </a:lvl2pPr>
            <a:lvl3pPr lvl="2" algn="ctr">
              <a:lnSpc>
                <a:spcPct val="100000"/>
              </a:lnSpc>
              <a:spcBef>
                <a:spcPts val="2300"/>
              </a:spcBef>
              <a:spcAft>
                <a:spcPts val="0"/>
              </a:spcAft>
              <a:buClr>
                <a:schemeClr val="dk1"/>
              </a:buClr>
              <a:buSzPts val="1800"/>
              <a:buNone/>
              <a:defRPr sz="1800"/>
            </a:lvl3pPr>
            <a:lvl4pPr lvl="3" algn="ctr">
              <a:lnSpc>
                <a:spcPct val="100000"/>
              </a:lnSpc>
              <a:spcBef>
                <a:spcPts val="180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p:cSld name="Texte">
    <p:spTree>
      <p:nvGrpSpPr>
        <p:cNvPr id="37" name="Shape 37"/>
        <p:cNvGrpSpPr/>
        <p:nvPr/>
      </p:nvGrpSpPr>
      <p:grpSpPr>
        <a:xfrm>
          <a:off x="0" y="0"/>
          <a:ext cx="0" cy="0"/>
          <a:chOff x="0" y="0"/>
          <a:chExt cx="0" cy="0"/>
        </a:xfrm>
      </p:grpSpPr>
      <p:sp>
        <p:nvSpPr>
          <p:cNvPr id="38" name="Google Shape;38;p5"/>
          <p:cNvSpPr txBox="1"/>
          <p:nvPr>
            <p:ph idx="1" type="body"/>
          </p:nvPr>
        </p:nvSpPr>
        <p:spPr>
          <a:xfrm>
            <a:off x="719997" y="2124916"/>
            <a:ext cx="10800000" cy="432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b="1" sz="2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
          <p:cNvSpPr txBox="1"/>
          <p:nvPr>
            <p:ph idx="2" type="body"/>
          </p:nvPr>
        </p:nvSpPr>
        <p:spPr>
          <a:xfrm>
            <a:off x="6480000"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5"/>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43" name="Google Shape;43;p5"/>
          <p:cNvSpPr txBox="1"/>
          <p:nvPr>
            <p:ph idx="3" type="body"/>
          </p:nvPr>
        </p:nvSpPr>
        <p:spPr>
          <a:xfrm>
            <a:off x="719999" y="2657475"/>
            <a:ext cx="10800000" cy="318135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2000"/>
              </a:spcBef>
              <a:spcAft>
                <a:spcPts val="0"/>
              </a:spcAft>
              <a:buSzPts val="1800"/>
              <a:buChar char="•"/>
              <a:defRPr/>
            </a:lvl2pPr>
            <a:lvl3pPr indent="-342900" lvl="2" marL="1371600" algn="l">
              <a:lnSpc>
                <a:spcPct val="100000"/>
              </a:lnSpc>
              <a:spcBef>
                <a:spcPts val="2300"/>
              </a:spcBef>
              <a:spcAft>
                <a:spcPts val="0"/>
              </a:spcAft>
              <a:buClr>
                <a:schemeClr val="dk1"/>
              </a:buClr>
              <a:buSzPts val="1800"/>
              <a:buChar char="•"/>
              <a:defRPr/>
            </a:lvl3pPr>
            <a:lvl4pPr indent="-342900" lvl="3" marL="1828800" algn="l">
              <a:lnSpc>
                <a:spcPct val="100000"/>
              </a:lnSpc>
              <a:spcBef>
                <a:spcPts val="1800"/>
              </a:spcBef>
              <a:spcAft>
                <a:spcPts val="0"/>
              </a:spcAft>
              <a:buClr>
                <a:schemeClr val="dk1"/>
              </a:buClr>
              <a:buSzPts val="1800"/>
              <a:buChar char="-"/>
              <a:defRPr/>
            </a:lvl4pPr>
            <a:lvl5pPr indent="-228600" lvl="4" marL="2286000" algn="l">
              <a:lnSpc>
                <a:spcPct val="100000"/>
              </a:lnSpc>
              <a:spcBef>
                <a:spcPts val="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
          <p:cNvSpPr txBox="1"/>
          <p:nvPr>
            <p:ph type="title"/>
          </p:nvPr>
        </p:nvSpPr>
        <p:spPr>
          <a:xfrm>
            <a:off x="719999" y="624956"/>
            <a:ext cx="10800000" cy="9000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avec graphique">
  <p:cSld name="Texte avec graphique">
    <p:spTree>
      <p:nvGrpSpPr>
        <p:cNvPr id="45" name="Shape 45"/>
        <p:cNvGrpSpPr/>
        <p:nvPr/>
      </p:nvGrpSpPr>
      <p:grpSpPr>
        <a:xfrm>
          <a:off x="0" y="0"/>
          <a:ext cx="0" cy="0"/>
          <a:chOff x="0" y="0"/>
          <a:chExt cx="0" cy="0"/>
        </a:xfrm>
      </p:grpSpPr>
      <p:sp>
        <p:nvSpPr>
          <p:cNvPr id="46" name="Google Shape;46;p6"/>
          <p:cNvSpPr txBox="1"/>
          <p:nvPr>
            <p:ph idx="1" type="body"/>
          </p:nvPr>
        </p:nvSpPr>
        <p:spPr>
          <a:xfrm>
            <a:off x="719997" y="2124916"/>
            <a:ext cx="6480000" cy="72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b="1" sz="2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6"/>
          <p:cNvSpPr txBox="1"/>
          <p:nvPr>
            <p:ph idx="2" type="body"/>
          </p:nvPr>
        </p:nvSpPr>
        <p:spPr>
          <a:xfrm>
            <a:off x="6480000"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51" name="Google Shape;51;p6"/>
          <p:cNvSpPr txBox="1"/>
          <p:nvPr>
            <p:ph idx="3" type="body"/>
          </p:nvPr>
        </p:nvSpPr>
        <p:spPr>
          <a:xfrm>
            <a:off x="719999" y="2993652"/>
            <a:ext cx="6480000" cy="2880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1800"/>
              <a:buNone/>
              <a:defRPr/>
            </a:lvl1pPr>
            <a:lvl2pPr indent="-342900" lvl="1" marL="914400" algn="l">
              <a:lnSpc>
                <a:spcPct val="100000"/>
              </a:lnSpc>
              <a:spcBef>
                <a:spcPts val="2000"/>
              </a:spcBef>
              <a:spcAft>
                <a:spcPts val="0"/>
              </a:spcAft>
              <a:buSzPts val="1800"/>
              <a:buChar char="•"/>
              <a:defRPr/>
            </a:lvl2pPr>
            <a:lvl3pPr indent="-342900" lvl="2" marL="1371600" algn="l">
              <a:lnSpc>
                <a:spcPct val="100000"/>
              </a:lnSpc>
              <a:spcBef>
                <a:spcPts val="2300"/>
              </a:spcBef>
              <a:spcAft>
                <a:spcPts val="0"/>
              </a:spcAft>
              <a:buClr>
                <a:schemeClr val="dk1"/>
              </a:buClr>
              <a:buSzPts val="1800"/>
              <a:buChar char="•"/>
              <a:defRPr/>
            </a:lvl3pPr>
            <a:lvl4pPr indent="-342900" lvl="3" marL="1828800" algn="l">
              <a:lnSpc>
                <a:spcPct val="100000"/>
              </a:lnSpc>
              <a:spcBef>
                <a:spcPts val="1800"/>
              </a:spcBef>
              <a:spcAft>
                <a:spcPts val="0"/>
              </a:spcAft>
              <a:buClr>
                <a:schemeClr val="dk1"/>
              </a:buClr>
              <a:buSzPts val="1800"/>
              <a:buChar char="-"/>
              <a:defRPr/>
            </a:lvl4pPr>
            <a:lvl5pPr indent="-228600" lvl="4" marL="2286000" algn="l">
              <a:lnSpc>
                <a:spcPct val="100000"/>
              </a:lnSpc>
              <a:spcBef>
                <a:spcPts val="0"/>
              </a:spcBef>
              <a:spcAft>
                <a:spcPts val="0"/>
              </a:spcAft>
              <a:buClr>
                <a:schemeClr val="dk1"/>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type="title"/>
          </p:nvPr>
        </p:nvSpPr>
        <p:spPr>
          <a:xfrm>
            <a:off x="719999" y="624956"/>
            <a:ext cx="10800000" cy="9000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p:nvPr>
            <p:ph idx="4" type="chart"/>
          </p:nvPr>
        </p:nvSpPr>
        <p:spPr>
          <a:xfrm>
            <a:off x="7389158" y="2125662"/>
            <a:ext cx="3998842" cy="3747989"/>
          </a:xfrm>
          <a:prstGeom prst="rect">
            <a:avLst/>
          </a:prstGeom>
          <a:solidFill>
            <a:srgbClr val="F2F2F2"/>
          </a:solid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lvl="1" marR="0" rtl="0" algn="l">
              <a:lnSpc>
                <a:spcPct val="100000"/>
              </a:lnSpc>
              <a:spcBef>
                <a:spcPts val="200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2pPr>
            <a:lvl3pPr lvl="2" marR="0" rtl="0" algn="l">
              <a:lnSpc>
                <a:spcPct val="100000"/>
              </a:lnSpc>
              <a:spcBef>
                <a:spcPts val="2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lvl="3" marR="0" rtl="0" algn="l">
              <a:lnSpc>
                <a:spcPct val="100000"/>
              </a:lnSpc>
              <a:spcBef>
                <a:spcPts val="18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avec photo">
  <p:cSld name="Titre avec photo">
    <p:spTree>
      <p:nvGrpSpPr>
        <p:cNvPr id="54" name="Shape 54"/>
        <p:cNvGrpSpPr/>
        <p:nvPr/>
      </p:nvGrpSpPr>
      <p:grpSpPr>
        <a:xfrm>
          <a:off x="0" y="0"/>
          <a:ext cx="0" cy="0"/>
          <a:chOff x="0" y="0"/>
          <a:chExt cx="0" cy="0"/>
        </a:xfrm>
      </p:grpSpPr>
      <p:sp>
        <p:nvSpPr>
          <p:cNvPr id="55" name="Google Shape;55;p7"/>
          <p:cNvSpPr txBox="1"/>
          <p:nvPr>
            <p:ph idx="1" type="body"/>
          </p:nvPr>
        </p:nvSpPr>
        <p:spPr>
          <a:xfrm>
            <a:off x="6480000" y="6174395"/>
            <a:ext cx="4320000" cy="252000"/>
          </a:xfrm>
          <a:prstGeom prst="rect">
            <a:avLst/>
          </a:prstGeom>
          <a:noFill/>
          <a:ln>
            <a:noFill/>
          </a:ln>
        </p:spPr>
        <p:txBody>
          <a:bodyPr anchorCtr="0" anchor="ctr" bIns="45700" lIns="91425" spcFirstLastPara="1" rIns="91425" wrap="square" tIns="45700">
            <a:normAutofit/>
          </a:bodyPr>
          <a:lstStyle>
            <a:lvl1pPr indent="-228600" lvl="0" marL="457200" algn="r">
              <a:lnSpc>
                <a:spcPct val="100000"/>
              </a:lnSpc>
              <a:spcBef>
                <a:spcPts val="0"/>
              </a:spcBef>
              <a:spcAft>
                <a:spcPts val="0"/>
              </a:spcAft>
              <a:buClr>
                <a:schemeClr val="dk1"/>
              </a:buClr>
              <a:buSzPts val="1000"/>
              <a:buNone/>
              <a:defRPr b="1" sz="1000" cap="none"/>
            </a:lvl1pPr>
            <a:lvl2pPr indent="-228600" lvl="1" marL="914400" algn="l">
              <a:lnSpc>
                <a:spcPct val="100000"/>
              </a:lnSpc>
              <a:spcBef>
                <a:spcPts val="2000"/>
              </a:spcBef>
              <a:spcAft>
                <a:spcPts val="0"/>
              </a:spcAft>
              <a:buSzPts val="2000"/>
              <a:buNone/>
              <a:defRPr b="1" sz="2000"/>
            </a:lvl2pPr>
            <a:lvl3pPr indent="-228600" lvl="2" marL="1371600" algn="l">
              <a:lnSpc>
                <a:spcPct val="100000"/>
              </a:lnSpc>
              <a:spcBef>
                <a:spcPts val="2300"/>
              </a:spcBef>
              <a:spcAft>
                <a:spcPts val="0"/>
              </a:spcAft>
              <a:buClr>
                <a:schemeClr val="dk1"/>
              </a:buClr>
              <a:buSzPts val="1800"/>
              <a:buNone/>
              <a:defRPr b="1" sz="1800"/>
            </a:lvl3pPr>
            <a:lvl4pPr indent="-228600" lvl="3" marL="1828800" algn="l">
              <a:lnSpc>
                <a:spcPct val="100000"/>
              </a:lnSpc>
              <a:spcBef>
                <a:spcPts val="180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7"/>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fr-FR"/>
              <a:t>‹#›</a:t>
            </a:fld>
            <a:endParaRPr/>
          </a:p>
        </p:txBody>
      </p:sp>
      <p:sp>
        <p:nvSpPr>
          <p:cNvPr id="59" name="Google Shape;59;p7"/>
          <p:cNvSpPr txBox="1"/>
          <p:nvPr>
            <p:ph type="title"/>
          </p:nvPr>
        </p:nvSpPr>
        <p:spPr>
          <a:xfrm>
            <a:off x="719999" y="624956"/>
            <a:ext cx="10800000" cy="900000"/>
          </a:xfrm>
          <a:prstGeom prst="rect">
            <a:avLst/>
          </a:prstGeom>
          <a:noFill/>
          <a:ln>
            <a:noFill/>
          </a:ln>
        </p:spPr>
        <p:txBody>
          <a:bodyPr anchorCtr="0" anchor="t" bIns="45700" lIns="91425" spcFirstLastPara="1" rIns="91425" wrap="square" tIns="45700">
            <a:normAutofit/>
          </a:bodyPr>
          <a:lstStyle>
            <a:lvl1pPr lvl="0" algn="l">
              <a:lnSpc>
                <a:spcPct val="85000"/>
              </a:lnSpc>
              <a:spcBef>
                <a:spcPts val="0"/>
              </a:spcBef>
              <a:spcAft>
                <a:spcPts val="0"/>
              </a:spcAft>
              <a:buClr>
                <a:schemeClr val="lt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7"/>
          <p:cNvSpPr/>
          <p:nvPr>
            <p:ph idx="2" type="pic"/>
          </p:nvPr>
        </p:nvSpPr>
        <p:spPr>
          <a:xfrm>
            <a:off x="828000" y="1728000"/>
            <a:ext cx="10535920" cy="4084479"/>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1" name="Shape 61"/>
        <p:cNvGrpSpPr/>
        <p:nvPr/>
      </p:nvGrpSpPr>
      <p:grpSpPr>
        <a:xfrm>
          <a:off x="0" y="0"/>
          <a:ext cx="0" cy="0"/>
          <a:chOff x="0" y="0"/>
          <a:chExt cx="0" cy="0"/>
        </a:xfrm>
      </p:grpSpPr>
      <p:sp>
        <p:nvSpPr>
          <p:cNvPr id="62" name="Google Shape;62;p8"/>
          <p:cNvSpPr/>
          <p:nvPr/>
        </p:nvSpPr>
        <p:spPr>
          <a:xfrm>
            <a:off x="0" y="0"/>
            <a:ext cx="12192000" cy="6858000"/>
          </a:xfrm>
          <a:prstGeom prst="rect">
            <a:avLst/>
          </a:prstGeom>
          <a:solidFill>
            <a:srgbClr val="EDED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 name="Google Shape;63;p8"/>
          <p:cNvSpPr/>
          <p:nvPr/>
        </p:nvSpPr>
        <p:spPr>
          <a:xfrm>
            <a:off x="0" y="0"/>
            <a:ext cx="12192000" cy="6858000"/>
          </a:xfrm>
          <a:prstGeom prst="rect">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4" name="Google Shape;64;p8">
            <a:hlinkClick r:id="rId2"/>
          </p:cNvPr>
          <p:cNvPicPr preferRelativeResize="0"/>
          <p:nvPr/>
        </p:nvPicPr>
        <p:blipFill rotWithShape="1">
          <a:blip r:embed="rId3">
            <a:alphaModFix/>
          </a:blip>
          <a:srcRect b="0" l="0" r="0" t="0"/>
          <a:stretch/>
        </p:blipFill>
        <p:spPr>
          <a:xfrm>
            <a:off x="10705573" y="6459321"/>
            <a:ext cx="1429125" cy="34137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65" name="Shape 65"/>
        <p:cNvGrpSpPr/>
        <p:nvPr/>
      </p:nvGrpSpPr>
      <p:grpSpPr>
        <a:xfrm>
          <a:off x="0" y="0"/>
          <a:ext cx="0" cy="0"/>
          <a:chOff x="0" y="0"/>
          <a:chExt cx="0" cy="0"/>
        </a:xfrm>
      </p:grpSpPr>
      <p:sp>
        <p:nvSpPr>
          <p:cNvPr id="66" name="Google Shape;66;p9"/>
          <p:cNvSpPr/>
          <p:nvPr/>
        </p:nvSpPr>
        <p:spPr>
          <a:xfrm>
            <a:off x="0" y="0"/>
            <a:ext cx="12192000" cy="6858000"/>
          </a:xfrm>
          <a:prstGeom prst="rect">
            <a:avLst/>
          </a:prstGeom>
          <a:solidFill>
            <a:srgbClr val="EDED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 name="Google Shape;67;p9"/>
          <p:cNvSpPr/>
          <p:nvPr/>
        </p:nvSpPr>
        <p:spPr>
          <a:xfrm>
            <a:off x="0" y="0"/>
            <a:ext cx="12192000" cy="6858000"/>
          </a:xfrm>
          <a:prstGeom prst="rect">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8" name="Google Shape;68;p9">
            <a:hlinkClick r:id="rId2"/>
          </p:cNvPr>
          <p:cNvPicPr preferRelativeResize="0"/>
          <p:nvPr/>
        </p:nvPicPr>
        <p:blipFill rotWithShape="1">
          <a:blip r:embed="rId3">
            <a:alphaModFix/>
          </a:blip>
          <a:srcRect b="0" l="0" r="0" t="0"/>
          <a:stretch/>
        </p:blipFill>
        <p:spPr>
          <a:xfrm>
            <a:off x="10705573" y="6459321"/>
            <a:ext cx="1429125" cy="34137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69" name="Shape 69"/>
        <p:cNvGrpSpPr/>
        <p:nvPr/>
      </p:nvGrpSpPr>
      <p:grpSpPr>
        <a:xfrm>
          <a:off x="0" y="0"/>
          <a:ext cx="0" cy="0"/>
          <a:chOff x="0" y="0"/>
          <a:chExt cx="0" cy="0"/>
        </a:xfrm>
      </p:grpSpPr>
      <p:sp>
        <p:nvSpPr>
          <p:cNvPr id="70" name="Google Shape;70;p10"/>
          <p:cNvSpPr/>
          <p:nvPr/>
        </p:nvSpPr>
        <p:spPr>
          <a:xfrm>
            <a:off x="0" y="0"/>
            <a:ext cx="12192000" cy="6858000"/>
          </a:xfrm>
          <a:prstGeom prst="rect">
            <a:avLst/>
          </a:prstGeom>
          <a:solidFill>
            <a:srgbClr val="EDEDE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 name="Google Shape;71;p10"/>
          <p:cNvSpPr/>
          <p:nvPr/>
        </p:nvSpPr>
        <p:spPr>
          <a:xfrm>
            <a:off x="0" y="0"/>
            <a:ext cx="12192000" cy="6858000"/>
          </a:xfrm>
          <a:prstGeom prst="rect">
            <a:avLst/>
          </a:prstGeom>
          <a:solidFill>
            <a:srgbClr val="FFFF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72" name="Google Shape;72;p10">
            <a:hlinkClick r:id="rId2"/>
          </p:cNvPr>
          <p:cNvPicPr preferRelativeResize="0"/>
          <p:nvPr/>
        </p:nvPicPr>
        <p:blipFill rotWithShape="1">
          <a:blip r:embed="rId3">
            <a:alphaModFix/>
          </a:blip>
          <a:srcRect b="0" l="0" r="0" t="0"/>
          <a:stretch/>
        </p:blipFill>
        <p:spPr>
          <a:xfrm>
            <a:off x="10705573" y="6459321"/>
            <a:ext cx="1429125" cy="34137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2.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19999" y="594000"/>
            <a:ext cx="10800000" cy="900000"/>
          </a:xfrm>
          <a:prstGeom prst="rect">
            <a:avLst/>
          </a:prstGeom>
          <a:noFill/>
          <a:ln>
            <a:noFill/>
          </a:ln>
        </p:spPr>
        <p:txBody>
          <a:bodyPr anchorCtr="0" anchor="t" bIns="45700" lIns="91425" spcFirstLastPara="1" rIns="91425" wrap="square" tIns="45700">
            <a:normAutofit/>
          </a:bodyPr>
          <a:lstStyle>
            <a:lvl1pPr lvl="0" marR="0" rtl="0" algn="l">
              <a:lnSpc>
                <a:spcPct val="85000"/>
              </a:lnSpc>
              <a:spcBef>
                <a:spcPts val="0"/>
              </a:spcBef>
              <a:spcAft>
                <a:spcPts val="0"/>
              </a:spcAft>
              <a:buClr>
                <a:schemeClr val="lt2"/>
              </a:buClr>
              <a:buSzPts val="3000"/>
              <a:buFont typeface="Arial Black"/>
              <a:buNone/>
              <a:defRPr b="1" i="0" sz="3000" u="none" cap="none" strike="noStrike">
                <a:solidFill>
                  <a:schemeClr val="lt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719999" y="2638800"/>
            <a:ext cx="10800000" cy="30600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330200" lvl="1" marL="914400" marR="0" rtl="0" algn="l">
              <a:lnSpc>
                <a:spcPct val="100000"/>
              </a:lnSpc>
              <a:spcBef>
                <a:spcPts val="200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2pPr>
            <a:lvl3pPr indent="-317500" lvl="2" marL="1371600" marR="0" rtl="0" algn="l">
              <a:lnSpc>
                <a:spcPct val="100000"/>
              </a:lnSpc>
              <a:spcBef>
                <a:spcPts val="23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3pPr>
            <a:lvl4pPr indent="-317500" lvl="3" marL="1828800" marR="0" rtl="0" algn="l">
              <a:lnSpc>
                <a:spcPct val="100000"/>
              </a:lnSpc>
              <a:spcBef>
                <a:spcPts val="18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SzPts val="1400"/>
              <a:buNone/>
              <a:defRPr b="1" i="0" sz="1000" u="none" cap="none" strike="noStrike">
                <a:solidFill>
                  <a:schemeClr val="lt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1" i="0" sz="1000" u="none" cap="none" strike="noStrike">
                <a:solidFill>
                  <a:schemeClr val="accen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lvl1pPr indent="0" lvl="0" marL="0" marR="0" rtl="0" algn="l">
              <a:spcBef>
                <a:spcPts val="0"/>
              </a:spcBef>
              <a:buNone/>
              <a:defRPr b="1" i="0" sz="1000" u="none" cap="none" strike="noStrike">
                <a:solidFill>
                  <a:schemeClr val="lt2"/>
                </a:solidFill>
                <a:latin typeface="Arial"/>
                <a:ea typeface="Arial"/>
                <a:cs typeface="Arial"/>
                <a:sym typeface="Arial"/>
              </a:defRPr>
            </a:lvl1pPr>
            <a:lvl2pPr indent="0" lvl="1" marL="0" marR="0" rtl="0" algn="l">
              <a:spcBef>
                <a:spcPts val="0"/>
              </a:spcBef>
              <a:buNone/>
              <a:defRPr b="1" i="0" sz="1000" u="none" cap="none" strike="noStrike">
                <a:solidFill>
                  <a:schemeClr val="lt2"/>
                </a:solidFill>
                <a:latin typeface="Arial"/>
                <a:ea typeface="Arial"/>
                <a:cs typeface="Arial"/>
                <a:sym typeface="Arial"/>
              </a:defRPr>
            </a:lvl2pPr>
            <a:lvl3pPr indent="0" lvl="2" marL="0" marR="0" rtl="0" algn="l">
              <a:spcBef>
                <a:spcPts val="0"/>
              </a:spcBef>
              <a:buNone/>
              <a:defRPr b="1" i="0" sz="1000" u="none" cap="none" strike="noStrike">
                <a:solidFill>
                  <a:schemeClr val="lt2"/>
                </a:solidFill>
                <a:latin typeface="Arial"/>
                <a:ea typeface="Arial"/>
                <a:cs typeface="Arial"/>
                <a:sym typeface="Arial"/>
              </a:defRPr>
            </a:lvl3pPr>
            <a:lvl4pPr indent="0" lvl="3" marL="0" marR="0" rtl="0" algn="l">
              <a:spcBef>
                <a:spcPts val="0"/>
              </a:spcBef>
              <a:buNone/>
              <a:defRPr b="1" i="0" sz="1000" u="none" cap="none" strike="noStrike">
                <a:solidFill>
                  <a:schemeClr val="lt2"/>
                </a:solidFill>
                <a:latin typeface="Arial"/>
                <a:ea typeface="Arial"/>
                <a:cs typeface="Arial"/>
                <a:sym typeface="Arial"/>
              </a:defRPr>
            </a:lvl4pPr>
            <a:lvl5pPr indent="0" lvl="4" marL="0" marR="0" rtl="0" algn="l">
              <a:spcBef>
                <a:spcPts val="0"/>
              </a:spcBef>
              <a:buNone/>
              <a:defRPr b="1" i="0" sz="1000" u="none" cap="none" strike="noStrike">
                <a:solidFill>
                  <a:schemeClr val="lt2"/>
                </a:solidFill>
                <a:latin typeface="Arial"/>
                <a:ea typeface="Arial"/>
                <a:cs typeface="Arial"/>
                <a:sym typeface="Arial"/>
              </a:defRPr>
            </a:lvl5pPr>
            <a:lvl6pPr indent="0" lvl="5" marL="0" marR="0" rtl="0" algn="l">
              <a:spcBef>
                <a:spcPts val="0"/>
              </a:spcBef>
              <a:buNone/>
              <a:defRPr b="1" i="0" sz="1000" u="none" cap="none" strike="noStrike">
                <a:solidFill>
                  <a:schemeClr val="lt2"/>
                </a:solidFill>
                <a:latin typeface="Arial"/>
                <a:ea typeface="Arial"/>
                <a:cs typeface="Arial"/>
                <a:sym typeface="Arial"/>
              </a:defRPr>
            </a:lvl6pPr>
            <a:lvl7pPr indent="0" lvl="6" marL="0" marR="0" rtl="0" algn="l">
              <a:spcBef>
                <a:spcPts val="0"/>
              </a:spcBef>
              <a:buNone/>
              <a:defRPr b="1" i="0" sz="1000" u="none" cap="none" strike="noStrike">
                <a:solidFill>
                  <a:schemeClr val="lt2"/>
                </a:solidFill>
                <a:latin typeface="Arial"/>
                <a:ea typeface="Arial"/>
                <a:cs typeface="Arial"/>
                <a:sym typeface="Arial"/>
              </a:defRPr>
            </a:lvl7pPr>
            <a:lvl8pPr indent="0" lvl="7" marL="0" marR="0" rtl="0" algn="l">
              <a:spcBef>
                <a:spcPts val="0"/>
              </a:spcBef>
              <a:buNone/>
              <a:defRPr b="1" i="0" sz="1000" u="none" cap="none" strike="noStrike">
                <a:solidFill>
                  <a:schemeClr val="lt2"/>
                </a:solidFill>
                <a:latin typeface="Arial"/>
                <a:ea typeface="Arial"/>
                <a:cs typeface="Arial"/>
                <a:sym typeface="Arial"/>
              </a:defRPr>
            </a:lvl8pPr>
            <a:lvl9pPr indent="0" lvl="8" marL="0" marR="0" rtl="0" algn="l">
              <a:spcBef>
                <a:spcPts val="0"/>
              </a:spcBef>
              <a:buNone/>
              <a:defRPr b="1" i="0" sz="10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fr-FR"/>
              <a:t>‹#›</a:t>
            </a:fld>
            <a:endParaRPr/>
          </a:p>
        </p:txBody>
      </p:sp>
      <p:cxnSp>
        <p:nvCxnSpPr>
          <p:cNvPr id="15" name="Google Shape;15;p1"/>
          <p:cNvCxnSpPr/>
          <p:nvPr/>
        </p:nvCxnSpPr>
        <p:spPr>
          <a:xfrm>
            <a:off x="804000" y="6120000"/>
            <a:ext cx="10584000" cy="0"/>
          </a:xfrm>
          <a:prstGeom prst="straightConnector1">
            <a:avLst/>
          </a:prstGeom>
          <a:noFill/>
          <a:ln cap="flat" cmpd="sng" w="9525">
            <a:solidFill>
              <a:schemeClr val="dk1"/>
            </a:solidFill>
            <a:prstDash val="solid"/>
            <a:miter lim="800000"/>
            <a:headEnd len="sm" w="sm" type="none"/>
            <a:tailEnd len="sm" w="sm" type="none"/>
          </a:ln>
        </p:spPr>
      </p:cxnSp>
      <p:pic>
        <p:nvPicPr>
          <p:cNvPr descr="Une image contenant capture d’écran&#10;&#10;Description générée automatiquement" id="16" name="Google Shape;16;p1"/>
          <p:cNvPicPr preferRelativeResize="0"/>
          <p:nvPr/>
        </p:nvPicPr>
        <p:blipFill rotWithShape="1">
          <a:blip r:embed="rId1">
            <a:alphaModFix/>
          </a:blip>
          <a:srcRect b="0" l="0" r="0" t="0"/>
          <a:stretch/>
        </p:blipFill>
        <p:spPr>
          <a:xfrm>
            <a:off x="10894217" y="6174580"/>
            <a:ext cx="559595" cy="4143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www.changenow.world/fr/" TargetMode="External"/><Relationship Id="rId4" Type="http://schemas.openxmlformats.org/officeDocument/2006/relationships/hyperlink" Target="https://www.changenow.world/fr/" TargetMode="External"/><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hyperlink" Target="https://www.raisesummit.com/fr" TargetMode="External"/><Relationship Id="rId5" Type="http://schemas.openxmlformats.org/officeDocument/2006/relationships/image" Target="../media/image16.pn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1.png"/><Relationship Id="rId5" Type="http://schemas.openxmlformats.org/officeDocument/2006/relationships/hyperlink" Target="https://techforfuture.fr/" TargetMode="External"/><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hyperlink" Target="https://www.aktionnaireday.com/" TargetMode="External"/><Relationship Id="rId6"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hyperlink" Target="https://ai-day.org/" TargetMode="External"/><Relationship Id="rId6"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hyperlink" Target="https://www.tech-fest.fr/" TargetMode="External"/><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hyperlink" Target="https://fdday.eu/" TargetMode="External"/><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1.png"/><Relationship Id="rId5" Type="http://schemas.openxmlformats.org/officeDocument/2006/relationships/hyperlink" Target="https://francefintech.org/fft26/" TargetMode="External"/><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hyperlink" Target="https://big.bpifrance.fr/" TargetMode="External"/><Relationship Id="rId6"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hyperlink" Target="https://www.pariseconomicforum.com/" TargetMode="External"/><Relationship Id="rId6"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28.png"/><Relationship Id="rId5" Type="http://schemas.openxmlformats.org/officeDocument/2006/relationships/hyperlink" Target="https://adoptai.artefact.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36.png"/><Relationship Id="rId5" Type="http://schemas.openxmlformats.org/officeDocument/2006/relationships/hyperlink" Target="https://laref.or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hyperlink" Target="https://bankacceleration.evenements.agefi.fr/fr/" TargetMode="External"/><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29.png"/><Relationship Id="rId5" Type="http://schemas.openxmlformats.org/officeDocument/2006/relationships/hyperlink" Target="https://www.hubinstitute.com/hubtalk/banking-assuranc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hyperlink" Target="https://www.investirday.f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39.png"/><Relationship Id="rId5" Type="http://schemas.openxmlformats.org/officeDocument/2006/relationships/hyperlink" Target="https://www.bitsandpretzels.com/" TargetMode="External"/><Relationship Id="rId6"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34.png"/><Relationship Id="rId5" Type="http://schemas.openxmlformats.org/officeDocument/2006/relationships/hyperlink" Target="https://www.gitexeurope.com/" TargetMode="External"/><Relationship Id="rId6"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hyperlink" Target="https://slush.org/program/anton-osika" TargetMode="External"/><Relationship Id="rId11" Type="http://schemas.openxmlformats.org/officeDocument/2006/relationships/hyperlink" Target="https://slush.org/" TargetMode="External"/><Relationship Id="rId10" Type="http://schemas.openxmlformats.org/officeDocument/2006/relationships/image" Target="../media/image37.png"/><Relationship Id="rId12" Type="http://schemas.openxmlformats.org/officeDocument/2006/relationships/image" Target="../media/image20.png"/><Relationship Id="rId9" Type="http://schemas.openxmlformats.org/officeDocument/2006/relationships/hyperlink" Target="https://slush.org/program/eileen-omara" TargetMode="External"/><Relationship Id="rId5" Type="http://schemas.openxmlformats.org/officeDocument/2006/relationships/hyperlink" Target="https://slush.org/program/markus-villig" TargetMode="External"/><Relationship Id="rId6" Type="http://schemas.openxmlformats.org/officeDocument/2006/relationships/hyperlink" Target="https://slush.org/program/marc-lemaitre" TargetMode="External"/><Relationship Id="rId7" Type="http://schemas.openxmlformats.org/officeDocument/2006/relationships/hyperlink" Target="https://slush.org/program/tim-zheng" TargetMode="External"/><Relationship Id="rId8" Type="http://schemas.openxmlformats.org/officeDocument/2006/relationships/hyperlink" Target="http://apollo.io"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hyperlink" Target="https://wavebyvento.com/" TargetMode="External"/><Relationship Id="rId6"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30.png"/><Relationship Id="rId5" Type="http://schemas.openxmlformats.org/officeDocument/2006/relationships/hyperlink" Target="https://websummit.com/" TargetMode="External"/><Relationship Id="rId6"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38.png"/><Relationship Id="rId5" Type="http://schemas.openxmlformats.org/officeDocument/2006/relationships/hyperlink" Target="https://www.lesentretiens.com/" TargetMode="External"/><Relationship Id="rId6"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hyperlink" Target="https://cercle-giverny.fr/" TargetMode="External"/><Relationship Id="rId5"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35.png"/><Relationship Id="rId5" Type="http://schemas.openxmlformats.org/officeDocument/2006/relationships/hyperlink" Target="https://hecstories.fr/fr/category/editos/matin-hec/" TargetMode="External"/><Relationship Id="rId6"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hyperlink" Target="https://ax.polytechnique.org/fr/agenda" TargetMode="External"/><Relationship Id="rId6"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25.png"/><Relationship Id="rId5" Type="http://schemas.openxmlformats.org/officeDocument/2006/relationships/hyperlink" Target="https://www.challenges.fr/classements/start-up/" TargetMode="External"/><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ph type="ctrTitle"/>
          </p:nvPr>
        </p:nvSpPr>
        <p:spPr>
          <a:xfrm>
            <a:off x="6230470" y="19170"/>
            <a:ext cx="5580000" cy="24147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2"/>
              </a:buClr>
              <a:buSzPts val="4400"/>
              <a:buFont typeface="Arial Black"/>
              <a:buNone/>
            </a:pPr>
            <a:r>
              <a:rPr lang="fr-FR"/>
              <a:t>ÉVÉNEMENTS</a:t>
            </a:r>
            <a:endParaRPr/>
          </a:p>
          <a:p>
            <a:pPr indent="0" lvl="0" marL="0" rtl="0" algn="l">
              <a:lnSpc>
                <a:spcPct val="85000"/>
              </a:lnSpc>
              <a:spcBef>
                <a:spcPts val="0"/>
              </a:spcBef>
              <a:spcAft>
                <a:spcPts val="0"/>
              </a:spcAft>
              <a:buClr>
                <a:schemeClr val="lt2"/>
              </a:buClr>
              <a:buSzPts val="4400"/>
              <a:buFont typeface="Arial Black"/>
              <a:buNone/>
            </a:pPr>
            <a:r>
              <a:rPr lang="fr-FR"/>
              <a:t>STRATÉGIQUES</a:t>
            </a:r>
            <a:endParaRPr/>
          </a:p>
        </p:txBody>
      </p:sp>
      <p:sp>
        <p:nvSpPr>
          <p:cNvPr id="79" name="Google Shape;79;p11"/>
          <p:cNvSpPr txBox="1"/>
          <p:nvPr>
            <p:ph idx="2" type="subTitle"/>
          </p:nvPr>
        </p:nvSpPr>
        <p:spPr>
          <a:xfrm>
            <a:off x="6230470" y="2343170"/>
            <a:ext cx="5580000" cy="2340000"/>
          </a:xfrm>
          <a:prstGeom prst="rect">
            <a:avLst/>
          </a:prstGeom>
          <a:noFill/>
          <a:ln>
            <a:noFill/>
          </a:ln>
        </p:spPr>
        <p:txBody>
          <a:bodyPr anchorCtr="0" anchor="t" bIns="45700" lIns="91425" spcFirstLastPara="1" rIns="91425" wrap="square" tIns="45700">
            <a:normAutofit/>
          </a:bodyPr>
          <a:lstStyle/>
          <a:p>
            <a:pPr indent="0" lvl="0" marL="0" rtl="0" algn="l">
              <a:lnSpc>
                <a:spcPct val="85000"/>
              </a:lnSpc>
              <a:spcBef>
                <a:spcPts val="0"/>
              </a:spcBef>
              <a:spcAft>
                <a:spcPts val="0"/>
              </a:spcAft>
              <a:buClr>
                <a:schemeClr val="accent1"/>
              </a:buClr>
              <a:buSzPts val="4400"/>
              <a:buNone/>
            </a:pPr>
            <a:r>
              <a:rPr lang="fr-FR"/>
              <a:t>CAPTER L’ATTENTION DES DÉCIDEURS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2"/>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86" name="Google Shape;86;p12"/>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87" name="Google Shape;87;p12"/>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88" name="Google Shape;88;p12"/>
          <p:cNvSpPr txBox="1"/>
          <p:nvPr>
            <p:ph type="ctrTitle"/>
          </p:nvPr>
        </p:nvSpPr>
        <p:spPr>
          <a:xfrm>
            <a:off x="706000" y="338899"/>
            <a:ext cx="10980000" cy="2520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2"/>
              </a:buClr>
              <a:buSzPts val="5400"/>
              <a:buFont typeface="Arial Black"/>
              <a:buNone/>
            </a:pPr>
            <a:r>
              <a:rPr lang="fr-FR"/>
              <a:t>LES ÉVÉNEMENTS MAJEURS EN FRANCE</a:t>
            </a:r>
            <a:endParaRPr/>
          </a:p>
        </p:txBody>
      </p:sp>
      <p:sp>
        <p:nvSpPr>
          <p:cNvPr id="89" name="Google Shape;89;p12"/>
          <p:cNvSpPr txBox="1"/>
          <p:nvPr>
            <p:ph idx="2" type="subTitle"/>
          </p:nvPr>
        </p:nvSpPr>
        <p:spPr>
          <a:xfrm>
            <a:off x="706000" y="3092843"/>
            <a:ext cx="10980000" cy="23400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accent1"/>
              </a:buClr>
              <a:buSzPts val="5400"/>
              <a:buNone/>
            </a:pPr>
            <a:r>
              <a:rPr lang="fr-FR"/>
              <a:t>LEVIERS DE NOTORIÉTÉ</a:t>
            </a:r>
            <a:endParaRPr/>
          </a:p>
          <a:p>
            <a:pPr indent="0" lvl="0" marL="0" rtl="0" algn="l">
              <a:lnSpc>
                <a:spcPct val="85000"/>
              </a:lnSpc>
              <a:spcBef>
                <a:spcPts val="0"/>
              </a:spcBef>
              <a:spcAft>
                <a:spcPts val="0"/>
              </a:spcAft>
              <a:buClr>
                <a:schemeClr val="accent1"/>
              </a:buClr>
              <a:buSzPts val="5400"/>
              <a:buNone/>
            </a:pPr>
            <a:r>
              <a:rPr lang="fr-FR"/>
              <a:t>&amp; BUSINESS : </a:t>
            </a:r>
            <a:endParaRPr/>
          </a:p>
          <a:p>
            <a:pPr indent="0" lvl="0" marL="0" rtl="0" algn="l">
              <a:lnSpc>
                <a:spcPct val="85000"/>
              </a:lnSpc>
              <a:spcBef>
                <a:spcPts val="0"/>
              </a:spcBef>
              <a:spcAft>
                <a:spcPts val="0"/>
              </a:spcAft>
              <a:buClr>
                <a:schemeClr val="accent1"/>
              </a:buClr>
              <a:buSzPts val="5400"/>
              <a:buNone/>
            </a:pPr>
            <a:r>
              <a:rPr lang="fr-FR" sz="3400"/>
              <a:t>innovation, entrepreneuriat et grand public</a:t>
            </a:r>
            <a:endParaRPr sz="4800"/>
          </a:p>
          <a:p>
            <a:pPr indent="0" lvl="0" marL="0" rtl="0" algn="l">
              <a:lnSpc>
                <a:spcPct val="85000"/>
              </a:lnSpc>
              <a:spcBef>
                <a:spcPts val="0"/>
              </a:spcBef>
              <a:spcAft>
                <a:spcPts val="0"/>
              </a:spcAft>
              <a:buClr>
                <a:schemeClr val="accent1"/>
              </a:buClr>
              <a:buSzPts val="5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3"/>
          <p:cNvSpPr txBox="1"/>
          <p:nvPr>
            <p:ph idx="1" type="body"/>
          </p:nvPr>
        </p:nvSpPr>
        <p:spPr>
          <a:xfrm>
            <a:off x="464921" y="674775"/>
            <a:ext cx="6135900" cy="773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uFill>
                  <a:noFill/>
                </a:uFill>
                <a:latin typeface="Arial Black"/>
                <a:ea typeface="Arial Black"/>
                <a:cs typeface="Arial Black"/>
                <a:sym typeface="Arial Black"/>
                <a:hlinkClick r:id="rId3">
                  <a:extLst>
                    <a:ext uri="{A12FA001-AC4F-418D-AE19-62706E023703}">
                      <ahyp:hlinkClr val="tx"/>
                    </a:ext>
                  </a:extLst>
                </a:hlinkClick>
              </a:rPr>
              <a:t>LE PLUS GRAND ÉVÉNEMENT</a:t>
            </a:r>
            <a:endParaRPr sz="19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900">
                <a:solidFill>
                  <a:schemeClr val="accent1"/>
                </a:solidFill>
                <a:uFill>
                  <a:noFill/>
                </a:uFill>
                <a:latin typeface="Arial Black"/>
                <a:ea typeface="Arial Black"/>
                <a:cs typeface="Arial Black"/>
                <a:sym typeface="Arial Black"/>
                <a:hlinkClick r:id="rId4">
                  <a:extLst>
                    <a:ext uri="{A12FA001-AC4F-418D-AE19-62706E023703}">
                      <ahyp:hlinkClr val="tx"/>
                    </a:ext>
                  </a:extLst>
                </a:hlinkClick>
              </a:rPr>
              <a:t>DE SOLUTIONS POUR LA PLANÈTE</a:t>
            </a:r>
            <a:endParaRPr/>
          </a:p>
        </p:txBody>
      </p:sp>
      <p:sp>
        <p:nvSpPr>
          <p:cNvPr id="95" name="Google Shape;95;p13"/>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96" name="Google Shape;96;p13"/>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97" name="Google Shape;97;p13"/>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98" name="Google Shape;98;p13"/>
          <p:cNvSpPr txBox="1"/>
          <p:nvPr>
            <p:ph idx="3" type="body"/>
          </p:nvPr>
        </p:nvSpPr>
        <p:spPr>
          <a:xfrm>
            <a:off x="464925" y="1676775"/>
            <a:ext cx="6528000" cy="4446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Dirigeants d’entreprises, investisseurs, décideurs publics, startups à impact, ONG, grand public engagé </a:t>
            </a:r>
            <a:endParaRPr sz="1300"/>
          </a:p>
          <a:p>
            <a:pPr indent="-233750" lvl="1" marL="288000" rtl="0" algn="l">
              <a:spcBef>
                <a:spcPts val="0"/>
              </a:spcBef>
              <a:spcAft>
                <a:spcPts val="0"/>
              </a:spcAft>
              <a:buSzPts val="1300"/>
              <a:buChar char="•"/>
            </a:pPr>
            <a:r>
              <a:rPr b="1" lang="fr-FR" sz="1300"/>
              <a:t>Taille / portée :</a:t>
            </a:r>
            <a:r>
              <a:rPr lang="fr-FR" sz="1300"/>
              <a:t> </a:t>
            </a:r>
            <a:r>
              <a:rPr lang="fr-FR" sz="1300"/>
              <a:t>40 000 participants (10k entreprises, 1,4k investisseurs, +140 pays représentés)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conférences, networking, exposition de solutions, pitchs startups, programmes investisseurs, VIP Lunch,...</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Arkea est Major Investor Partners</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Laurent Fabius, President of COP21 and Former Prime Minister of France - Prince Albert II of Monaco - Thomas Jolly, DA des Cérémonies Olympiques de Paris 2024 - Lucie Basch, Cofounder &amp; CEO, Poppins &amp; Co-founder  -  Isabelle Combarel, Chair of the Executive Board ARKEA</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rtl="0" algn="l">
              <a:spcBef>
                <a:spcPts val="0"/>
              </a:spcBef>
              <a:spcAft>
                <a:spcPts val="0"/>
              </a:spcAft>
              <a:buSzPts val="1300"/>
              <a:buChar char="-"/>
            </a:pPr>
            <a:r>
              <a:rPr lang="fr-FR" sz="1300"/>
              <a:t>+500 médias présents</a:t>
            </a:r>
            <a:endParaRPr sz="1300"/>
          </a:p>
          <a:p>
            <a:pPr indent="-311150" lvl="0" marL="457200" rtl="0" algn="l">
              <a:spcBef>
                <a:spcPts val="0"/>
              </a:spcBef>
              <a:spcAft>
                <a:spcPts val="0"/>
              </a:spcAft>
              <a:buSzPts val="1300"/>
              <a:buChar char="-"/>
            </a:pPr>
            <a:r>
              <a:rPr lang="fr-FR" sz="1300"/>
              <a:t>Forte présence d’acteurs corporate (L’Oréal, AXA, Kering…)</a:t>
            </a:r>
            <a:endParaRPr sz="1300"/>
          </a:p>
          <a:p>
            <a:pPr indent="-311150" lvl="0" marL="457200" rtl="0" algn="l">
              <a:spcBef>
                <a:spcPts val="0"/>
              </a:spcBef>
              <a:spcAft>
                <a:spcPts val="0"/>
              </a:spcAft>
              <a:buSzPts val="1300"/>
              <a:buChar char="-"/>
            </a:pPr>
            <a:r>
              <a:rPr lang="fr-FR" sz="1300"/>
              <a:t>Opportunités business (dealflow startups, partenariats impact)</a:t>
            </a:r>
            <a:endParaRPr sz="1300"/>
          </a:p>
          <a:p>
            <a:pPr indent="-311150" lvl="0" marL="457200" rtl="0" algn="l">
              <a:lnSpc>
                <a:spcPct val="115000"/>
              </a:lnSpc>
              <a:spcBef>
                <a:spcPts val="0"/>
              </a:spcBef>
              <a:spcAft>
                <a:spcPts val="0"/>
              </a:spcAft>
              <a:buClr>
                <a:srgbClr val="000000"/>
              </a:buClr>
              <a:buSzPts val="1300"/>
              <a:buChar char="-"/>
            </a:pPr>
            <a:r>
              <a:rPr lang="fr-FR" sz="1300"/>
              <a:t>Légitimité sur les sujets ESG / impact investing </a:t>
            </a:r>
            <a:endParaRPr sz="1300"/>
          </a:p>
        </p:txBody>
      </p:sp>
      <p:sp>
        <p:nvSpPr>
          <p:cNvPr id="99" name="Google Shape;99;p13"/>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3"/>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3"/>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102" name="Google Shape;102;p13" title="blanc.png"/>
          <p:cNvPicPr preferRelativeResize="0"/>
          <p:nvPr/>
        </p:nvPicPr>
        <p:blipFill>
          <a:blip r:embed="rId5">
            <a:alphaModFix/>
          </a:blip>
          <a:stretch>
            <a:fillRect/>
          </a:stretch>
        </p:blipFill>
        <p:spPr>
          <a:xfrm rot="-1939490">
            <a:off x="11381952" y="509464"/>
            <a:ext cx="370796" cy="279247"/>
          </a:xfrm>
          <a:prstGeom prst="rect">
            <a:avLst/>
          </a:prstGeom>
          <a:noFill/>
          <a:ln>
            <a:noFill/>
          </a:ln>
        </p:spPr>
      </p:pic>
      <p:sp>
        <p:nvSpPr>
          <p:cNvPr id="103" name="Google Shape;103;p13"/>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104" name="Google Shape;104;p13"/>
          <p:cNvSpPr txBox="1"/>
          <p:nvPr/>
        </p:nvSpPr>
        <p:spPr>
          <a:xfrm>
            <a:off x="7260150" y="1361025"/>
            <a:ext cx="4154400" cy="150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Positionnement :</a:t>
            </a:r>
            <a:endParaRPr b="1" u="sng">
              <a:solidFill>
                <a:schemeClr val="lt1"/>
              </a:solidFill>
            </a:endParaRPr>
          </a:p>
          <a:p>
            <a:pPr indent="0" lvl="0" marL="0" rtl="0" algn="l">
              <a:spcBef>
                <a:spcPts val="0"/>
              </a:spcBef>
              <a:spcAft>
                <a:spcPts val="0"/>
              </a:spcAft>
              <a:buNone/>
            </a:pPr>
            <a:r>
              <a:rPr lang="fr-FR">
                <a:solidFill>
                  <a:schemeClr val="lt1"/>
                </a:solidFill>
              </a:rPr>
              <a:t>Positionner le Crédit Agricole et Transition Énergie comme le partenaire financier de référence des transitions (agricole, énergétique, territoriale), capable de connecter innovation</a:t>
            </a:r>
            <a:endParaRPr>
              <a:solidFill>
                <a:schemeClr val="lt1"/>
              </a:solidFill>
            </a:endParaRPr>
          </a:p>
          <a:p>
            <a:pPr indent="0" lvl="0" marL="0" rtl="0" algn="l">
              <a:spcBef>
                <a:spcPts val="0"/>
              </a:spcBef>
              <a:spcAft>
                <a:spcPts val="0"/>
              </a:spcAft>
              <a:buNone/>
            </a:pPr>
            <a:r>
              <a:rPr lang="fr-FR">
                <a:solidFill>
                  <a:schemeClr val="lt1"/>
                </a:solidFill>
              </a:rPr>
              <a:t>et financement.</a:t>
            </a:r>
            <a:endParaRPr>
              <a:solidFill>
                <a:schemeClr val="lt1"/>
              </a:solidFill>
            </a:endParaRPr>
          </a:p>
        </p:txBody>
      </p:sp>
      <p:sp>
        <p:nvSpPr>
          <p:cNvPr id="105" name="Google Shape;105;p13"/>
          <p:cNvSpPr txBox="1"/>
          <p:nvPr/>
        </p:nvSpPr>
        <p:spPr>
          <a:xfrm>
            <a:off x="7273375" y="3053050"/>
            <a:ext cx="45252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rtl="0" algn="l">
              <a:spcBef>
                <a:spcPts val="0"/>
              </a:spcBef>
              <a:spcAft>
                <a:spcPts val="0"/>
              </a:spcAft>
              <a:buClr>
                <a:schemeClr val="lt1"/>
              </a:buClr>
              <a:buSzPts val="1400"/>
              <a:buChar char="•"/>
            </a:pPr>
            <a:r>
              <a:rPr b="1" lang="fr-FR">
                <a:solidFill>
                  <a:schemeClr val="lt1"/>
                </a:solidFill>
              </a:rPr>
              <a:t>Prise de parole</a:t>
            </a:r>
            <a:r>
              <a:rPr lang="fr-FR">
                <a:solidFill>
                  <a:schemeClr val="lt1"/>
                </a:solidFill>
              </a:rPr>
              <a:t> (keynote / panel)</a:t>
            </a:r>
            <a:endParaRPr b="1" sz="1100">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Stand expérientiel</a:t>
            </a:r>
            <a:endParaRPr b="1">
              <a:solidFill>
                <a:schemeClr val="lt1"/>
              </a:solidFill>
            </a:endParaRPr>
          </a:p>
          <a:p>
            <a:pPr indent="0" lvl="0" marL="108000" marR="0" rtl="0" algn="l">
              <a:lnSpc>
                <a:spcPct val="100000"/>
              </a:lnSpc>
              <a:spcBef>
                <a:spcPts val="0"/>
              </a:spcBef>
              <a:spcAft>
                <a:spcPts val="0"/>
              </a:spcAft>
              <a:buNone/>
            </a:pPr>
            <a:r>
              <a:rPr lang="fr-FR">
                <a:solidFill>
                  <a:schemeClr val="lt1"/>
                </a:solidFill>
              </a:rPr>
              <a:t>→ mise en avant de cas concrets financés (agriculture durable, climat, innovation)</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Programme startups / investisseurs</a:t>
            </a:r>
            <a:r>
              <a:rPr lang="fr-FR">
                <a:solidFill>
                  <a:schemeClr val="lt1"/>
                </a:solidFill>
              </a:rPr>
              <a:t> via La Fabrique by CA</a:t>
            </a:r>
            <a:endParaRPr>
              <a:solidFill>
                <a:schemeClr val="lt1"/>
              </a:solidFill>
            </a:endParaRPr>
          </a:p>
          <a:p>
            <a:pPr indent="0" lvl="0" marL="0" marR="0" rtl="0" algn="l">
              <a:lnSpc>
                <a:spcPct val="100000"/>
              </a:lnSpc>
              <a:spcBef>
                <a:spcPts val="0"/>
              </a:spcBef>
              <a:spcAft>
                <a:spcPts val="0"/>
              </a:spcAft>
              <a:buNone/>
            </a:pPr>
            <a:r>
              <a:rPr lang="fr-FR">
                <a:solidFill>
                  <a:schemeClr val="lt1"/>
                </a:solidFill>
              </a:rPr>
              <a:t> → sessions de rencontres avec startups à impact (logique de dealflow)</a:t>
            </a:r>
            <a:endParaRPr>
              <a:solidFill>
                <a:schemeClr val="lt1"/>
              </a:solidFill>
            </a:endParaRPr>
          </a:p>
          <a:p>
            <a:pPr indent="349200" lvl="0" marL="108000" rtl="0" algn="l">
              <a:spcBef>
                <a:spcPts val="0"/>
              </a:spcBef>
              <a:spcAft>
                <a:spcPts val="0"/>
              </a:spcAft>
              <a:buNone/>
            </a:pPr>
            <a:r>
              <a:t/>
            </a:r>
            <a:endParaRPr b="1">
              <a:solidFill>
                <a:schemeClr val="lt1"/>
              </a:solidFill>
            </a:endParaRPr>
          </a:p>
          <a:p>
            <a:pPr indent="349200" lvl="0" marL="108000" rtl="0" algn="l">
              <a:spcBef>
                <a:spcPts val="0"/>
              </a:spcBef>
              <a:spcAft>
                <a:spcPts val="0"/>
              </a:spcAft>
              <a:buNone/>
            </a:pPr>
            <a:r>
              <a:rPr b="1" lang="fr-FR">
                <a:solidFill>
                  <a:schemeClr val="lt1"/>
                </a:solidFill>
              </a:rPr>
              <a:t>Site web</a:t>
            </a:r>
            <a:r>
              <a:rPr lang="fr-FR">
                <a:solidFill>
                  <a:schemeClr val="lt1"/>
                </a:solidFill>
              </a:rPr>
              <a:t> : https://www.changenow.world/fr/</a:t>
            </a:r>
            <a:endParaRPr>
              <a:solidFill>
                <a:schemeClr val="lt1"/>
              </a:solidFill>
            </a:endParaRPr>
          </a:p>
        </p:txBody>
      </p:sp>
      <p:pic>
        <p:nvPicPr>
          <p:cNvPr id="106" name="Google Shape;106;p13"/>
          <p:cNvPicPr preferRelativeResize="0"/>
          <p:nvPr/>
        </p:nvPicPr>
        <p:blipFill>
          <a:blip r:embed="rId6">
            <a:alphaModFix/>
          </a:blip>
          <a:stretch>
            <a:fillRect/>
          </a:stretch>
        </p:blipFill>
        <p:spPr>
          <a:xfrm>
            <a:off x="294388" y="107745"/>
            <a:ext cx="3257974" cy="690425"/>
          </a:xfrm>
          <a:prstGeom prst="rect">
            <a:avLst/>
          </a:prstGeom>
          <a:noFill/>
          <a:ln>
            <a:noFill/>
          </a:ln>
        </p:spPr>
      </p:pic>
      <p:sp>
        <p:nvSpPr>
          <p:cNvPr id="107" name="Google Shape;107;p13"/>
          <p:cNvSpPr/>
          <p:nvPr/>
        </p:nvSpPr>
        <p:spPr>
          <a:xfrm>
            <a:off x="618250" y="5501047"/>
            <a:ext cx="3744000" cy="3666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108" name="Google Shape;108;p13"/>
          <p:cNvPicPr preferRelativeResize="0"/>
          <p:nvPr/>
        </p:nvPicPr>
        <p:blipFill rotWithShape="1">
          <a:blip r:embed="rId7">
            <a:alphaModFix/>
          </a:blip>
          <a:srcRect b="0" l="0" r="0" t="0"/>
          <a:stretch/>
        </p:blipFill>
        <p:spPr>
          <a:xfrm>
            <a:off x="769460" y="5616016"/>
            <a:ext cx="189012" cy="151209"/>
          </a:xfrm>
          <a:prstGeom prst="rect">
            <a:avLst/>
          </a:prstGeom>
          <a:noFill/>
          <a:ln>
            <a:noFill/>
          </a:ln>
        </p:spPr>
      </p:pic>
      <p:sp>
        <p:nvSpPr>
          <p:cNvPr id="109" name="Google Shape;109;p13"/>
          <p:cNvSpPr/>
          <p:nvPr/>
        </p:nvSpPr>
        <p:spPr>
          <a:xfrm>
            <a:off x="1070401" y="5598640"/>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latin typeface="Inter"/>
                <a:ea typeface="Inter"/>
                <a:cs typeface="Inter"/>
                <a:sym typeface="Inter"/>
              </a:rPr>
              <a:t>10 ans de l’événement -&gt; édition anniversaire</a:t>
            </a:r>
            <a:endParaRPr b="0" i="0" sz="1100" u="none" cap="none" strike="noStrike"/>
          </a:p>
        </p:txBody>
      </p:sp>
      <p:sp>
        <p:nvSpPr>
          <p:cNvPr id="110" name="Google Shape;110;p13"/>
          <p:cNvSpPr/>
          <p:nvPr/>
        </p:nvSpPr>
        <p:spPr>
          <a:xfrm>
            <a:off x="561858" y="1361025"/>
            <a:ext cx="29691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 name="Google Shape;111;p13"/>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26 au 28 avril 2027 - Grand Palais Paris</a:t>
            </a:r>
            <a:endParaRPr b="0" i="0" sz="1100" u="none" cap="none" strike="noStrike">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ph idx="1" type="body"/>
          </p:nvPr>
        </p:nvSpPr>
        <p:spPr>
          <a:xfrm>
            <a:off x="460276" y="864150"/>
            <a:ext cx="5999700" cy="717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LE SOMMET MONDIAL DE RÉFÉRENCE D’IA</a:t>
            </a:r>
            <a:endParaRPr/>
          </a:p>
        </p:txBody>
      </p:sp>
      <p:sp>
        <p:nvSpPr>
          <p:cNvPr id="117" name="Google Shape;117;p14"/>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118" name="Google Shape;118;p14"/>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119" name="Google Shape;119;p14"/>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120" name="Google Shape;120;p14"/>
          <p:cNvSpPr txBox="1"/>
          <p:nvPr>
            <p:ph idx="3" type="body"/>
          </p:nvPr>
        </p:nvSpPr>
        <p:spPr>
          <a:xfrm>
            <a:off x="464925" y="1831409"/>
            <a:ext cx="6528000" cy="45702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Side event </a:t>
            </a:r>
            <a:r>
              <a:rPr lang="fr-FR" sz="1300"/>
              <a:t>le 7 </a:t>
            </a:r>
            <a:r>
              <a:rPr lang="fr-FR" sz="1300"/>
              <a:t>juillet</a:t>
            </a:r>
            <a:r>
              <a:rPr lang="fr-FR" sz="1300"/>
              <a:t> - dîner à Versailles</a:t>
            </a:r>
            <a:endParaRPr sz="1300"/>
          </a:p>
          <a:p>
            <a:pPr indent="-233750" lvl="1" marL="288000" rtl="0" algn="l">
              <a:spcBef>
                <a:spcPts val="0"/>
              </a:spcBef>
              <a:spcAft>
                <a:spcPts val="0"/>
              </a:spcAft>
              <a:buSzPts val="1300"/>
              <a:buChar char="•"/>
            </a:pPr>
            <a:r>
              <a:rPr b="1" lang="fr-FR" sz="1300"/>
              <a:t>Audience :</a:t>
            </a:r>
            <a:r>
              <a:rPr lang="fr-FR" sz="1300"/>
              <a:t> Dirigeants tech, fondateurs de startups et scale-ups, investisseurs, experts IA/data, grands groupes tech</a:t>
            </a:r>
            <a:endParaRPr sz="1300"/>
          </a:p>
          <a:p>
            <a:pPr indent="-233750" lvl="1" marL="288000" rtl="0" algn="l">
              <a:spcBef>
                <a:spcPts val="0"/>
              </a:spcBef>
              <a:spcAft>
                <a:spcPts val="0"/>
              </a:spcAft>
              <a:buSzPts val="1300"/>
              <a:buChar char="•"/>
            </a:pPr>
            <a:r>
              <a:rPr b="1" lang="fr-FR" sz="1300"/>
              <a:t>Taille / portée :</a:t>
            </a:r>
            <a:r>
              <a:rPr lang="fr-FR" sz="1300"/>
              <a:t> 9 000+ participants (audience internationale)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panels, networking, side events, rencontres investisseurs/startups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Partenaire bancaire international : Bank of America</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Mark Cuban, CEO de MCC - Yann LeCun, Président AMI - Anton Osika, CEO de Lovable - Scott Wu, cofondateur de Cognition - Jarek Kutylowski, fondateur de DeepL - Andrey Khusid, PDG de Miro,... </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par Chain of Events</a:t>
            </a:r>
            <a:endParaRPr sz="1300"/>
          </a:p>
          <a:p>
            <a:pPr indent="-311150" lvl="0" marL="457200" rtl="0" algn="l">
              <a:spcBef>
                <a:spcPts val="0"/>
              </a:spcBef>
              <a:spcAft>
                <a:spcPts val="0"/>
              </a:spcAft>
              <a:buSzPts val="1300"/>
              <a:buChar char="-"/>
            </a:pPr>
            <a:r>
              <a:rPr lang="fr-FR" sz="1300"/>
              <a:t>Renforcer la crédibilité du Crédit Agricole sur les sujets innovation, fintech &amp; IA</a:t>
            </a:r>
            <a:endParaRPr sz="1300"/>
          </a:p>
          <a:p>
            <a:pPr indent="-311150" lvl="0" marL="457200" rtl="0" algn="l">
              <a:spcBef>
                <a:spcPts val="0"/>
              </a:spcBef>
              <a:spcAft>
                <a:spcPts val="0"/>
              </a:spcAft>
              <a:buSzPts val="1300"/>
              <a:buChar char="-"/>
            </a:pPr>
            <a:r>
              <a:rPr lang="fr-FR" sz="1300"/>
              <a:t>Occuper un territoire pas/peu investi par les banques françaises</a:t>
            </a:r>
            <a:endParaRPr sz="1300"/>
          </a:p>
          <a:p>
            <a:pPr indent="-311150" lvl="0" marL="457200" rtl="0" algn="l">
              <a:spcBef>
                <a:spcPts val="0"/>
              </a:spcBef>
              <a:spcAft>
                <a:spcPts val="0"/>
              </a:spcAft>
              <a:buSzPts val="1300"/>
              <a:buChar char="-"/>
            </a:pPr>
            <a:r>
              <a:rPr lang="fr-FR" sz="1300"/>
              <a:t>Créer des opportunités de partenariats avec acteurs internationaux</a:t>
            </a:r>
            <a:endParaRPr sz="1300"/>
          </a:p>
          <a:p>
            <a:pPr indent="-311150" lvl="0" marL="457200" rtl="0" algn="l">
              <a:spcBef>
                <a:spcPts val="0"/>
              </a:spcBef>
              <a:spcAft>
                <a:spcPts val="0"/>
              </a:spcAft>
              <a:buSzPts val="1300"/>
              <a:buChar char="-"/>
            </a:pPr>
            <a:r>
              <a:rPr lang="fr-FR" sz="1300"/>
              <a:t>Accéder à un dealflow startups / scale-ups à fort potentiel</a:t>
            </a:r>
            <a:endParaRPr sz="1300"/>
          </a:p>
          <a:p>
            <a:pPr indent="0" lvl="0" marL="0" rtl="0" algn="l">
              <a:spcBef>
                <a:spcPts val="0"/>
              </a:spcBef>
              <a:spcAft>
                <a:spcPts val="0"/>
              </a:spcAft>
              <a:buNone/>
            </a:pPr>
            <a:r>
              <a:t/>
            </a:r>
            <a:endParaRPr sz="1300"/>
          </a:p>
        </p:txBody>
      </p:sp>
      <p:sp>
        <p:nvSpPr>
          <p:cNvPr id="121" name="Google Shape;121;p14"/>
          <p:cNvSpPr/>
          <p:nvPr/>
        </p:nvSpPr>
        <p:spPr>
          <a:xfrm>
            <a:off x="7130375" y="424925"/>
            <a:ext cx="4710000" cy="56232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4"/>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4"/>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124" name="Google Shape;124;p14"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125" name="Google Shape;125;p14"/>
          <p:cNvSpPr txBox="1"/>
          <p:nvPr>
            <p:ph idx="1" type="body"/>
          </p:nvPr>
        </p:nvSpPr>
        <p:spPr>
          <a:xfrm>
            <a:off x="6993035" y="806234"/>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126" name="Google Shape;126;p14"/>
          <p:cNvSpPr txBox="1"/>
          <p:nvPr/>
        </p:nvSpPr>
        <p:spPr>
          <a:xfrm>
            <a:off x="7260150" y="1288325"/>
            <a:ext cx="4154400" cy="21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la banque française qui prend le leadership sur un territoire tech déserté par ses concurrents, seule à capter à la fois les opportunités business et les cercles d’influence les plus exclusifs.</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p:txBody>
      </p:sp>
      <p:sp>
        <p:nvSpPr>
          <p:cNvPr id="127" name="Google Shape;127;p14"/>
          <p:cNvSpPr txBox="1"/>
          <p:nvPr/>
        </p:nvSpPr>
        <p:spPr>
          <a:xfrm>
            <a:off x="7222775" y="2831229"/>
            <a:ext cx="4525200" cy="344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(tech / business)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stand</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Programme startups / investisseurs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rencontres ciblées (fintech, IA, scale-ups)</a:t>
            </a:r>
            <a:endParaRPr>
              <a:solidFill>
                <a:schemeClr val="lt1"/>
              </a:solidFill>
            </a:endParaRPr>
          </a:p>
          <a:p>
            <a:pPr indent="0" lvl="0" marL="0" rtl="0" algn="l">
              <a:spcBef>
                <a:spcPts val="0"/>
              </a:spcBef>
              <a:spcAft>
                <a:spcPts val="0"/>
              </a:spcAft>
              <a:buNone/>
            </a:pPr>
            <a:r>
              <a:rPr lang="fr-FR">
                <a:solidFill>
                  <a:schemeClr val="lt1"/>
                </a:solidFill>
              </a:rPr>
              <a:t>→ sponsoriser le </a:t>
            </a:r>
            <a:r>
              <a:rPr i="1" lang="fr-FR">
                <a:solidFill>
                  <a:schemeClr val="lt1"/>
                </a:solidFill>
              </a:rPr>
              <a:t>Raise the Stakes</a:t>
            </a:r>
            <a:r>
              <a:rPr lang="fr-FR">
                <a:solidFill>
                  <a:schemeClr val="lt1"/>
                </a:solidFill>
              </a:rPr>
              <a:t> (compétition de startups IA)</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Activation contenu</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interviews fondateurs, tendances IA/data, diffusion social media</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Sponsoriser un side event ou le dîner privé</a:t>
            </a:r>
            <a:r>
              <a:rPr lang="fr-FR">
                <a:solidFill>
                  <a:schemeClr val="lt1"/>
                </a:solidFill>
              </a:rPr>
              <a:t> au </a:t>
            </a:r>
            <a:r>
              <a:rPr lang="fr-FR">
                <a:solidFill>
                  <a:schemeClr val="lt1"/>
                </a:solidFill>
              </a:rPr>
              <a:t>Château</a:t>
            </a:r>
            <a:r>
              <a:rPr lang="fr-FR">
                <a:solidFill>
                  <a:schemeClr val="lt1"/>
                </a:solidFill>
              </a:rPr>
              <a:t> de Versailles le 7/07</a:t>
            </a:r>
            <a:endParaRPr>
              <a:solidFill>
                <a:schemeClr val="lt1"/>
              </a:solidFill>
            </a:endParaRPr>
          </a:p>
          <a:p>
            <a:pPr indent="0" lvl="0" marL="108000" rtl="0" algn="l">
              <a:spcBef>
                <a:spcPts val="0"/>
              </a:spcBef>
              <a:spcAft>
                <a:spcPts val="0"/>
              </a:spcAft>
              <a:buNone/>
            </a:pPr>
            <a:r>
              <a:t/>
            </a:r>
            <a:endParaRPr b="1">
              <a:solidFill>
                <a:schemeClr val="lt1"/>
              </a:solidFill>
            </a:endParaRPr>
          </a:p>
          <a:p>
            <a:pPr indent="349200" lvl="0" marL="108000" rtl="0" algn="l">
              <a:spcBef>
                <a:spcPts val="0"/>
              </a:spcBef>
              <a:spcAft>
                <a:spcPts val="0"/>
              </a:spcAft>
              <a:buNone/>
            </a:pPr>
            <a:r>
              <a:rPr b="1" lang="fr-FR">
                <a:solidFill>
                  <a:schemeClr val="lt1"/>
                </a:solidFill>
              </a:rPr>
              <a:t>Site web</a:t>
            </a:r>
            <a:r>
              <a:rPr lang="fr-FR">
                <a:solidFill>
                  <a:schemeClr val="lt1"/>
                </a:solidFill>
              </a:rPr>
              <a:t> : </a:t>
            </a:r>
            <a:r>
              <a:rPr lang="fr-FR">
                <a:solidFill>
                  <a:schemeClr val="lt1"/>
                </a:solidFill>
                <a:uFill>
                  <a:noFill/>
                </a:uFill>
                <a:hlinkClick r:id="rId4">
                  <a:extLst>
                    <a:ext uri="{A12FA001-AC4F-418D-AE19-62706E023703}">
                      <ahyp:hlinkClr val="tx"/>
                    </a:ext>
                  </a:extLst>
                </a:hlinkClick>
              </a:rPr>
              <a:t>https://www.raisesummit.com/fr</a:t>
            </a:r>
            <a:endParaRPr>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sp>
        <p:nvSpPr>
          <p:cNvPr id="128" name="Google Shape;128;p14"/>
          <p:cNvSpPr/>
          <p:nvPr/>
        </p:nvSpPr>
        <p:spPr>
          <a:xfrm>
            <a:off x="558352" y="1362900"/>
            <a:ext cx="35427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 name="Google Shape;129;p14"/>
          <p:cNvSpPr/>
          <p:nvPr/>
        </p:nvSpPr>
        <p:spPr>
          <a:xfrm>
            <a:off x="721542" y="1460490"/>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8 au 9</a:t>
            </a:r>
            <a:r>
              <a:rPr lang="fr-FR" sz="1100">
                <a:solidFill>
                  <a:schemeClr val="lt1"/>
                </a:solidFill>
                <a:latin typeface="Inter"/>
                <a:ea typeface="Inter"/>
                <a:cs typeface="Inter"/>
                <a:sym typeface="Inter"/>
              </a:rPr>
              <a:t> juillet 2026 - Carrousel du Louvre à Paris</a:t>
            </a:r>
            <a:endParaRPr b="0" i="0" sz="1100" u="none" cap="none" strike="noStrike">
              <a:solidFill>
                <a:schemeClr val="lt1"/>
              </a:solidFill>
            </a:endParaRPr>
          </a:p>
        </p:txBody>
      </p:sp>
      <p:pic>
        <p:nvPicPr>
          <p:cNvPr id="130" name="Google Shape;130;p14"/>
          <p:cNvPicPr preferRelativeResize="0"/>
          <p:nvPr/>
        </p:nvPicPr>
        <p:blipFill>
          <a:blip r:embed="rId5">
            <a:alphaModFix/>
          </a:blip>
          <a:stretch>
            <a:fillRect/>
          </a:stretch>
        </p:blipFill>
        <p:spPr>
          <a:xfrm>
            <a:off x="561845" y="269600"/>
            <a:ext cx="2451655" cy="630900"/>
          </a:xfrm>
          <a:prstGeom prst="rect">
            <a:avLst/>
          </a:prstGeom>
          <a:noFill/>
          <a:ln>
            <a:noFill/>
          </a:ln>
        </p:spPr>
      </p:pic>
      <p:sp>
        <p:nvSpPr>
          <p:cNvPr id="131" name="Google Shape;131;p14"/>
          <p:cNvSpPr/>
          <p:nvPr/>
        </p:nvSpPr>
        <p:spPr>
          <a:xfrm>
            <a:off x="558350" y="5417100"/>
            <a:ext cx="5999700" cy="6309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132" name="Google Shape;132;p14"/>
          <p:cNvPicPr preferRelativeResize="0"/>
          <p:nvPr/>
        </p:nvPicPr>
        <p:blipFill rotWithShape="1">
          <a:blip r:embed="rId6">
            <a:alphaModFix/>
          </a:blip>
          <a:srcRect b="0" l="0" r="0" t="0"/>
          <a:stretch/>
        </p:blipFill>
        <p:spPr>
          <a:xfrm>
            <a:off x="718968" y="5655029"/>
            <a:ext cx="200819" cy="160635"/>
          </a:xfrm>
          <a:prstGeom prst="rect">
            <a:avLst/>
          </a:prstGeom>
          <a:noFill/>
          <a:ln>
            <a:noFill/>
          </a:ln>
        </p:spPr>
      </p:pic>
      <p:sp>
        <p:nvSpPr>
          <p:cNvPr id="133" name="Google Shape;133;p14"/>
          <p:cNvSpPr/>
          <p:nvPr/>
        </p:nvSpPr>
        <p:spPr>
          <a:xfrm>
            <a:off x="1080425" y="5521000"/>
            <a:ext cx="5184900" cy="713100"/>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00"/>
              </a:buClr>
              <a:buSzPts val="1200"/>
              <a:buFont typeface="Inter"/>
              <a:buNone/>
            </a:pPr>
            <a:r>
              <a:rPr b="0" i="0" lang="fr-FR" sz="1100" u="none" cap="none" strike="noStrike">
                <a:solidFill>
                  <a:srgbClr val="000000"/>
                </a:solidFill>
                <a:latin typeface="Inter"/>
                <a:ea typeface="Inter"/>
                <a:cs typeface="Inter"/>
                <a:sym typeface="Inter"/>
              </a:rPr>
              <a:t>Partenaire bancaire actuel : Bank of America </a:t>
            </a:r>
            <a:r>
              <a:rPr lang="fr-FR" sz="1100">
                <a:latin typeface="Inter"/>
                <a:ea typeface="Inter"/>
                <a:cs typeface="Inter"/>
                <a:sym typeface="Inter"/>
              </a:rPr>
              <a:t>-</a:t>
            </a:r>
            <a:r>
              <a:rPr b="0" i="0" lang="fr-FR" sz="1100" u="none" cap="none" strike="noStrike">
                <a:solidFill>
                  <a:srgbClr val="000000"/>
                </a:solidFill>
                <a:latin typeface="Inter"/>
                <a:ea typeface="Inter"/>
                <a:cs typeface="Inter"/>
                <a:sym typeface="Inter"/>
              </a:rPr>
              <a:t> </a:t>
            </a:r>
            <a:r>
              <a:rPr b="1" i="0" lang="fr-FR" sz="1100" u="none" cap="none" strike="noStrike">
                <a:solidFill>
                  <a:srgbClr val="000000"/>
                </a:solidFill>
                <a:latin typeface="Inter"/>
                <a:ea typeface="Inter"/>
                <a:cs typeface="Inter"/>
                <a:sym typeface="Inter"/>
              </a:rPr>
              <a:t>Absence d'acteurs bancaires français → opportunité stratégique majeure</a:t>
            </a:r>
            <a:endParaRPr b="0" i="0" sz="11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idx="1" type="body"/>
          </p:nvPr>
        </p:nvSpPr>
        <p:spPr>
          <a:xfrm>
            <a:off x="448450" y="919113"/>
            <a:ext cx="72993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700">
                <a:solidFill>
                  <a:schemeClr val="accent1"/>
                </a:solidFill>
                <a:latin typeface="Arial Black"/>
                <a:ea typeface="Arial Black"/>
                <a:cs typeface="Arial Black"/>
                <a:sym typeface="Arial Black"/>
              </a:rPr>
              <a:t>LE GRAND RENDEZ-VOUS DE LA TECH EUROPÉENNE</a:t>
            </a:r>
            <a:endParaRPr sz="1700">
              <a:solidFill>
                <a:schemeClr val="accent1"/>
              </a:solidFill>
              <a:latin typeface="Arial Black"/>
              <a:ea typeface="Arial Black"/>
              <a:cs typeface="Arial Black"/>
              <a:sym typeface="Arial Black"/>
            </a:endParaRPr>
          </a:p>
        </p:txBody>
      </p:sp>
      <p:sp>
        <p:nvSpPr>
          <p:cNvPr id="139" name="Google Shape;139;p15"/>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140" name="Google Shape;140;p15"/>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141" name="Google Shape;141;p15"/>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142" name="Google Shape;142;p15"/>
          <p:cNvSpPr txBox="1"/>
          <p:nvPr>
            <p:ph idx="3" type="body"/>
          </p:nvPr>
        </p:nvSpPr>
        <p:spPr>
          <a:xfrm>
            <a:off x="472683" y="1703800"/>
            <a:ext cx="6528000" cy="457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Startups deeptech, scale-ups, grands groupes, investisseurs, institutions publiques, médias</a:t>
            </a:r>
            <a:endParaRPr sz="1300"/>
          </a:p>
          <a:p>
            <a:pPr indent="-233750" lvl="1" marL="288000" rtl="0" algn="l">
              <a:spcBef>
                <a:spcPts val="0"/>
              </a:spcBef>
              <a:spcAft>
                <a:spcPts val="0"/>
              </a:spcAft>
              <a:buSzPts val="1300"/>
              <a:buChar char="•"/>
            </a:pPr>
            <a:r>
              <a:rPr b="1" lang="fr-FR" sz="1300"/>
              <a:t>Taille / portée :</a:t>
            </a:r>
            <a:r>
              <a:rPr lang="fr-FR" sz="1300"/>
              <a:t> 1 500+ participants (</a:t>
            </a:r>
            <a:r>
              <a:rPr lang="fr-FR" sz="1300"/>
              <a:t>Écosystème qualifié innovation &amp; impact</a:t>
            </a:r>
            <a:r>
              <a:rPr lang="fr-FR" sz="1300"/>
              <a:t>)</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Débats, keynotes, pitchs startups, 6 awards → cérémonie, networking</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Présence d’acteurs bancaires et institutionnels majeurs : BNP Paribas, Bpifrance, Crédit Mutuel Arkéa / Forte exposition média (BFM / La Tribune)</a:t>
            </a:r>
            <a:endParaRPr sz="1300"/>
          </a:p>
          <a:p>
            <a:pPr indent="-233750" lvl="1" marL="288000" marR="0" rtl="0" algn="l">
              <a:lnSpc>
                <a:spcPct val="100000"/>
              </a:lnSpc>
              <a:spcBef>
                <a:spcPts val="0"/>
              </a:spcBef>
              <a:spcAft>
                <a:spcPts val="0"/>
              </a:spcAft>
              <a:buSzPts val="1300"/>
              <a:buChar char="•"/>
            </a:pPr>
            <a:r>
              <a:rPr b="1" lang="fr-FR" sz="1300"/>
              <a:t>Lauréats</a:t>
            </a:r>
            <a:r>
              <a:rPr b="1" lang="fr-FR" sz="1300"/>
              <a:t> en 2025 : </a:t>
            </a:r>
            <a:r>
              <a:rPr lang="fr-FR" sz="1300"/>
              <a:t>SeeHaptic, Alternative Innovation, Phagos, OptimPharma, Neuronaix,  Miratlas.</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a:t>
            </a:r>
            <a:r>
              <a:rPr lang="fr-FR" sz="1300"/>
              <a:t>par La Tribune x BFM Business</a:t>
            </a:r>
            <a:endParaRPr sz="1300"/>
          </a:p>
          <a:p>
            <a:pPr indent="-311150" lvl="0" marL="457200" rtl="0" algn="l">
              <a:lnSpc>
                <a:spcPct val="115000"/>
              </a:lnSpc>
              <a:spcBef>
                <a:spcPts val="0"/>
              </a:spcBef>
              <a:spcAft>
                <a:spcPts val="0"/>
              </a:spcAft>
              <a:buSzPts val="1300"/>
              <a:buChar char="-"/>
            </a:pPr>
            <a:r>
              <a:rPr lang="fr-FR" sz="1300"/>
              <a:t>Accent éditorial fort sur la souverainété </a:t>
            </a:r>
            <a:endParaRPr sz="1300"/>
          </a:p>
          <a:p>
            <a:pPr indent="-311150" lvl="0" marL="457200" rtl="0" algn="l">
              <a:spcBef>
                <a:spcPts val="0"/>
              </a:spcBef>
              <a:spcAft>
                <a:spcPts val="0"/>
              </a:spcAft>
              <a:buSzPts val="1300"/>
              <a:buChar char="-"/>
            </a:pPr>
            <a:r>
              <a:rPr lang="fr-FR" sz="1300"/>
              <a:t>Accéder à un écosystème startups + investisseurs qualifiés</a:t>
            </a:r>
            <a:endParaRPr sz="1300"/>
          </a:p>
          <a:p>
            <a:pPr indent="-311150" lvl="0" marL="457200" rtl="0" algn="l">
              <a:lnSpc>
                <a:spcPct val="115000"/>
              </a:lnSpc>
              <a:spcBef>
                <a:spcPts val="0"/>
              </a:spcBef>
              <a:spcAft>
                <a:spcPts val="0"/>
              </a:spcAft>
              <a:buClr>
                <a:srgbClr val="000000"/>
              </a:buClr>
              <a:buSzPts val="1300"/>
              <a:buChar char="-"/>
            </a:pPr>
            <a:r>
              <a:rPr lang="fr-FR" sz="1300"/>
              <a:t>Identifier des opportunités de financement et d’accompagnement startups</a:t>
            </a:r>
            <a:endParaRPr sz="1300"/>
          </a:p>
        </p:txBody>
      </p:sp>
      <p:sp>
        <p:nvSpPr>
          <p:cNvPr id="143" name="Google Shape;143;p15"/>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5"/>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5"/>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146" name="Google Shape;146;p15"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147" name="Google Shape;147;p15"/>
          <p:cNvSpPr txBox="1"/>
          <p:nvPr>
            <p:ph idx="1" type="body"/>
          </p:nvPr>
        </p:nvSpPr>
        <p:spPr>
          <a:xfrm>
            <a:off x="6993035" y="6624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148" name="Google Shape;148;p15"/>
          <p:cNvSpPr txBox="1"/>
          <p:nvPr/>
        </p:nvSpPr>
        <p:spPr>
          <a:xfrm>
            <a:off x="7260150" y="11324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 acteur bancaire moteur de l’innovation utile et de la </a:t>
            </a:r>
            <a:r>
              <a:rPr lang="fr-FR">
                <a:solidFill>
                  <a:schemeClr val="lt1"/>
                </a:solidFill>
              </a:rPr>
              <a:t>souveraineté</a:t>
            </a:r>
            <a:r>
              <a:rPr lang="fr-FR">
                <a:solidFill>
                  <a:schemeClr val="lt1"/>
                </a:solidFill>
              </a:rPr>
              <a:t>, au service des startups et des technologies à impact.</a:t>
            </a:r>
            <a:endParaRPr>
              <a:solidFill>
                <a:schemeClr val="lt1"/>
              </a:solidFill>
            </a:endParaRPr>
          </a:p>
        </p:txBody>
      </p:sp>
      <p:sp>
        <p:nvSpPr>
          <p:cNvPr id="149" name="Google Shape;149;p15"/>
          <p:cNvSpPr txBox="1"/>
          <p:nvPr/>
        </p:nvSpPr>
        <p:spPr>
          <a:xfrm>
            <a:off x="7222775" y="2464911"/>
            <a:ext cx="4525200" cy="297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innovation / impact</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Exemple 2026 : Financement de la tech, comment rester dans la course ? (avec Philippe Tibi)</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Participation aux jurys / awards startups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visibilité forte sur les projets deeptech et impact</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Stand / démonstration</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éditoriaux</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interviews startups, décryptages tendances tech &amp; green</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investisseurs / startups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sourcing et détection de projets early stage</a:t>
            </a:r>
            <a:endParaRPr sz="1100">
              <a:solidFill>
                <a:schemeClr val="lt1"/>
              </a:solidFill>
            </a:endParaRPr>
          </a:p>
          <a:p>
            <a:pPr indent="0" lvl="0" marL="0" marR="0" rtl="0" algn="l">
              <a:lnSpc>
                <a:spcPct val="100000"/>
              </a:lnSpc>
              <a:spcBef>
                <a:spcPts val="0"/>
              </a:spcBef>
              <a:spcAft>
                <a:spcPts val="0"/>
              </a:spcAft>
              <a:buNone/>
            </a:pPr>
            <a:r>
              <a:t/>
            </a:r>
            <a:endParaRPr b="1" sz="1100">
              <a:solidFill>
                <a:schemeClr val="lt1"/>
              </a:solidFill>
            </a:endParaRPr>
          </a:p>
        </p:txBody>
      </p:sp>
      <p:pic>
        <p:nvPicPr>
          <p:cNvPr id="150" name="Google Shape;150;p15"/>
          <p:cNvPicPr preferRelativeResize="0"/>
          <p:nvPr/>
        </p:nvPicPr>
        <p:blipFill>
          <a:blip r:embed="rId4">
            <a:alphaModFix/>
          </a:blip>
          <a:stretch>
            <a:fillRect/>
          </a:stretch>
        </p:blipFill>
        <p:spPr>
          <a:xfrm>
            <a:off x="424212" y="177854"/>
            <a:ext cx="1742002" cy="776475"/>
          </a:xfrm>
          <a:prstGeom prst="rect">
            <a:avLst/>
          </a:prstGeom>
          <a:noFill/>
          <a:ln>
            <a:noFill/>
          </a:ln>
        </p:spPr>
      </p:pic>
      <p:sp>
        <p:nvSpPr>
          <p:cNvPr id="151" name="Google Shape;151;p15"/>
          <p:cNvSpPr txBox="1"/>
          <p:nvPr/>
        </p:nvSpPr>
        <p:spPr>
          <a:xfrm>
            <a:off x="7451375" y="534427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https://techforfuture.fr/</a:t>
            </a:r>
            <a:endParaRPr b="1" sz="1300">
              <a:solidFill>
                <a:schemeClr val="lt1"/>
              </a:solidFill>
            </a:endParaRPr>
          </a:p>
        </p:txBody>
      </p:sp>
      <p:sp>
        <p:nvSpPr>
          <p:cNvPr id="152" name="Google Shape;152;p15"/>
          <p:cNvSpPr/>
          <p:nvPr/>
        </p:nvSpPr>
        <p:spPr>
          <a:xfrm>
            <a:off x="561850" y="1361025"/>
            <a:ext cx="39510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 name="Google Shape;153;p15"/>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14 avril 2026 (date 2027 à venir) </a:t>
            </a:r>
            <a:r>
              <a:rPr lang="fr-FR" sz="1100">
                <a:solidFill>
                  <a:schemeClr val="lt1"/>
                </a:solidFill>
                <a:latin typeface="Inter"/>
                <a:ea typeface="Inter"/>
                <a:cs typeface="Inter"/>
                <a:sym typeface="Inter"/>
              </a:rPr>
              <a:t>- Pathé Palace à Paris</a:t>
            </a:r>
            <a:endParaRPr b="0" i="0" sz="1100" u="none" cap="none" strike="noStrike">
              <a:solidFill>
                <a:schemeClr val="lt1"/>
              </a:solidFill>
            </a:endParaRPr>
          </a:p>
        </p:txBody>
      </p:sp>
      <p:sp>
        <p:nvSpPr>
          <p:cNvPr id="154" name="Google Shape;154;p15"/>
          <p:cNvSpPr/>
          <p:nvPr/>
        </p:nvSpPr>
        <p:spPr>
          <a:xfrm>
            <a:off x="561850" y="5347035"/>
            <a:ext cx="5832900" cy="5400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155" name="Google Shape;155;p15"/>
          <p:cNvPicPr preferRelativeResize="0"/>
          <p:nvPr/>
        </p:nvPicPr>
        <p:blipFill rotWithShape="1">
          <a:blip r:embed="rId6">
            <a:alphaModFix/>
          </a:blip>
          <a:srcRect b="0" l="0" r="0" t="0"/>
          <a:stretch/>
        </p:blipFill>
        <p:spPr>
          <a:xfrm>
            <a:off x="694101" y="5529903"/>
            <a:ext cx="165299" cy="132259"/>
          </a:xfrm>
          <a:prstGeom prst="rect">
            <a:avLst/>
          </a:prstGeom>
          <a:noFill/>
          <a:ln>
            <a:noFill/>
          </a:ln>
        </p:spPr>
      </p:pic>
      <p:sp>
        <p:nvSpPr>
          <p:cNvPr id="156" name="Google Shape;156;p15"/>
          <p:cNvSpPr/>
          <p:nvPr/>
        </p:nvSpPr>
        <p:spPr>
          <a:xfrm>
            <a:off x="991657" y="5436304"/>
            <a:ext cx="5270400" cy="36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000"/>
              <a:buFont typeface="Inter"/>
              <a:buNone/>
            </a:pPr>
            <a:r>
              <a:rPr b="0" i="0" lang="fr-FR" sz="1000" u="none" cap="none" strike="noStrike">
                <a:solidFill>
                  <a:srgbClr val="000000"/>
                </a:solidFill>
                <a:latin typeface="Inter"/>
                <a:ea typeface="Inter"/>
                <a:cs typeface="Inter"/>
                <a:sym typeface="Inter"/>
              </a:rPr>
              <a:t>Présence concurrente : BNP Paribas, Bpifrance, Crédit Mutuel Arkéa</a:t>
            </a:r>
            <a:endParaRPr sz="1000">
              <a:latin typeface="Inter"/>
              <a:ea typeface="Inter"/>
              <a:cs typeface="Inter"/>
              <a:sym typeface="Inter"/>
            </a:endParaRPr>
          </a:p>
          <a:p>
            <a:pPr indent="0" lvl="0" marL="0" marR="0" rtl="0" algn="l">
              <a:lnSpc>
                <a:spcPct val="140000"/>
              </a:lnSpc>
              <a:spcBef>
                <a:spcPts val="0"/>
              </a:spcBef>
              <a:spcAft>
                <a:spcPts val="0"/>
              </a:spcAft>
              <a:buClr>
                <a:srgbClr val="000000"/>
              </a:buClr>
              <a:buSzPts val="1000"/>
              <a:buFont typeface="Inter"/>
              <a:buNone/>
            </a:pPr>
            <a:r>
              <a:rPr lang="fr-FR" sz="1000">
                <a:latin typeface="Inter"/>
                <a:ea typeface="Inter"/>
                <a:cs typeface="Inter"/>
                <a:sym typeface="Inter"/>
              </a:rPr>
              <a:t>+ </a:t>
            </a:r>
            <a:r>
              <a:rPr b="0" i="0" lang="fr-FR" sz="1000" u="none" cap="none" strike="noStrike">
                <a:solidFill>
                  <a:srgbClr val="000000"/>
                </a:solidFill>
                <a:latin typeface="Inter"/>
                <a:ea typeface="Inter"/>
                <a:cs typeface="Inter"/>
                <a:sym typeface="Inter"/>
              </a:rPr>
              <a:t>Forte exposition média BFM / La Tribune</a:t>
            </a:r>
            <a:endParaRPr b="0" i="0" sz="10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6"/>
          <p:cNvSpPr txBox="1"/>
          <p:nvPr>
            <p:ph idx="1" type="body"/>
          </p:nvPr>
        </p:nvSpPr>
        <p:spPr>
          <a:xfrm>
            <a:off x="458551" y="650675"/>
            <a:ext cx="64254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LE + GRAND ÉVÉNEMENT FRANÇAIS</a:t>
            </a:r>
            <a:endParaRPr sz="19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DÉDIÉ AUX NOUVEAUX INVESTISSEURS</a:t>
            </a:r>
            <a:endParaRPr/>
          </a:p>
        </p:txBody>
      </p:sp>
      <p:sp>
        <p:nvSpPr>
          <p:cNvPr id="162" name="Google Shape;162;p16"/>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163" name="Google Shape;163;p16"/>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164" name="Google Shape;164;p16"/>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165" name="Google Shape;165;p16"/>
          <p:cNvSpPr txBox="1"/>
          <p:nvPr>
            <p:ph idx="3" type="body"/>
          </p:nvPr>
        </p:nvSpPr>
        <p:spPr>
          <a:xfrm>
            <a:off x="464925" y="1611425"/>
            <a:ext cx="6528000" cy="4814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Grand public, i</a:t>
            </a:r>
            <a:r>
              <a:rPr lang="fr-FR" sz="1300"/>
              <a:t>nvestisseurs particuliers et institutionnels, fintechs, acteurs de la gestion d’actifs, banques, plateformes d’investissement</a:t>
            </a:r>
            <a:endParaRPr sz="1300"/>
          </a:p>
          <a:p>
            <a:pPr indent="-233750" lvl="1" marL="288000" rtl="0" algn="l">
              <a:spcBef>
                <a:spcPts val="0"/>
              </a:spcBef>
              <a:spcAft>
                <a:spcPts val="0"/>
              </a:spcAft>
              <a:buSzPts val="1300"/>
              <a:buChar char="•"/>
            </a:pPr>
            <a:r>
              <a:rPr b="1" lang="fr-FR" sz="1300"/>
              <a:t>Taille / portée :</a:t>
            </a:r>
            <a:r>
              <a:rPr lang="fr-FR" sz="1300"/>
              <a:t> 4 000+ participants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Conférences, keynotes, masterclasses, networking</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Présence d’acteurs majeurs de la finance : BNP Paribas, Trade Republic, Amundi Investment Solutions.</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François Villeroy de Galhau, gouverneur de la Banque de France - Jean de la Rochebrochard, Managing Partner de Kima Ventures - Estelle Castres, DG de BlackRock - Matthias Baccino, senior Advisor de Trade Republic - Frédéric Mazzela, fondateur de Blablacar - Jonathan Anguelov, cofondateur de Offstone.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par le média Aktionnaire</a:t>
            </a:r>
            <a:endParaRPr sz="1300"/>
          </a:p>
          <a:p>
            <a:pPr indent="-311150" lvl="0" marL="457200" rtl="0" algn="l">
              <a:lnSpc>
                <a:spcPct val="115000"/>
              </a:lnSpc>
              <a:spcBef>
                <a:spcPts val="0"/>
              </a:spcBef>
              <a:spcAft>
                <a:spcPts val="0"/>
              </a:spcAft>
              <a:buClr>
                <a:srgbClr val="000000"/>
              </a:buClr>
              <a:buSzPts val="1300"/>
              <a:buChar char="-"/>
            </a:pPr>
            <a:r>
              <a:rPr lang="fr-FR" sz="1300"/>
              <a:t>Positionnement hybride : grand public + acteurs experts </a:t>
            </a:r>
            <a:endParaRPr sz="1300"/>
          </a:p>
          <a:p>
            <a:pPr indent="-311150" lvl="0" marL="457200" rtl="0" algn="l">
              <a:lnSpc>
                <a:spcPct val="115000"/>
              </a:lnSpc>
              <a:spcBef>
                <a:spcPts val="0"/>
              </a:spcBef>
              <a:spcAft>
                <a:spcPts val="0"/>
              </a:spcAft>
              <a:buClr>
                <a:srgbClr val="000000"/>
              </a:buClr>
              <a:buSzPts val="1300"/>
              <a:buChar char="-"/>
            </a:pPr>
            <a:r>
              <a:rPr lang="fr-FR" sz="1300"/>
              <a:t>Renforcer la proximité avec les investisseurs particuliers et les nouvelles générations d’épargnants</a:t>
            </a:r>
            <a:endParaRPr sz="1300"/>
          </a:p>
        </p:txBody>
      </p:sp>
      <p:sp>
        <p:nvSpPr>
          <p:cNvPr id="166" name="Google Shape;166;p16"/>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6"/>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6"/>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169" name="Google Shape;169;p16"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170" name="Google Shape;170;p16"/>
          <p:cNvSpPr txBox="1"/>
          <p:nvPr>
            <p:ph idx="1" type="body"/>
          </p:nvPr>
        </p:nvSpPr>
        <p:spPr>
          <a:xfrm>
            <a:off x="6993035" y="6624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171" name="Google Shape;171;p16"/>
          <p:cNvSpPr txBox="1"/>
          <p:nvPr/>
        </p:nvSpPr>
        <p:spPr>
          <a:xfrm>
            <a:off x="7260150" y="11324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une banque de référence sur la démocratisation de l’investissement, capable d’accompagner toutes les générations dans leurs choix financiers.</a:t>
            </a:r>
            <a:endParaRPr>
              <a:solidFill>
                <a:schemeClr val="lt1"/>
              </a:solidFill>
            </a:endParaRPr>
          </a:p>
        </p:txBody>
      </p:sp>
      <p:sp>
        <p:nvSpPr>
          <p:cNvPr id="172" name="Google Shape;172;p16"/>
          <p:cNvSpPr txBox="1"/>
          <p:nvPr/>
        </p:nvSpPr>
        <p:spPr>
          <a:xfrm>
            <a:off x="7222775" y="2562900"/>
            <a:ext cx="4614600" cy="301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Keynote pédagogie finance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Exemple 2026 : Est-il possible de combiner investissement responsable et rendement ? (avec Amundi)</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stand / conseil</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accompagnement personnalisé et mise en avant des solutions d’investissement</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social media éducatifs adapté à la cible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formats courts pédagogiques (TikTok / LinkedIn / Instagram)</a:t>
            </a:r>
            <a:endParaRPr sz="1100">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173" name="Google Shape;173;p16" title="Capture d’écran 2026-04-23 à 17.18.23.png"/>
          <p:cNvPicPr preferRelativeResize="0"/>
          <p:nvPr/>
        </p:nvPicPr>
        <p:blipFill>
          <a:blip r:embed="rId4">
            <a:alphaModFix/>
          </a:blip>
          <a:stretch>
            <a:fillRect/>
          </a:stretch>
        </p:blipFill>
        <p:spPr>
          <a:xfrm>
            <a:off x="567600" y="182804"/>
            <a:ext cx="1633513" cy="434225"/>
          </a:xfrm>
          <a:prstGeom prst="rect">
            <a:avLst/>
          </a:prstGeom>
          <a:noFill/>
          <a:ln>
            <a:noFill/>
          </a:ln>
        </p:spPr>
      </p:pic>
      <p:sp>
        <p:nvSpPr>
          <p:cNvPr id="174" name="Google Shape;174;p16"/>
          <p:cNvSpPr txBox="1"/>
          <p:nvPr/>
        </p:nvSpPr>
        <p:spPr>
          <a:xfrm>
            <a:off x="7560500" y="52635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https://www.aktionnaireday.com/</a:t>
            </a:r>
            <a:endParaRPr b="1" sz="1300">
              <a:solidFill>
                <a:schemeClr val="lt1"/>
              </a:solidFill>
            </a:endParaRPr>
          </a:p>
        </p:txBody>
      </p:sp>
      <p:sp>
        <p:nvSpPr>
          <p:cNvPr id="175" name="Google Shape;175;p16"/>
          <p:cNvSpPr/>
          <p:nvPr/>
        </p:nvSpPr>
        <p:spPr>
          <a:xfrm>
            <a:off x="561850" y="1361025"/>
            <a:ext cx="39510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 name="Google Shape;176;p16"/>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21 mars 2026 </a:t>
            </a:r>
            <a:r>
              <a:rPr lang="fr-FR" sz="1100">
                <a:solidFill>
                  <a:schemeClr val="lt1"/>
                </a:solidFill>
                <a:latin typeface="Inter"/>
                <a:ea typeface="Inter"/>
                <a:cs typeface="Inter"/>
                <a:sym typeface="Inter"/>
              </a:rPr>
              <a:t>(date 2027 à venir) - Station F à Paris</a:t>
            </a:r>
            <a:endParaRPr b="0" i="0" sz="1100" u="none" cap="none" strike="noStrike">
              <a:solidFill>
                <a:schemeClr val="lt1"/>
              </a:solidFill>
            </a:endParaRPr>
          </a:p>
        </p:txBody>
      </p:sp>
      <p:sp>
        <p:nvSpPr>
          <p:cNvPr id="177" name="Google Shape;177;p16"/>
          <p:cNvSpPr/>
          <p:nvPr/>
        </p:nvSpPr>
        <p:spPr>
          <a:xfrm>
            <a:off x="589950" y="5472100"/>
            <a:ext cx="6237000" cy="4353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178" name="Google Shape;178;p16"/>
          <p:cNvPicPr preferRelativeResize="0"/>
          <p:nvPr/>
        </p:nvPicPr>
        <p:blipFill rotWithShape="1">
          <a:blip r:embed="rId6">
            <a:alphaModFix/>
          </a:blip>
          <a:srcRect b="0" l="0" r="0" t="0"/>
          <a:stretch/>
        </p:blipFill>
        <p:spPr>
          <a:xfrm>
            <a:off x="704801" y="5611293"/>
            <a:ext cx="189012" cy="151209"/>
          </a:xfrm>
          <a:prstGeom prst="rect">
            <a:avLst/>
          </a:prstGeom>
          <a:noFill/>
          <a:ln>
            <a:noFill/>
          </a:ln>
        </p:spPr>
      </p:pic>
      <p:sp>
        <p:nvSpPr>
          <p:cNvPr id="179" name="Google Shape;179;p16"/>
          <p:cNvSpPr/>
          <p:nvPr/>
        </p:nvSpPr>
        <p:spPr>
          <a:xfrm>
            <a:off x="1081376" y="5590983"/>
            <a:ext cx="5648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b="0" i="0" lang="fr-FR" sz="1100" u="none" cap="none" strike="noStrike">
                <a:solidFill>
                  <a:srgbClr val="000000"/>
                </a:solidFill>
                <a:latin typeface="Inter"/>
                <a:ea typeface="Inter"/>
                <a:cs typeface="Inter"/>
                <a:sym typeface="Inter"/>
              </a:rPr>
              <a:t>Forte dimension pédagogie financière — cible : futures générations d'investisseurs</a:t>
            </a:r>
            <a:endParaRPr b="0" i="0" sz="11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idx="1" type="body"/>
          </p:nvPr>
        </p:nvSpPr>
        <p:spPr>
          <a:xfrm>
            <a:off x="467167" y="678408"/>
            <a:ext cx="63564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L’ÉVÉNEMENT INCONTOURNABLE</a:t>
            </a:r>
            <a:endParaRPr sz="19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DES LEADERS DE L’IA ET DU NOCODE</a:t>
            </a:r>
            <a:endParaRPr/>
          </a:p>
        </p:txBody>
      </p:sp>
      <p:sp>
        <p:nvSpPr>
          <p:cNvPr id="185" name="Google Shape;185;p17"/>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186" name="Google Shape;186;p17"/>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187" name="Google Shape;187;p17"/>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188" name="Google Shape;188;p17"/>
          <p:cNvSpPr txBox="1"/>
          <p:nvPr>
            <p:ph idx="3" type="body"/>
          </p:nvPr>
        </p:nvSpPr>
        <p:spPr>
          <a:xfrm>
            <a:off x="464925" y="1866143"/>
            <a:ext cx="6528000" cy="457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Fondateurs de startups, scale-ups, investisseurs, corporate innovation, experts IA, acteurs du no-code et de la tech européenne</a:t>
            </a:r>
            <a:endParaRPr sz="1300"/>
          </a:p>
          <a:p>
            <a:pPr indent="-233750" lvl="1" marL="288000" rtl="0" algn="l">
              <a:spcBef>
                <a:spcPts val="0"/>
              </a:spcBef>
              <a:spcAft>
                <a:spcPts val="0"/>
              </a:spcAft>
              <a:buSzPts val="1300"/>
              <a:buChar char="•"/>
            </a:pPr>
            <a:r>
              <a:rPr b="1" lang="fr-FR" sz="1300"/>
              <a:t>Taille / portée :</a:t>
            </a:r>
            <a:r>
              <a:rPr lang="fr-FR" sz="1300"/>
              <a:t> 2 000+ participants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panels, démos IA/no-code, retours d’expérience, networking, pitchs startups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Positionnement très opérationnel (use cases concrets, produits, outils) </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Yann LeCun, fondateur de AMI - Dominique de Villepin, ancien 1er ministre - Octave Klaba, fondateur de OVHcloud - Anne Le Hénanff, ministre de l’IA - Clara Chappaz, ambassadrice IA,...</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par France Digitale et PR[AI]RIE AI</a:t>
            </a:r>
            <a:endParaRPr sz="1300"/>
          </a:p>
          <a:p>
            <a:pPr indent="-311150" lvl="0" marL="457200" rtl="0" algn="l">
              <a:spcBef>
                <a:spcPts val="0"/>
              </a:spcBef>
              <a:spcAft>
                <a:spcPts val="0"/>
              </a:spcAft>
              <a:buSzPts val="1300"/>
              <a:buChar char="-"/>
            </a:pPr>
            <a:r>
              <a:rPr lang="fr-FR" sz="1300"/>
              <a:t>Identifier des solutions activables rapidement dans les métiers du groupe</a:t>
            </a:r>
            <a:endParaRPr sz="1300"/>
          </a:p>
        </p:txBody>
      </p:sp>
      <p:sp>
        <p:nvSpPr>
          <p:cNvPr id="189" name="Google Shape;189;p17"/>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7"/>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7"/>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192" name="Google Shape;192;p17"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193" name="Google Shape;193;p17"/>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194" name="Google Shape;194;p17"/>
          <p:cNvSpPr txBox="1"/>
          <p:nvPr/>
        </p:nvSpPr>
        <p:spPr>
          <a:xfrm>
            <a:off x="7260150" y="1361025"/>
            <a:ext cx="4154400" cy="237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 acteur bancaire qui intègre et industrialise les outils IA et no-code au service de la transformation métier et de l’efficacité opérationnelle.</a:t>
            </a:r>
            <a:endParaRPr sz="1100">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p:txBody>
      </p:sp>
      <p:sp>
        <p:nvSpPr>
          <p:cNvPr id="195" name="Google Shape;195;p17"/>
          <p:cNvSpPr txBox="1"/>
          <p:nvPr/>
        </p:nvSpPr>
        <p:spPr>
          <a:xfrm>
            <a:off x="7222775" y="2791511"/>
            <a:ext cx="45252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u="sng">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Keynote / retour d’expérience IA</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Exemple 2026 : Runway, Revenue, and Reality: A founder &amp; CFO’s guide to finance in the AI scale‑up era (avec Airwallex)</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innovation</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rencontres avec startups early-stage et scale-ups IA</a:t>
            </a:r>
            <a:endParaRPr>
              <a:solidFill>
                <a:schemeClr val="lt1"/>
              </a:solidFill>
            </a:endParaRPr>
          </a:p>
          <a:p>
            <a:pPr indent="-240100" lvl="1" marL="288000" rtl="0" algn="l">
              <a:spcBef>
                <a:spcPts val="0"/>
              </a:spcBef>
              <a:spcAft>
                <a:spcPts val="0"/>
              </a:spcAft>
              <a:buClr>
                <a:schemeClr val="lt1"/>
              </a:buClr>
              <a:buSzPts val="1400"/>
              <a:buChar char="•"/>
            </a:pPr>
            <a:r>
              <a:rPr b="1" lang="fr-FR">
                <a:solidFill>
                  <a:schemeClr val="lt1"/>
                </a:solidFill>
              </a:rPr>
              <a:t>Sponsoriser la workshop </a:t>
            </a:r>
            <a:r>
              <a:rPr b="1" lang="fr-FR">
                <a:solidFill>
                  <a:schemeClr val="lt1"/>
                </a:solidFill>
              </a:rPr>
              <a:t>area</a:t>
            </a:r>
            <a:endParaRPr b="1">
              <a:solidFill>
                <a:schemeClr val="lt1"/>
              </a:solidFill>
            </a:endParaRPr>
          </a:p>
          <a:p>
            <a:pPr indent="0" lvl="0" marL="0" rtl="0" algn="l">
              <a:spcBef>
                <a:spcPts val="0"/>
              </a:spcBef>
              <a:spcAft>
                <a:spcPts val="0"/>
              </a:spcAft>
              <a:buNone/>
            </a:pPr>
            <a:r>
              <a:rPr lang="fr-FR">
                <a:solidFill>
                  <a:schemeClr val="lt1"/>
                </a:solidFill>
              </a:rPr>
              <a:t>→ via le naming de l’espace</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196" name="Google Shape;196;p17"/>
          <p:cNvPicPr preferRelativeResize="0"/>
          <p:nvPr/>
        </p:nvPicPr>
        <p:blipFill rotWithShape="1">
          <a:blip r:embed="rId4">
            <a:alphaModFix/>
          </a:blip>
          <a:srcRect b="62949" l="24917" r="25673" t="12632"/>
          <a:stretch/>
        </p:blipFill>
        <p:spPr>
          <a:xfrm>
            <a:off x="561850" y="165574"/>
            <a:ext cx="1562010" cy="434226"/>
          </a:xfrm>
          <a:prstGeom prst="rect">
            <a:avLst/>
          </a:prstGeom>
          <a:noFill/>
          <a:ln>
            <a:noFill/>
          </a:ln>
        </p:spPr>
      </p:pic>
      <p:sp>
        <p:nvSpPr>
          <p:cNvPr id="197" name="Google Shape;197;p17"/>
          <p:cNvSpPr txBox="1"/>
          <p:nvPr/>
        </p:nvSpPr>
        <p:spPr>
          <a:xfrm>
            <a:off x="7492925" y="50613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https://ai-day.org/</a:t>
            </a:r>
            <a:endParaRPr b="1" sz="1300">
              <a:solidFill>
                <a:schemeClr val="lt1"/>
              </a:solidFill>
            </a:endParaRPr>
          </a:p>
        </p:txBody>
      </p:sp>
      <p:sp>
        <p:nvSpPr>
          <p:cNvPr id="198" name="Google Shape;198;p17"/>
          <p:cNvSpPr/>
          <p:nvPr/>
        </p:nvSpPr>
        <p:spPr>
          <a:xfrm>
            <a:off x="561850" y="1361025"/>
            <a:ext cx="39510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 name="Google Shape;199;p17"/>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10 février</a:t>
            </a:r>
            <a:r>
              <a:rPr lang="fr-FR" sz="1100">
                <a:solidFill>
                  <a:schemeClr val="lt1"/>
                </a:solidFill>
                <a:latin typeface="Inter"/>
                <a:ea typeface="Inter"/>
                <a:cs typeface="Inter"/>
                <a:sym typeface="Inter"/>
              </a:rPr>
              <a:t> 2026 (date 2027 à venir) - Station F à Paris</a:t>
            </a:r>
            <a:endParaRPr b="0" i="0" sz="1100" u="none" cap="none" strike="noStrike">
              <a:solidFill>
                <a:schemeClr val="lt1"/>
              </a:solidFill>
            </a:endParaRPr>
          </a:p>
        </p:txBody>
      </p:sp>
      <p:sp>
        <p:nvSpPr>
          <p:cNvPr id="200" name="Google Shape;200;p17"/>
          <p:cNvSpPr/>
          <p:nvPr/>
        </p:nvSpPr>
        <p:spPr>
          <a:xfrm>
            <a:off x="589950" y="5243500"/>
            <a:ext cx="6237000" cy="4353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01" name="Google Shape;201;p17"/>
          <p:cNvPicPr preferRelativeResize="0"/>
          <p:nvPr/>
        </p:nvPicPr>
        <p:blipFill rotWithShape="1">
          <a:blip r:embed="rId6">
            <a:alphaModFix/>
          </a:blip>
          <a:srcRect b="0" l="0" r="0" t="0"/>
          <a:stretch/>
        </p:blipFill>
        <p:spPr>
          <a:xfrm>
            <a:off x="704801" y="5382693"/>
            <a:ext cx="189012" cy="151209"/>
          </a:xfrm>
          <a:prstGeom prst="rect">
            <a:avLst/>
          </a:prstGeom>
          <a:noFill/>
          <a:ln>
            <a:noFill/>
          </a:ln>
        </p:spPr>
      </p:pic>
      <p:sp>
        <p:nvSpPr>
          <p:cNvPr id="202" name="Google Shape;202;p17"/>
          <p:cNvSpPr/>
          <p:nvPr/>
        </p:nvSpPr>
        <p:spPr>
          <a:xfrm>
            <a:off x="1081376" y="5362383"/>
            <a:ext cx="5648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latin typeface="Inter"/>
                <a:ea typeface="Inter"/>
                <a:cs typeface="Inter"/>
                <a:sym typeface="Inter"/>
              </a:rPr>
              <a:t>Présence d’acteurs innovation, politiques, investisseurs et grands groupes</a:t>
            </a:r>
            <a:endParaRPr sz="1100">
              <a:latin typeface="Inter"/>
              <a:ea typeface="Inter"/>
              <a:cs typeface="Inter"/>
              <a:sym typeface="Inter"/>
            </a:endParaRPr>
          </a:p>
          <a:p>
            <a:pPr indent="0" lvl="0" marL="0" marR="0" rtl="0" algn="l">
              <a:lnSpc>
                <a:spcPct val="147058"/>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idx="1" type="body"/>
          </p:nvPr>
        </p:nvSpPr>
        <p:spPr>
          <a:xfrm>
            <a:off x="465025" y="769183"/>
            <a:ext cx="6410400" cy="100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SEUL FESTIVAL OÙ SE </a:t>
            </a:r>
            <a:r>
              <a:rPr lang="fr-FR" sz="1900">
                <a:solidFill>
                  <a:schemeClr val="accent1"/>
                </a:solidFill>
                <a:latin typeface="Arial Black"/>
                <a:ea typeface="Arial Black"/>
                <a:cs typeface="Arial Black"/>
                <a:sym typeface="Arial Black"/>
              </a:rPr>
              <a:t>RETROUVENT</a:t>
            </a:r>
            <a:r>
              <a:rPr lang="fr-FR" sz="1900">
                <a:solidFill>
                  <a:schemeClr val="accent1"/>
                </a:solidFill>
                <a:latin typeface="Arial Black"/>
                <a:ea typeface="Arial Black"/>
                <a:cs typeface="Arial Black"/>
                <a:sym typeface="Arial Black"/>
              </a:rPr>
              <a:t> L’INDUSTRIE, LA RECHERCHE, L’ÉDUCATION ET </a:t>
            </a:r>
            <a:r>
              <a:rPr lang="fr-FR" sz="1900">
                <a:solidFill>
                  <a:schemeClr val="accent1"/>
                </a:solidFill>
                <a:latin typeface="Arial Black"/>
                <a:ea typeface="Arial Black"/>
                <a:cs typeface="Arial Black"/>
                <a:sym typeface="Arial Black"/>
              </a:rPr>
              <a:t>L'ENTREPRENEURIAT</a:t>
            </a:r>
            <a:endParaRPr sz="1800"/>
          </a:p>
        </p:txBody>
      </p:sp>
      <p:sp>
        <p:nvSpPr>
          <p:cNvPr id="208" name="Google Shape;208;p18"/>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209" name="Google Shape;209;p18"/>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210" name="Google Shape;210;p18"/>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211" name="Google Shape;211;p18"/>
          <p:cNvSpPr txBox="1"/>
          <p:nvPr>
            <p:ph idx="3" type="body"/>
          </p:nvPr>
        </p:nvSpPr>
        <p:spPr>
          <a:xfrm>
            <a:off x="465025" y="2007477"/>
            <a:ext cx="6528000" cy="3500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Startups deeptech, chercheurs, industriels, investisseurs, grands groupes, acteurs publics, écosystèmes territoriaux</a:t>
            </a:r>
            <a:endParaRPr sz="1300"/>
          </a:p>
          <a:p>
            <a:pPr indent="-233750" lvl="1" marL="288000" rtl="0" algn="l">
              <a:spcBef>
                <a:spcPts val="0"/>
              </a:spcBef>
              <a:spcAft>
                <a:spcPts val="0"/>
              </a:spcAft>
              <a:buSzPts val="1300"/>
              <a:buChar char="•"/>
            </a:pPr>
            <a:r>
              <a:rPr b="1" lang="fr-FR" sz="1300"/>
              <a:t>Taille / portée :</a:t>
            </a:r>
            <a:r>
              <a:rPr lang="fr-FR" sz="1300"/>
              <a:t> 20 000+ participants (Événement tech à forte dimension territoriale et industrielle)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Conférences et masterclass, jobdating, networking, village innovation</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Positionnement hybride : festival + événement business / Présence d’acteurs clés : Crédit Mutuel, Bpifrance, Le Village by CA</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Guillaume Buffet, fondateur de Motherbase - Julien Cadot, COO de Humanoid - Pascal Descargues, président de Genoskin - Laurent Degré, président de HPE France,...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par Le Dauphiné Libéré x EBRA Group</a:t>
            </a:r>
            <a:endParaRPr sz="1300"/>
          </a:p>
          <a:p>
            <a:pPr indent="-311150" lvl="0" marL="457200" rtl="0" algn="l">
              <a:spcBef>
                <a:spcPts val="0"/>
              </a:spcBef>
              <a:spcAft>
                <a:spcPts val="0"/>
              </a:spcAft>
              <a:buSzPts val="1300"/>
              <a:buChar char="-"/>
            </a:pPr>
            <a:r>
              <a:rPr lang="fr-FR" sz="1300"/>
              <a:t>Capitaliser sur la présence existante du Le Village by CA</a:t>
            </a:r>
            <a:endParaRPr sz="1300"/>
          </a:p>
          <a:p>
            <a:pPr indent="-311150" lvl="0" marL="457200" rtl="0" algn="l">
              <a:spcBef>
                <a:spcPts val="0"/>
              </a:spcBef>
              <a:spcAft>
                <a:spcPts val="0"/>
              </a:spcAft>
              <a:buSzPts val="1300"/>
              <a:buChar char="-"/>
            </a:pPr>
            <a:r>
              <a:rPr lang="fr-FR" sz="1300"/>
              <a:t>Renforcer la visibilité du Crédit Agricole sur l’innovation deeptech et industrielle.</a:t>
            </a:r>
            <a:endParaRPr sz="1300"/>
          </a:p>
        </p:txBody>
      </p:sp>
      <p:sp>
        <p:nvSpPr>
          <p:cNvPr id="212" name="Google Shape;212;p18"/>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18"/>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8"/>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215" name="Google Shape;215;p18"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216" name="Google Shape;216;p18"/>
          <p:cNvSpPr txBox="1"/>
          <p:nvPr>
            <p:ph idx="1" type="body"/>
          </p:nvPr>
        </p:nvSpPr>
        <p:spPr>
          <a:xfrm>
            <a:off x="6993035" y="7386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217" name="Google Shape;217;p18"/>
          <p:cNvSpPr txBox="1"/>
          <p:nvPr/>
        </p:nvSpPr>
        <p:spPr>
          <a:xfrm>
            <a:off x="7260150" y="12086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la banque de référence des territoires innovants, capable d’accompagner l’émergence et la croissance des projets deeptech et industriels partout en France.</a:t>
            </a:r>
            <a:endParaRPr>
              <a:solidFill>
                <a:schemeClr val="lt1"/>
              </a:solidFill>
            </a:endParaRPr>
          </a:p>
        </p:txBody>
      </p:sp>
      <p:sp>
        <p:nvSpPr>
          <p:cNvPr id="218" name="Google Shape;218;p18"/>
          <p:cNvSpPr txBox="1"/>
          <p:nvPr/>
        </p:nvSpPr>
        <p:spPr>
          <a:xfrm>
            <a:off x="7222775" y="2562911"/>
            <a:ext cx="4525200" cy="297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territoriale &amp; innovation</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Exemple 2026 : Baromètre économique et financement de la trésorerie pour les TPE, PME et ETI (avec la Banque de France)</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Activation avec Le Village by CA</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valorisation de l’écosystème startups déjà existant</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Rencontres startups &amp; industriels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détection projets et opportunités de financement</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média &amp; amplification</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capitaliser sur la puissance éditoriale régionale</a:t>
            </a:r>
            <a:endParaRPr>
              <a:solidFill>
                <a:schemeClr val="lt1"/>
              </a:solidFill>
            </a:endParaRPr>
          </a:p>
          <a:p>
            <a:pPr indent="0" lvl="0" marL="0" rtl="0" algn="l">
              <a:spcBef>
                <a:spcPts val="0"/>
              </a:spcBef>
              <a:spcAft>
                <a:spcPts val="0"/>
              </a:spcAft>
              <a:buNone/>
            </a:pPr>
            <a:r>
              <a:t/>
            </a:r>
            <a:endParaRPr b="1" sz="1100">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219" name="Google Shape;219;p18"/>
          <p:cNvPicPr preferRelativeResize="0"/>
          <p:nvPr/>
        </p:nvPicPr>
        <p:blipFill>
          <a:blip r:embed="rId4">
            <a:alphaModFix/>
          </a:blip>
          <a:stretch>
            <a:fillRect/>
          </a:stretch>
        </p:blipFill>
        <p:spPr>
          <a:xfrm>
            <a:off x="561850" y="0"/>
            <a:ext cx="1404399" cy="817001"/>
          </a:xfrm>
          <a:prstGeom prst="rect">
            <a:avLst/>
          </a:prstGeom>
          <a:noFill/>
          <a:ln>
            <a:noFill/>
          </a:ln>
        </p:spPr>
      </p:pic>
      <p:sp>
        <p:nvSpPr>
          <p:cNvPr id="220" name="Google Shape;220;p18"/>
          <p:cNvSpPr txBox="1"/>
          <p:nvPr/>
        </p:nvSpPr>
        <p:spPr>
          <a:xfrm>
            <a:off x="7470875" y="52173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https://www.tech-fest.fr/</a:t>
            </a:r>
            <a:endParaRPr b="1" sz="1300">
              <a:solidFill>
                <a:schemeClr val="lt1"/>
              </a:solidFill>
            </a:endParaRPr>
          </a:p>
        </p:txBody>
      </p:sp>
      <p:sp>
        <p:nvSpPr>
          <p:cNvPr id="221" name="Google Shape;221;p18"/>
          <p:cNvSpPr/>
          <p:nvPr/>
        </p:nvSpPr>
        <p:spPr>
          <a:xfrm>
            <a:off x="561850" y="1754150"/>
            <a:ext cx="42174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p18"/>
          <p:cNvSpPr/>
          <p:nvPr/>
        </p:nvSpPr>
        <p:spPr>
          <a:xfrm>
            <a:off x="725059" y="1851732"/>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4 au 6</a:t>
            </a:r>
            <a:r>
              <a:rPr lang="fr-FR" sz="1100">
                <a:solidFill>
                  <a:schemeClr val="lt1"/>
                </a:solidFill>
                <a:latin typeface="Inter"/>
                <a:ea typeface="Inter"/>
                <a:cs typeface="Inter"/>
                <a:sym typeface="Inter"/>
              </a:rPr>
              <a:t> février 2026 (date 2027 à venir) - Alexpo à Grenoble</a:t>
            </a:r>
            <a:endParaRPr b="0" i="0" sz="1100" u="none" cap="none" strike="noStrike">
              <a:solidFill>
                <a:schemeClr val="lt1"/>
              </a:solidFill>
            </a:endParaRPr>
          </a:p>
        </p:txBody>
      </p:sp>
      <p:sp>
        <p:nvSpPr>
          <p:cNvPr id="223" name="Google Shape;223;p18"/>
          <p:cNvSpPr/>
          <p:nvPr/>
        </p:nvSpPr>
        <p:spPr>
          <a:xfrm>
            <a:off x="561850" y="5587531"/>
            <a:ext cx="5261700" cy="3666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24" name="Google Shape;224;p18"/>
          <p:cNvPicPr preferRelativeResize="0"/>
          <p:nvPr/>
        </p:nvPicPr>
        <p:blipFill rotWithShape="1">
          <a:blip r:embed="rId6">
            <a:alphaModFix/>
          </a:blip>
          <a:srcRect b="0" l="0" r="0" t="0"/>
          <a:stretch/>
        </p:blipFill>
        <p:spPr>
          <a:xfrm>
            <a:off x="703534" y="5696075"/>
            <a:ext cx="177205" cy="141684"/>
          </a:xfrm>
          <a:prstGeom prst="rect">
            <a:avLst/>
          </a:prstGeom>
          <a:noFill/>
          <a:ln>
            <a:noFill/>
          </a:ln>
        </p:spPr>
      </p:pic>
      <p:sp>
        <p:nvSpPr>
          <p:cNvPr id="225" name="Google Shape;225;p18"/>
          <p:cNvSpPr/>
          <p:nvPr/>
        </p:nvSpPr>
        <p:spPr>
          <a:xfrm>
            <a:off x="1022424" y="5680744"/>
            <a:ext cx="4659300" cy="1983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b="0" i="0" lang="fr-FR" sz="1100" u="none" cap="none" strike="noStrike">
                <a:solidFill>
                  <a:srgbClr val="000000"/>
                </a:solidFill>
                <a:latin typeface="Inter"/>
                <a:ea typeface="Inter"/>
                <a:cs typeface="Inter"/>
                <a:sym typeface="Inter"/>
              </a:rPr>
              <a:t>Présence existante du </a:t>
            </a:r>
            <a:r>
              <a:rPr b="1" i="0" lang="fr-FR" sz="1100" u="none" cap="none" strike="noStrike">
                <a:solidFill>
                  <a:srgbClr val="000000"/>
                </a:solidFill>
                <a:latin typeface="Inter"/>
                <a:ea typeface="Inter"/>
                <a:cs typeface="Inter"/>
                <a:sym typeface="Inter"/>
              </a:rPr>
              <a:t>Le Village by CA</a:t>
            </a:r>
            <a:r>
              <a:rPr b="0" i="0" lang="fr-FR" sz="1100" u="none" cap="none" strike="noStrike">
                <a:solidFill>
                  <a:srgbClr val="000000"/>
                </a:solidFill>
                <a:latin typeface="Inter"/>
                <a:ea typeface="Inter"/>
                <a:cs typeface="Inter"/>
                <a:sym typeface="Inter"/>
              </a:rPr>
              <a:t> </a:t>
            </a:r>
            <a:r>
              <a:rPr lang="fr-FR" sz="1100">
                <a:latin typeface="Inter"/>
                <a:ea typeface="Inter"/>
                <a:cs typeface="Inter"/>
                <a:sym typeface="Inter"/>
              </a:rPr>
              <a:t>-</a:t>
            </a:r>
            <a:r>
              <a:rPr b="0" i="0" lang="fr-FR" sz="1100" u="none" cap="none" strike="noStrike">
                <a:solidFill>
                  <a:srgbClr val="000000"/>
                </a:solidFill>
                <a:latin typeface="Inter"/>
                <a:ea typeface="Inter"/>
                <a:cs typeface="Inter"/>
                <a:sym typeface="Inter"/>
              </a:rPr>
              <a:t> levier d'activation direct</a:t>
            </a:r>
            <a:endParaRPr b="0" i="0" sz="11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9"/>
          <p:cNvSpPr txBox="1"/>
          <p:nvPr>
            <p:ph idx="1" type="body"/>
          </p:nvPr>
        </p:nvSpPr>
        <p:spPr>
          <a:xfrm>
            <a:off x="558575" y="554200"/>
            <a:ext cx="62805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L’INCONTOURNABLE RÉUNION DE FAMILLE DE LA COMMUNAUTÉ TECH EN FRANCE</a:t>
            </a:r>
            <a:endParaRPr/>
          </a:p>
        </p:txBody>
      </p:sp>
      <p:sp>
        <p:nvSpPr>
          <p:cNvPr id="231" name="Google Shape;231;p19"/>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232" name="Google Shape;232;p19"/>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233" name="Google Shape;233;p19"/>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234" name="Google Shape;234;p19"/>
          <p:cNvSpPr txBox="1"/>
          <p:nvPr>
            <p:ph idx="3" type="body"/>
          </p:nvPr>
        </p:nvSpPr>
        <p:spPr>
          <a:xfrm>
            <a:off x="434825" y="1588793"/>
            <a:ext cx="6528000" cy="457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Fondateurs de startups, scale-ups, investisseurs (VC, fonds), dirigeants corporate, acteurs publics de l’innovation</a:t>
            </a:r>
            <a:endParaRPr sz="1300"/>
          </a:p>
          <a:p>
            <a:pPr indent="-233750" lvl="1" marL="288000" rtl="0" algn="l">
              <a:spcBef>
                <a:spcPts val="0"/>
              </a:spcBef>
              <a:spcAft>
                <a:spcPts val="0"/>
              </a:spcAft>
              <a:buSzPts val="1300"/>
              <a:buChar char="•"/>
            </a:pPr>
            <a:r>
              <a:rPr b="1" lang="fr-FR" sz="1300"/>
              <a:t>Taille / portée :</a:t>
            </a:r>
            <a:r>
              <a:rPr lang="fr-FR" sz="1300"/>
              <a:t> 4 500+ participants (Écosystème tech &amp; investissement très qualifié)</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Tables rondes, déjeuner écosystème, networking, tournages de podcast en live,...</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Présence de fonds d’investissement (VC, growth, PE) / Partenaires majeurs : Caisse des Dépôts, Crédit Mutuel Arkéa, Bpifrance, Société Générale, Memo Bank, BNP Paribas.</a:t>
            </a:r>
            <a:endParaRPr sz="1300"/>
          </a:p>
          <a:p>
            <a:pPr indent="-233750" lvl="1" marL="288000" marR="0" rtl="0" algn="l">
              <a:lnSpc>
                <a:spcPct val="100000"/>
              </a:lnSpc>
              <a:spcBef>
                <a:spcPts val="0"/>
              </a:spcBef>
              <a:spcAft>
                <a:spcPts val="0"/>
              </a:spcAft>
              <a:buSzPts val="1300"/>
              <a:buChar char="•"/>
            </a:pPr>
            <a:r>
              <a:rPr lang="fr-FR" sz="1300"/>
              <a:t>Speakers phares en 2025 : Philippe Aghion, économiste - Gabriel Zucman, économiste - Alexia Laroche-Joubert, présidente de Banijay - Thibaut Guilluy, DG de France Travail - Gary Shapiro, président du CES - Roxanne Varza, directrice de Station F - Xavier Lazarus, Managing Partner de Elaia,...</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organisé par France Digitale</a:t>
            </a:r>
            <a:endParaRPr sz="1300"/>
          </a:p>
          <a:p>
            <a:pPr indent="-311150" lvl="0" marL="457200" rtl="0" algn="l">
              <a:lnSpc>
                <a:spcPct val="115000"/>
              </a:lnSpc>
              <a:spcBef>
                <a:spcPts val="0"/>
              </a:spcBef>
              <a:spcAft>
                <a:spcPts val="0"/>
              </a:spcAft>
              <a:buClr>
                <a:srgbClr val="000000"/>
              </a:buClr>
              <a:buSzPts val="1300"/>
              <a:buChar char="-"/>
            </a:pPr>
            <a:r>
              <a:rPr lang="fr-FR" sz="1300"/>
              <a:t>Développer des relations avec fonds d’investissement et investisseurs </a:t>
            </a:r>
            <a:endParaRPr sz="1300"/>
          </a:p>
          <a:p>
            <a:pPr indent="-311150" lvl="0" marL="457200" marR="0" rtl="0" algn="l">
              <a:lnSpc>
                <a:spcPct val="100000"/>
              </a:lnSpc>
              <a:spcBef>
                <a:spcPts val="0"/>
              </a:spcBef>
              <a:spcAft>
                <a:spcPts val="0"/>
              </a:spcAft>
              <a:buSzPts val="1300"/>
              <a:buChar char="-"/>
            </a:pPr>
            <a:r>
              <a:rPr lang="fr-FR" sz="1300"/>
              <a:t>Etre au coeur des acteurs de référence de l’écosystème.</a:t>
            </a:r>
            <a:endParaRPr sz="1300"/>
          </a:p>
        </p:txBody>
      </p:sp>
      <p:sp>
        <p:nvSpPr>
          <p:cNvPr id="235" name="Google Shape;235;p19"/>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19"/>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19"/>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238" name="Google Shape;238;p19"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239" name="Google Shape;239;p19"/>
          <p:cNvSpPr txBox="1"/>
          <p:nvPr>
            <p:ph idx="1" type="body"/>
          </p:nvPr>
        </p:nvSpPr>
        <p:spPr>
          <a:xfrm>
            <a:off x="72978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240" name="Google Shape;240;p19"/>
          <p:cNvSpPr txBox="1"/>
          <p:nvPr/>
        </p:nvSpPr>
        <p:spPr>
          <a:xfrm>
            <a:off x="7260150" y="9800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 acteur bancaire incontournable du financement des startups et de la croissance des scale-ups en France et en Europe.</a:t>
            </a:r>
            <a:endParaRPr>
              <a:solidFill>
                <a:schemeClr val="lt1"/>
              </a:solidFill>
            </a:endParaRPr>
          </a:p>
        </p:txBody>
      </p:sp>
      <p:sp>
        <p:nvSpPr>
          <p:cNvPr id="241" name="Google Shape;241;p19"/>
          <p:cNvSpPr txBox="1"/>
          <p:nvPr/>
        </p:nvSpPr>
        <p:spPr>
          <a:xfrm>
            <a:off x="7222775" y="2258111"/>
            <a:ext cx="4525200" cy="361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u="sng">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Participation à une table ronde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visibilité sur les enjeux financement, innovation et croissance</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Organisation de rendez-vous stratégiques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rencontres ciblées avec les acteurs incontournables </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Participation / sponsoring du déjeuner écosystème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moment clé de networking premium</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Participation au podcast Feuille Blanche (live)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prise de parole incarnée + amplification immédiate</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visible (stand / sponsoring)</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Activation avec fonds d’investissement</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partenariats, co-financement, visibilité croisée</a:t>
            </a:r>
            <a:endParaRPr sz="1100">
              <a:solidFill>
                <a:schemeClr val="lt1"/>
              </a:solidFill>
            </a:endParaRPr>
          </a:p>
          <a:p>
            <a:pPr indent="0" lvl="0" marL="0" rtl="0" algn="l">
              <a:spcBef>
                <a:spcPts val="0"/>
              </a:spcBef>
              <a:spcAft>
                <a:spcPts val="0"/>
              </a:spcAft>
              <a:buNone/>
            </a:pPr>
            <a:r>
              <a:t/>
            </a:r>
            <a:endParaRPr b="1" sz="1100">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242" name="Google Shape;242;p19"/>
          <p:cNvPicPr preferRelativeResize="0"/>
          <p:nvPr/>
        </p:nvPicPr>
        <p:blipFill rotWithShape="1">
          <a:blip r:embed="rId4">
            <a:alphaModFix/>
          </a:blip>
          <a:srcRect b="49998" l="17299" r="18726" t="16782"/>
          <a:stretch/>
        </p:blipFill>
        <p:spPr>
          <a:xfrm>
            <a:off x="558575" y="180816"/>
            <a:ext cx="1169223" cy="317700"/>
          </a:xfrm>
          <a:prstGeom prst="rect">
            <a:avLst/>
          </a:prstGeom>
          <a:noFill/>
          <a:ln>
            <a:noFill/>
          </a:ln>
        </p:spPr>
      </p:pic>
      <p:sp>
        <p:nvSpPr>
          <p:cNvPr id="243" name="Google Shape;243;p19"/>
          <p:cNvSpPr txBox="1"/>
          <p:nvPr/>
        </p:nvSpPr>
        <p:spPr>
          <a:xfrm>
            <a:off x="7757867" y="5458567"/>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https://fdday.eu/</a:t>
            </a:r>
            <a:endParaRPr b="1" sz="1300">
              <a:solidFill>
                <a:schemeClr val="lt1"/>
              </a:solidFill>
            </a:endParaRPr>
          </a:p>
        </p:txBody>
      </p:sp>
      <p:sp>
        <p:nvSpPr>
          <p:cNvPr id="244" name="Google Shape;244;p19"/>
          <p:cNvSpPr/>
          <p:nvPr/>
        </p:nvSpPr>
        <p:spPr>
          <a:xfrm>
            <a:off x="561850" y="1361025"/>
            <a:ext cx="34662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5" name="Google Shape;245;p19"/>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15 février 2027 </a:t>
            </a:r>
            <a:r>
              <a:rPr lang="fr-FR" sz="1100">
                <a:solidFill>
                  <a:schemeClr val="lt1"/>
                </a:solidFill>
                <a:latin typeface="Inter"/>
                <a:ea typeface="Inter"/>
                <a:cs typeface="Inter"/>
                <a:sym typeface="Inter"/>
              </a:rPr>
              <a:t>- Musée des arts forains à Paris</a:t>
            </a:r>
            <a:endParaRPr b="0" i="0" sz="1100" u="none" cap="none" strike="noStrike">
              <a:solidFill>
                <a:schemeClr val="lt1"/>
              </a:solidFill>
            </a:endParaRPr>
          </a:p>
        </p:txBody>
      </p:sp>
      <p:sp>
        <p:nvSpPr>
          <p:cNvPr id="246" name="Google Shape;246;p19"/>
          <p:cNvSpPr/>
          <p:nvPr/>
        </p:nvSpPr>
        <p:spPr>
          <a:xfrm>
            <a:off x="561850" y="5551417"/>
            <a:ext cx="6156000" cy="4353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47" name="Google Shape;247;p19"/>
          <p:cNvPicPr preferRelativeResize="0"/>
          <p:nvPr/>
        </p:nvPicPr>
        <p:blipFill rotWithShape="1">
          <a:blip r:embed="rId6">
            <a:alphaModFix/>
          </a:blip>
          <a:srcRect b="0" l="0" r="0" t="0"/>
          <a:stretch/>
        </p:blipFill>
        <p:spPr>
          <a:xfrm>
            <a:off x="694109" y="5710037"/>
            <a:ext cx="165299" cy="132259"/>
          </a:xfrm>
          <a:prstGeom prst="rect">
            <a:avLst/>
          </a:prstGeom>
          <a:noFill/>
          <a:ln>
            <a:noFill/>
          </a:ln>
        </p:spPr>
      </p:pic>
      <p:sp>
        <p:nvSpPr>
          <p:cNvPr id="248" name="Google Shape;248;p19"/>
          <p:cNvSpPr/>
          <p:nvPr/>
        </p:nvSpPr>
        <p:spPr>
          <a:xfrm>
            <a:off x="991678" y="5604317"/>
            <a:ext cx="5971200" cy="36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000"/>
              <a:buFont typeface="Inter"/>
              <a:buNone/>
            </a:pPr>
            <a:r>
              <a:rPr b="0" i="0" lang="fr-FR" sz="1000" u="none" cap="none" strike="noStrike">
                <a:solidFill>
                  <a:srgbClr val="000000"/>
                </a:solidFill>
                <a:latin typeface="Inter"/>
                <a:ea typeface="Inter"/>
                <a:cs typeface="Inter"/>
                <a:sym typeface="Inter"/>
              </a:rPr>
              <a:t>Partenaires majeurs présents : Caisse des Dépôts, Crédit Mutuel Arkéa, Bpifrance,</a:t>
            </a:r>
            <a:endParaRPr sz="1000">
              <a:latin typeface="Inter"/>
              <a:ea typeface="Inter"/>
              <a:cs typeface="Inter"/>
              <a:sym typeface="Inter"/>
            </a:endParaRPr>
          </a:p>
          <a:p>
            <a:pPr indent="0" lvl="0" marL="0" marR="0" rtl="0" algn="l">
              <a:lnSpc>
                <a:spcPct val="140000"/>
              </a:lnSpc>
              <a:spcBef>
                <a:spcPts val="0"/>
              </a:spcBef>
              <a:spcAft>
                <a:spcPts val="0"/>
              </a:spcAft>
              <a:buClr>
                <a:srgbClr val="000000"/>
              </a:buClr>
              <a:buSzPts val="1000"/>
              <a:buFont typeface="Inter"/>
              <a:buNone/>
            </a:pPr>
            <a:r>
              <a:rPr b="0" i="0" lang="fr-FR" sz="1000" u="none" cap="none" strike="noStrike">
                <a:solidFill>
                  <a:srgbClr val="000000"/>
                </a:solidFill>
                <a:latin typeface="Inter"/>
                <a:ea typeface="Inter"/>
                <a:cs typeface="Inter"/>
                <a:sym typeface="Inter"/>
              </a:rPr>
              <a:t>Société Générale, BNP Paribas </a:t>
            </a:r>
            <a:r>
              <a:rPr lang="fr-FR" sz="1000">
                <a:latin typeface="Inter"/>
                <a:ea typeface="Inter"/>
                <a:cs typeface="Inter"/>
                <a:sym typeface="Inter"/>
              </a:rPr>
              <a:t>-&gt;</a:t>
            </a:r>
            <a:r>
              <a:rPr b="0" i="0" lang="fr-FR" sz="1000" u="none" cap="none" strike="noStrike">
                <a:solidFill>
                  <a:srgbClr val="000000"/>
                </a:solidFill>
                <a:latin typeface="Inter"/>
                <a:ea typeface="Inter"/>
                <a:cs typeface="Inter"/>
                <a:sym typeface="Inter"/>
              </a:rPr>
              <a:t> terrain concurrentiel fort</a:t>
            </a:r>
            <a:endParaRPr b="0" i="0" sz="10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idx="1" type="body"/>
          </p:nvPr>
        </p:nvSpPr>
        <p:spPr>
          <a:xfrm>
            <a:off x="464925" y="598850"/>
            <a:ext cx="6434700" cy="71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L’ÉVÉNEMENT DE RÉFÉRENCE</a:t>
            </a:r>
            <a:endParaRPr sz="19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DE LA FINTECH EN FRANCE</a:t>
            </a:r>
            <a:endParaRPr/>
          </a:p>
        </p:txBody>
      </p:sp>
      <p:sp>
        <p:nvSpPr>
          <p:cNvPr id="254" name="Google Shape;254;p20"/>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255" name="Google Shape;255;p20"/>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256" name="Google Shape;256;p20"/>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257" name="Google Shape;257;p20"/>
          <p:cNvSpPr txBox="1"/>
          <p:nvPr>
            <p:ph idx="3" type="body"/>
          </p:nvPr>
        </p:nvSpPr>
        <p:spPr>
          <a:xfrm>
            <a:off x="464925" y="1630542"/>
            <a:ext cx="6528000" cy="396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Acteurs fintech, banques, investisseurs, régulateurs, institutions financières, startups, experts innovation</a:t>
            </a:r>
            <a:endParaRPr sz="1300"/>
          </a:p>
          <a:p>
            <a:pPr indent="-233750" lvl="1" marL="288000" rtl="0" algn="l">
              <a:spcBef>
                <a:spcPts val="0"/>
              </a:spcBef>
              <a:spcAft>
                <a:spcPts val="0"/>
              </a:spcAft>
              <a:buSzPts val="1300"/>
              <a:buChar char="•"/>
            </a:pPr>
            <a:r>
              <a:rPr b="1" lang="fr-FR" sz="1300"/>
              <a:t>Taille / portée :</a:t>
            </a:r>
            <a:r>
              <a:rPr lang="fr-FR" sz="1300"/>
              <a:t> 1 000+ participants (Écosystème fintech ultra qualifié)</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tables rondes, workshops, networking, démos solutions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Crée un lien direct entre innovation fintech et institutions financières / Présence d’acteurs clés : Crédit Mutuel Arkéa, Bpifrance, Banque de France, Banque Hottinguer</a:t>
            </a:r>
            <a:endParaRPr sz="1300"/>
          </a:p>
          <a:p>
            <a:pPr indent="-233750" lvl="1" marL="288000" marR="0" rtl="0" algn="l">
              <a:lnSpc>
                <a:spcPct val="100000"/>
              </a:lnSpc>
              <a:spcBef>
                <a:spcPts val="0"/>
              </a:spcBef>
              <a:spcAft>
                <a:spcPts val="0"/>
              </a:spcAft>
              <a:buSzPts val="1300"/>
              <a:buChar char="•"/>
            </a:pPr>
            <a:r>
              <a:rPr b="1" lang="fr-FR" sz="1300"/>
              <a:t>Speakers phares en 2026 : </a:t>
            </a:r>
            <a:r>
              <a:rPr lang="fr-FR" sz="1300"/>
              <a:t>Stéphane Alizon, CTO de Younited - Alexandre Garabedian, Managing Editor L’agefi - Simon Parisot, directeur Digital Banking LCL - Pierre Marin, CEO de Rockfi - Maevas Courtois, CEO de Helios - Benjamin Chemla, cofondateur de Shares,...</a:t>
            </a:r>
            <a:endParaRPr sz="1300"/>
          </a:p>
          <a:p>
            <a:pPr indent="0" lvl="0" marL="0" rtl="0" algn="l">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1"/>
                </a:solidFill>
              </a:rPr>
              <a:t>Intérêts stratégiques :</a:t>
            </a:r>
            <a:endParaRPr b="1" sz="1300" u="sng">
              <a:solidFill>
                <a:schemeClr val="accent1"/>
              </a:solidFill>
            </a:endParaRPr>
          </a:p>
          <a:p>
            <a:pPr indent="-311150" lvl="0" marL="457200" marR="0" rtl="0" algn="l">
              <a:lnSpc>
                <a:spcPct val="100000"/>
              </a:lnSpc>
              <a:spcBef>
                <a:spcPts val="0"/>
              </a:spcBef>
              <a:spcAft>
                <a:spcPts val="0"/>
              </a:spcAft>
              <a:buSzPts val="1300"/>
              <a:buChar char="-"/>
            </a:pPr>
            <a:r>
              <a:rPr lang="fr-FR" sz="1300"/>
              <a:t>Événement o</a:t>
            </a:r>
            <a:r>
              <a:rPr lang="fr-FR" sz="1300"/>
              <a:t>rganisé par France Fintech</a:t>
            </a:r>
            <a:endParaRPr sz="1300"/>
          </a:p>
          <a:p>
            <a:pPr indent="-311150" lvl="0" marL="457200" rtl="0" algn="l">
              <a:spcBef>
                <a:spcPts val="0"/>
              </a:spcBef>
              <a:spcAft>
                <a:spcPts val="0"/>
              </a:spcAft>
              <a:buSzPts val="1300"/>
              <a:buChar char="-"/>
            </a:pPr>
            <a:r>
              <a:rPr lang="fr-FR" sz="1300"/>
              <a:t>Anticiper les mutations du secteur bancaire (régulation, nouveaux usages)</a:t>
            </a:r>
            <a:endParaRPr sz="1300"/>
          </a:p>
          <a:p>
            <a:pPr indent="-311150" lvl="0" marL="457200" rtl="0" algn="l">
              <a:lnSpc>
                <a:spcPct val="115000"/>
              </a:lnSpc>
              <a:spcBef>
                <a:spcPts val="0"/>
              </a:spcBef>
              <a:spcAft>
                <a:spcPts val="0"/>
              </a:spcAft>
              <a:buClr>
                <a:srgbClr val="000000"/>
              </a:buClr>
              <a:buSzPts val="1300"/>
              <a:buChar char="-"/>
            </a:pPr>
            <a:r>
              <a:rPr lang="fr-FR" sz="1300"/>
              <a:t>Développer des partenariats avec fintechs et institutions </a:t>
            </a:r>
            <a:endParaRPr sz="1300"/>
          </a:p>
        </p:txBody>
      </p:sp>
      <p:sp>
        <p:nvSpPr>
          <p:cNvPr id="258" name="Google Shape;258;p20"/>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0"/>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0"/>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261" name="Google Shape;261;p20"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262" name="Google Shape;262;p20"/>
          <p:cNvSpPr txBox="1"/>
          <p:nvPr>
            <p:ph idx="1" type="body"/>
          </p:nvPr>
        </p:nvSpPr>
        <p:spPr>
          <a:xfrm>
            <a:off x="73740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263" name="Google Shape;263;p20"/>
          <p:cNvSpPr txBox="1"/>
          <p:nvPr/>
        </p:nvSpPr>
        <p:spPr>
          <a:xfrm>
            <a:off x="7336350" y="9800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 acteur bancaire moteur de l’innovation fintech, capable de connecter institutions, startups et nouveaux usages financiers.</a:t>
            </a:r>
            <a:endParaRPr>
              <a:solidFill>
                <a:schemeClr val="lt1"/>
              </a:solidFill>
            </a:endParaRPr>
          </a:p>
        </p:txBody>
      </p:sp>
      <p:sp>
        <p:nvSpPr>
          <p:cNvPr id="264" name="Google Shape;264;p20"/>
          <p:cNvSpPr txBox="1"/>
          <p:nvPr/>
        </p:nvSpPr>
        <p:spPr>
          <a:xfrm>
            <a:off x="7298975" y="2258111"/>
            <a:ext cx="4525200" cy="361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Participation à une table ronde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Exemple 2026 : Interview | Money Talks: How AI Makes Finance Listen (avec Lydia)</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Organisation de rendez-vous stratégiques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rencontres avec fintechs clés, régulateurs et partenaires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en demo space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mise en avant de cas d’usage ou collaborations fintech</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ciblé</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connexion avec l’écosystème Fintech</a:t>
            </a:r>
            <a:endParaRPr>
              <a:solidFill>
                <a:schemeClr val="lt1"/>
              </a:solidFill>
            </a:endParaRPr>
          </a:p>
          <a:p>
            <a:pPr indent="0" lvl="0" marL="0" marR="0" rtl="0" algn="l">
              <a:lnSpc>
                <a:spcPct val="100000"/>
              </a:lnSpc>
              <a:spcBef>
                <a:spcPts val="0"/>
              </a:spcBef>
              <a:spcAft>
                <a:spcPts val="0"/>
              </a:spcAft>
              <a:buNone/>
            </a:pPr>
            <a:r>
              <a:rPr lang="fr-FR">
                <a:solidFill>
                  <a:schemeClr val="lt1"/>
                </a:solidFill>
              </a:rPr>
              <a:t>→ construire un partenariat durable avec France Fintech</a:t>
            </a:r>
            <a:endParaRPr>
              <a:solidFill>
                <a:schemeClr val="lt1"/>
              </a:solidFill>
            </a:endParaRPr>
          </a:p>
          <a:p>
            <a:pPr indent="0" lvl="0" marL="0" rtl="0" algn="l">
              <a:spcBef>
                <a:spcPts val="0"/>
              </a:spcBef>
              <a:spcAft>
                <a:spcPts val="0"/>
              </a:spcAft>
              <a:buNone/>
            </a:pPr>
            <a:r>
              <a:t/>
            </a:r>
            <a:endParaRPr b="1" sz="1100">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265" name="Google Shape;265;p20"/>
          <p:cNvPicPr preferRelativeResize="0"/>
          <p:nvPr/>
        </p:nvPicPr>
        <p:blipFill rotWithShape="1">
          <a:blip r:embed="rId4">
            <a:alphaModFix/>
          </a:blip>
          <a:srcRect b="66535" l="0" r="0" t="0"/>
          <a:stretch/>
        </p:blipFill>
        <p:spPr>
          <a:xfrm>
            <a:off x="452793" y="97776"/>
            <a:ext cx="2498125" cy="540000"/>
          </a:xfrm>
          <a:prstGeom prst="rect">
            <a:avLst/>
          </a:prstGeom>
          <a:noFill/>
          <a:ln>
            <a:noFill/>
          </a:ln>
        </p:spPr>
      </p:pic>
      <p:sp>
        <p:nvSpPr>
          <p:cNvPr id="266" name="Google Shape;266;p20"/>
          <p:cNvSpPr txBox="1"/>
          <p:nvPr/>
        </p:nvSpPr>
        <p:spPr>
          <a:xfrm>
            <a:off x="7698900" y="542907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https://francefintech.org/fft26/</a:t>
            </a:r>
            <a:endParaRPr b="1" sz="1300">
              <a:solidFill>
                <a:schemeClr val="lt1"/>
              </a:solidFill>
            </a:endParaRPr>
          </a:p>
        </p:txBody>
      </p:sp>
      <p:sp>
        <p:nvSpPr>
          <p:cNvPr id="267" name="Google Shape;267;p20"/>
          <p:cNvSpPr/>
          <p:nvPr/>
        </p:nvSpPr>
        <p:spPr>
          <a:xfrm>
            <a:off x="561850" y="1361025"/>
            <a:ext cx="38298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p20"/>
          <p:cNvSpPr/>
          <p:nvPr/>
        </p:nvSpPr>
        <p:spPr>
          <a:xfrm>
            <a:off x="725059" y="1458615"/>
            <a:ext cx="4607700" cy="4353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1er</a:t>
            </a:r>
            <a:r>
              <a:rPr lang="fr-FR" sz="1100">
                <a:solidFill>
                  <a:schemeClr val="lt1"/>
                </a:solidFill>
                <a:latin typeface="Inter"/>
                <a:ea typeface="Inter"/>
                <a:cs typeface="Inter"/>
                <a:sym typeface="Inter"/>
              </a:rPr>
              <a:t> avril 2026 (date à 2027 à venir) - Station F à Paris</a:t>
            </a:r>
            <a:endParaRPr b="0" i="0" sz="1100" u="none" cap="none" strike="noStrike">
              <a:solidFill>
                <a:schemeClr val="lt1"/>
              </a:solidFill>
            </a:endParaRPr>
          </a:p>
        </p:txBody>
      </p:sp>
      <p:sp>
        <p:nvSpPr>
          <p:cNvPr id="269" name="Google Shape;269;p20"/>
          <p:cNvSpPr/>
          <p:nvPr/>
        </p:nvSpPr>
        <p:spPr>
          <a:xfrm>
            <a:off x="561850" y="5429075"/>
            <a:ext cx="5089800" cy="5400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70" name="Google Shape;270;p20"/>
          <p:cNvPicPr preferRelativeResize="0"/>
          <p:nvPr/>
        </p:nvPicPr>
        <p:blipFill rotWithShape="1">
          <a:blip r:embed="rId6">
            <a:alphaModFix/>
          </a:blip>
          <a:srcRect b="0" l="0" r="0" t="0"/>
          <a:stretch/>
        </p:blipFill>
        <p:spPr>
          <a:xfrm>
            <a:off x="703543" y="5634558"/>
            <a:ext cx="177205" cy="141684"/>
          </a:xfrm>
          <a:prstGeom prst="rect">
            <a:avLst/>
          </a:prstGeom>
          <a:noFill/>
          <a:ln>
            <a:noFill/>
          </a:ln>
        </p:spPr>
      </p:pic>
      <p:sp>
        <p:nvSpPr>
          <p:cNvPr id="271" name="Google Shape;271;p20"/>
          <p:cNvSpPr/>
          <p:nvPr/>
        </p:nvSpPr>
        <p:spPr>
          <a:xfrm>
            <a:off x="1022424" y="5506667"/>
            <a:ext cx="5150100" cy="3969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b="0" i="0" lang="fr-FR" sz="1100" u="none" cap="none" strike="noStrike">
                <a:solidFill>
                  <a:srgbClr val="000000"/>
                </a:solidFill>
                <a:latin typeface="Inter"/>
                <a:ea typeface="Inter"/>
                <a:cs typeface="Inter"/>
                <a:sym typeface="Inter"/>
              </a:rPr>
              <a:t>Lien direct entre innovation fintech et institutions financières  </a:t>
            </a:r>
            <a:endParaRPr b="0" i="0" sz="1100" u="none" cap="none" strike="noStrike">
              <a:solidFill>
                <a:srgbClr val="000000"/>
              </a:solidFill>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rPr lang="fr-FR" sz="1100">
                <a:latin typeface="Inter"/>
                <a:ea typeface="Inter"/>
                <a:cs typeface="Inter"/>
                <a:sym typeface="Inter"/>
              </a:rPr>
              <a:t>+ </a:t>
            </a:r>
            <a:r>
              <a:rPr b="0" i="0" lang="fr-FR" sz="1100" u="none" cap="none" strike="noStrike">
                <a:solidFill>
                  <a:srgbClr val="000000"/>
                </a:solidFill>
                <a:latin typeface="Inter"/>
                <a:ea typeface="Inter"/>
                <a:cs typeface="Inter"/>
                <a:sym typeface="Inter"/>
              </a:rPr>
              <a:t>Présence Banque de France, Bpifrance, Crédit Mutuel Arkéa</a:t>
            </a:r>
            <a:endParaRPr b="0" i="0" sz="11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ph idx="1" type="body"/>
          </p:nvPr>
        </p:nvSpPr>
        <p:spPr>
          <a:xfrm>
            <a:off x="454750" y="886225"/>
            <a:ext cx="7208400" cy="72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700">
                <a:solidFill>
                  <a:schemeClr val="accent1"/>
                </a:solidFill>
                <a:latin typeface="Arial Black"/>
                <a:ea typeface="Arial Black"/>
                <a:cs typeface="Arial Black"/>
                <a:sym typeface="Arial Black"/>
              </a:rPr>
              <a:t>LE GRAND RASSEMBLEMENT DES ENTREPRENEURS</a:t>
            </a:r>
            <a:endParaRPr sz="1800"/>
          </a:p>
        </p:txBody>
      </p:sp>
      <p:sp>
        <p:nvSpPr>
          <p:cNvPr id="277" name="Google Shape;277;p21"/>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278" name="Google Shape;278;p21"/>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279" name="Google Shape;279;p21"/>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280" name="Google Shape;280;p21"/>
          <p:cNvSpPr txBox="1"/>
          <p:nvPr>
            <p:ph idx="3" type="body"/>
          </p:nvPr>
        </p:nvSpPr>
        <p:spPr>
          <a:xfrm>
            <a:off x="464925" y="1651275"/>
            <a:ext cx="6528000" cy="3890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Entrepreneurs, startups, dirigeants de PME/ETI, grands groupes, investisseurs, institutions publiques, étudiants, grand public</a:t>
            </a:r>
            <a:endParaRPr sz="1300"/>
          </a:p>
          <a:p>
            <a:pPr indent="-233750" lvl="1" marL="288000" rtl="0" algn="l">
              <a:spcBef>
                <a:spcPts val="0"/>
              </a:spcBef>
              <a:spcAft>
                <a:spcPts val="0"/>
              </a:spcAft>
              <a:buSzPts val="1300"/>
              <a:buChar char="•"/>
            </a:pPr>
            <a:r>
              <a:rPr b="1" lang="fr-FR" sz="1300"/>
              <a:t>Taille / portée :</a:t>
            </a:r>
            <a:r>
              <a:rPr lang="fr-FR" sz="1300"/>
              <a:t> 75 000+ participants (Plus grand rassemblement business &amp; innovation d’Europe)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conférences, ateliers, networking, village partenaires, contenus live</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Événement incontournable de l’écosystème entrepreneurial français / Caisse d’Epargne, La Banque Postale, HSBC, Business France, Banque de France sont partenaires.</a:t>
            </a:r>
            <a:endParaRPr sz="1300"/>
          </a:p>
          <a:p>
            <a:pPr indent="-233750" lvl="1" marL="288000" marR="0" rtl="0" algn="l">
              <a:lnSpc>
                <a:spcPct val="100000"/>
              </a:lnSpc>
              <a:spcBef>
                <a:spcPts val="0"/>
              </a:spcBef>
              <a:spcAft>
                <a:spcPts val="0"/>
              </a:spcAft>
              <a:buSzPts val="1300"/>
              <a:buChar char="•"/>
            </a:pPr>
            <a:r>
              <a:rPr b="1" lang="fr-FR" sz="1300"/>
              <a:t>Speakers phares en 2025 : </a:t>
            </a:r>
            <a:r>
              <a:rPr lang="fr-FR" sz="1300"/>
              <a:t>Sébastien Bazin, président ACCOR - Patrick Martin, président du MEDEF - Slawomir Krupa, DG de la Société Générale - Inoxtag, youtubeur - Laura Chaubard, directrice de Ecole Polytechnique,...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marR="0" rtl="0" algn="l">
              <a:lnSpc>
                <a:spcPct val="100000"/>
              </a:lnSpc>
              <a:spcBef>
                <a:spcPts val="0"/>
              </a:spcBef>
              <a:spcAft>
                <a:spcPts val="0"/>
              </a:spcAft>
              <a:buSzPts val="1300"/>
              <a:buChar char="-"/>
            </a:pPr>
            <a:r>
              <a:rPr lang="fr-FR" sz="1300"/>
              <a:t>Événement organisé par Bpifrance</a:t>
            </a:r>
            <a:endParaRPr sz="1300"/>
          </a:p>
          <a:p>
            <a:pPr indent="-311150" lvl="0" marL="457200" rtl="0" algn="l">
              <a:spcBef>
                <a:spcPts val="0"/>
              </a:spcBef>
              <a:spcAft>
                <a:spcPts val="0"/>
              </a:spcAft>
              <a:buSzPts val="1300"/>
              <a:buChar char="-"/>
            </a:pPr>
            <a:r>
              <a:rPr lang="fr-FR" sz="1300"/>
              <a:t>Couverture média massive (TV, presse, digital)</a:t>
            </a:r>
            <a:endParaRPr sz="1300"/>
          </a:p>
          <a:p>
            <a:pPr indent="-311150" lvl="0" marL="457200" rtl="0" algn="l">
              <a:spcBef>
                <a:spcPts val="0"/>
              </a:spcBef>
              <a:spcAft>
                <a:spcPts val="0"/>
              </a:spcAft>
              <a:buSzPts val="1300"/>
              <a:buChar char="-"/>
            </a:pPr>
            <a:r>
              <a:rPr lang="fr-FR" sz="1300"/>
              <a:t>Toucher une audience massive et diversifiée (PME, startups, grand public)</a:t>
            </a:r>
            <a:endParaRPr sz="1300"/>
          </a:p>
        </p:txBody>
      </p:sp>
      <p:sp>
        <p:nvSpPr>
          <p:cNvPr id="281" name="Google Shape;281;p21"/>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1"/>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21"/>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284" name="Google Shape;284;p21"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285" name="Google Shape;285;p21"/>
          <p:cNvSpPr txBox="1"/>
          <p:nvPr>
            <p:ph idx="1" type="body"/>
          </p:nvPr>
        </p:nvSpPr>
        <p:spPr>
          <a:xfrm>
            <a:off x="7561635" y="514608"/>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286" name="Google Shape;286;p21"/>
          <p:cNvSpPr txBox="1"/>
          <p:nvPr/>
        </p:nvSpPr>
        <p:spPr>
          <a:xfrm>
            <a:off x="7260150" y="903825"/>
            <a:ext cx="4154400" cy="150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la banque de référence de l’économie réelle et de l’innovation, capable d’accompagner tous les entrepreneurs, de la startup à la PME jusqu’au grand groupe.</a:t>
            </a:r>
            <a:endParaRPr>
              <a:solidFill>
                <a:schemeClr val="lt1"/>
              </a:solidFill>
            </a:endParaRPr>
          </a:p>
        </p:txBody>
      </p:sp>
      <p:sp>
        <p:nvSpPr>
          <p:cNvPr id="287" name="Google Shape;287;p21"/>
          <p:cNvSpPr txBox="1"/>
          <p:nvPr/>
        </p:nvSpPr>
        <p:spPr>
          <a:xfrm>
            <a:off x="7222775" y="2410511"/>
            <a:ext cx="4525200" cy="301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u="sng">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majeure (stand / village partenaire)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visibilité maximale dans un environnement concurrentiel</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Multiples prises de parole (dirigeants, experts)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Exemple 2025 : Financer une reprise d’entreprise : toutes les solutions à votre portée (avec Arkanum)</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Programme de rendez-vous business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rencontres avec entrepreneurs, partenaires, institutions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Activation média &amp; contenus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capitaliser sur la couverture presse + production de contenus live</a:t>
            </a:r>
            <a:endParaRPr sz="1100">
              <a:solidFill>
                <a:schemeClr val="lt1"/>
              </a:solidFill>
            </a:endParaRPr>
          </a:p>
        </p:txBody>
      </p:sp>
      <p:pic>
        <p:nvPicPr>
          <p:cNvPr id="288" name="Google Shape;288;p21"/>
          <p:cNvPicPr preferRelativeResize="0"/>
          <p:nvPr/>
        </p:nvPicPr>
        <p:blipFill>
          <a:blip r:embed="rId4">
            <a:alphaModFix/>
          </a:blip>
          <a:stretch>
            <a:fillRect/>
          </a:stretch>
        </p:blipFill>
        <p:spPr>
          <a:xfrm>
            <a:off x="567600" y="145875"/>
            <a:ext cx="1164211" cy="724799"/>
          </a:xfrm>
          <a:prstGeom prst="rect">
            <a:avLst/>
          </a:prstGeom>
          <a:noFill/>
          <a:ln>
            <a:noFill/>
          </a:ln>
        </p:spPr>
      </p:pic>
      <p:sp>
        <p:nvSpPr>
          <p:cNvPr id="289" name="Google Shape;289;p21"/>
          <p:cNvSpPr txBox="1"/>
          <p:nvPr/>
        </p:nvSpPr>
        <p:spPr>
          <a:xfrm>
            <a:off x="7565700" y="54288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https://big.bpifrance.fr/</a:t>
            </a:r>
            <a:endParaRPr b="1" sz="1300">
              <a:solidFill>
                <a:schemeClr val="lt1"/>
              </a:solidFill>
            </a:endParaRPr>
          </a:p>
        </p:txBody>
      </p:sp>
      <p:sp>
        <p:nvSpPr>
          <p:cNvPr id="290" name="Google Shape;290;p21"/>
          <p:cNvSpPr/>
          <p:nvPr/>
        </p:nvSpPr>
        <p:spPr>
          <a:xfrm>
            <a:off x="561850" y="1361025"/>
            <a:ext cx="33330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1" name="Google Shape;291;p21"/>
          <p:cNvSpPr/>
          <p:nvPr/>
        </p:nvSpPr>
        <p:spPr>
          <a:xfrm>
            <a:off x="725050" y="1458619"/>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8 octobre 2026 </a:t>
            </a:r>
            <a:r>
              <a:rPr lang="fr-FR" sz="1100">
                <a:solidFill>
                  <a:schemeClr val="lt1"/>
                </a:solidFill>
                <a:latin typeface="Inter"/>
                <a:ea typeface="Inter"/>
                <a:cs typeface="Inter"/>
                <a:sym typeface="Inter"/>
              </a:rPr>
              <a:t>- Accor Arena (Bercy)  à Paris</a:t>
            </a:r>
            <a:endParaRPr b="0" i="0" sz="1100" u="none" cap="none" strike="noStrike">
              <a:solidFill>
                <a:schemeClr val="lt1"/>
              </a:solidFill>
            </a:endParaRPr>
          </a:p>
        </p:txBody>
      </p:sp>
      <p:sp>
        <p:nvSpPr>
          <p:cNvPr id="292" name="Google Shape;292;p21"/>
          <p:cNvSpPr/>
          <p:nvPr/>
        </p:nvSpPr>
        <p:spPr>
          <a:xfrm>
            <a:off x="561850" y="5505275"/>
            <a:ext cx="4059900" cy="3666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293" name="Google Shape;293;p21"/>
          <p:cNvPicPr preferRelativeResize="0"/>
          <p:nvPr/>
        </p:nvPicPr>
        <p:blipFill rotWithShape="1">
          <a:blip r:embed="rId6">
            <a:alphaModFix/>
          </a:blip>
          <a:srcRect b="0" l="0" r="0" t="0"/>
          <a:stretch/>
        </p:blipFill>
        <p:spPr>
          <a:xfrm>
            <a:off x="703543" y="5618941"/>
            <a:ext cx="177205" cy="141684"/>
          </a:xfrm>
          <a:prstGeom prst="rect">
            <a:avLst/>
          </a:prstGeom>
          <a:noFill/>
          <a:ln>
            <a:noFill/>
          </a:ln>
        </p:spPr>
      </p:pic>
      <p:sp>
        <p:nvSpPr>
          <p:cNvPr id="294" name="Google Shape;294;p21"/>
          <p:cNvSpPr/>
          <p:nvPr/>
        </p:nvSpPr>
        <p:spPr>
          <a:xfrm>
            <a:off x="1022425" y="5607106"/>
            <a:ext cx="5150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100">
                <a:latin typeface="Inter"/>
                <a:ea typeface="Inter"/>
                <a:cs typeface="Inter"/>
                <a:sym typeface="Inter"/>
              </a:rPr>
              <a:t>Grande couverture médiatique (TV, presse, digital) </a:t>
            </a:r>
            <a:endParaRPr b="0" i="0" sz="11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2"/>
          <p:cNvSpPr txBox="1"/>
          <p:nvPr>
            <p:ph idx="1" type="body"/>
          </p:nvPr>
        </p:nvSpPr>
        <p:spPr>
          <a:xfrm>
            <a:off x="489150" y="903379"/>
            <a:ext cx="6337800" cy="54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UN ÉVÉNEMENT CONÇU POUR RÉUNIR LES DIRIGEANTS VISIONNAIRES ET DÉCIDEURS DE 1ER PLAN</a:t>
            </a:r>
            <a:endParaRPr sz="1800"/>
          </a:p>
        </p:txBody>
      </p:sp>
      <p:sp>
        <p:nvSpPr>
          <p:cNvPr id="300" name="Google Shape;300;p22"/>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301" name="Google Shape;301;p22"/>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02" name="Google Shape;302;p22"/>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03" name="Google Shape;303;p22"/>
          <p:cNvSpPr txBox="1"/>
          <p:nvPr>
            <p:ph idx="3" type="body"/>
          </p:nvPr>
        </p:nvSpPr>
        <p:spPr>
          <a:xfrm>
            <a:off x="465025" y="1796444"/>
            <a:ext cx="6528000" cy="457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CEOs de grands groupes et scale-ups, ministres et décideurs publics, investisseurs et acteurs du capital-risque, experts économiques et think tanks, médias économiques et influenceurs</a:t>
            </a:r>
            <a:endParaRPr sz="1300"/>
          </a:p>
          <a:p>
            <a:pPr indent="-233750" lvl="1" marL="288000" rtl="0" algn="l">
              <a:spcBef>
                <a:spcPts val="0"/>
              </a:spcBef>
              <a:spcAft>
                <a:spcPts val="0"/>
              </a:spcAft>
              <a:buSzPts val="1300"/>
              <a:buChar char="•"/>
            </a:pPr>
            <a:r>
              <a:rPr b="1" lang="fr-FR" sz="1300"/>
              <a:t>Taille / portée :</a:t>
            </a:r>
            <a:r>
              <a:rPr lang="fr-FR" sz="1300"/>
              <a:t> 300+ participants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tables rondes, débats, format hybride influence + contenu + visibilité </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Positionnement très opérationnel (use cases concrets, produits, outils) </a:t>
            </a:r>
            <a:endParaRPr sz="1300"/>
          </a:p>
          <a:p>
            <a:pPr indent="-233750" lvl="1" marL="288000" marR="0" rtl="0" algn="l">
              <a:lnSpc>
                <a:spcPct val="100000"/>
              </a:lnSpc>
              <a:spcBef>
                <a:spcPts val="0"/>
              </a:spcBef>
              <a:spcAft>
                <a:spcPts val="0"/>
              </a:spcAft>
              <a:buSzPts val="1300"/>
              <a:buChar char="•"/>
            </a:pPr>
            <a:r>
              <a:rPr lang="fr-FR" sz="1300"/>
              <a:t>Speakers phares en 2026 : Clara Chappaz, ambassadrice IA - Philippe d’Ornano, président de Sisley - Benoit Derigny, président de ManpowerGroup - Nicolas Dufourcq, DG de Bpifrance, Enrique Martinez, CEO de Fnac-Darty,...</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marR="0" rtl="0" algn="l">
              <a:lnSpc>
                <a:spcPct val="100000"/>
              </a:lnSpc>
              <a:spcBef>
                <a:spcPts val="0"/>
              </a:spcBef>
              <a:spcAft>
                <a:spcPts val="0"/>
              </a:spcAft>
              <a:buSzPts val="1300"/>
              <a:buChar char="-"/>
            </a:pPr>
            <a:r>
              <a:rPr lang="fr-FR" sz="1300"/>
              <a:t>Événement organisé par Hub Institute.</a:t>
            </a:r>
            <a:endParaRPr sz="1300"/>
          </a:p>
          <a:p>
            <a:pPr indent="-311150" lvl="0" marL="457200" rtl="0" algn="l">
              <a:spcBef>
                <a:spcPts val="0"/>
              </a:spcBef>
              <a:spcAft>
                <a:spcPts val="0"/>
              </a:spcAft>
              <a:buSzPts val="1300"/>
              <a:buChar char="-"/>
            </a:pPr>
            <a:r>
              <a:rPr lang="fr-FR" sz="1300"/>
              <a:t>Sous le haut patronage du Président de la République Emmanuel Macron</a:t>
            </a:r>
            <a:endParaRPr sz="1300"/>
          </a:p>
          <a:p>
            <a:pPr indent="-311150" lvl="0" marL="457200" rtl="0" algn="l">
              <a:spcBef>
                <a:spcPts val="0"/>
              </a:spcBef>
              <a:spcAft>
                <a:spcPts val="0"/>
              </a:spcAft>
              <a:buSzPts val="1300"/>
              <a:buChar char="-"/>
            </a:pPr>
            <a:r>
              <a:rPr lang="fr-FR" sz="1300"/>
              <a:t>Forte dimension internationale malgré un ancrage parisien</a:t>
            </a:r>
            <a:endParaRPr sz="1300"/>
          </a:p>
        </p:txBody>
      </p:sp>
      <p:sp>
        <p:nvSpPr>
          <p:cNvPr id="304" name="Google Shape;304;p22"/>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2"/>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2"/>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307" name="Google Shape;307;p22"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308" name="Google Shape;308;p22"/>
          <p:cNvSpPr txBox="1"/>
          <p:nvPr>
            <p:ph idx="1" type="body"/>
          </p:nvPr>
        </p:nvSpPr>
        <p:spPr>
          <a:xfrm>
            <a:off x="6993035" y="6624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309" name="Google Shape;309;p22"/>
          <p:cNvSpPr txBox="1"/>
          <p:nvPr/>
        </p:nvSpPr>
        <p:spPr>
          <a:xfrm>
            <a:off x="7260150" y="1132425"/>
            <a:ext cx="4154400" cy="280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une banque européenne pleinement intégrée aux cercles de décision économiques et politiques, capable de connecter dirigeants, fondateurs et pouvoirs publics autour des grandes transformations de l’économie.</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p:txBody>
      </p:sp>
      <p:sp>
        <p:nvSpPr>
          <p:cNvPr id="310" name="Google Shape;310;p22"/>
          <p:cNvSpPr txBox="1"/>
          <p:nvPr/>
        </p:nvSpPr>
        <p:spPr>
          <a:xfrm>
            <a:off x="7222775" y="2791511"/>
            <a:ext cx="45252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u="sng">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Prendre la parole lors d’une keynote ou d’une session plénière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Intervention d’un dirigeant du Crédit Agricole sur les grandes transformations économiques et financières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Valoriser la présence via les contenus digitaux et la diffusion du forum</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Renforcement de la marque sur les sujets de transformation économique et innovation</a:t>
            </a:r>
            <a:endParaRPr sz="1100">
              <a:solidFill>
                <a:schemeClr val="lt1"/>
              </a:solidFill>
            </a:endParaRPr>
          </a:p>
          <a:p>
            <a:pPr indent="0" lvl="0" marL="0" marR="0" rtl="0" algn="l">
              <a:lnSpc>
                <a:spcPct val="100000"/>
              </a:lnSpc>
              <a:spcBef>
                <a:spcPts val="0"/>
              </a:spcBef>
              <a:spcAft>
                <a:spcPts val="0"/>
              </a:spcAft>
              <a:buNone/>
            </a:pPr>
            <a:r>
              <a:t/>
            </a:r>
            <a:endParaRPr b="1">
              <a:solidFill>
                <a:schemeClr val="lt1"/>
              </a:solidFill>
            </a:endParaRPr>
          </a:p>
        </p:txBody>
      </p:sp>
      <p:pic>
        <p:nvPicPr>
          <p:cNvPr id="311" name="Google Shape;311;p22"/>
          <p:cNvPicPr preferRelativeResize="0"/>
          <p:nvPr/>
        </p:nvPicPr>
        <p:blipFill rotWithShape="1">
          <a:blip r:embed="rId4">
            <a:alphaModFix/>
          </a:blip>
          <a:srcRect b="25974" l="15714" r="56718" t="27915"/>
          <a:stretch/>
        </p:blipFill>
        <p:spPr>
          <a:xfrm>
            <a:off x="561850" y="127168"/>
            <a:ext cx="754800" cy="662832"/>
          </a:xfrm>
          <a:prstGeom prst="rect">
            <a:avLst/>
          </a:prstGeom>
          <a:noFill/>
          <a:ln>
            <a:noFill/>
          </a:ln>
        </p:spPr>
      </p:pic>
      <p:sp>
        <p:nvSpPr>
          <p:cNvPr id="312" name="Google Shape;312;p22"/>
          <p:cNvSpPr txBox="1"/>
          <p:nvPr/>
        </p:nvSpPr>
        <p:spPr>
          <a:xfrm>
            <a:off x="7565700" y="520047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https://www.pariseconomicforum.com/</a:t>
            </a:r>
            <a:endParaRPr b="1" sz="1300">
              <a:solidFill>
                <a:schemeClr val="lt1"/>
              </a:solidFill>
            </a:endParaRPr>
          </a:p>
        </p:txBody>
      </p:sp>
      <p:sp>
        <p:nvSpPr>
          <p:cNvPr id="313" name="Google Shape;313;p22"/>
          <p:cNvSpPr/>
          <p:nvPr/>
        </p:nvSpPr>
        <p:spPr>
          <a:xfrm>
            <a:off x="561850" y="1504809"/>
            <a:ext cx="2521200" cy="366600"/>
          </a:xfrm>
          <a:prstGeom prst="roundRect">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4" name="Google Shape;314;p22"/>
          <p:cNvSpPr/>
          <p:nvPr/>
        </p:nvSpPr>
        <p:spPr>
          <a:xfrm>
            <a:off x="725050" y="160240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1er au 2 décembre 2026 </a:t>
            </a:r>
            <a:r>
              <a:rPr lang="fr-FR" sz="1100">
                <a:solidFill>
                  <a:schemeClr val="lt1"/>
                </a:solidFill>
                <a:latin typeface="Inter"/>
                <a:ea typeface="Inter"/>
                <a:cs typeface="Inter"/>
                <a:sym typeface="Inter"/>
              </a:rPr>
              <a:t>- à Paris</a:t>
            </a:r>
            <a:endParaRPr b="0" i="0" sz="1100" u="none" cap="none" strike="noStrike">
              <a:solidFill>
                <a:schemeClr val="lt1"/>
              </a:solidFill>
            </a:endParaRPr>
          </a:p>
        </p:txBody>
      </p:sp>
      <p:sp>
        <p:nvSpPr>
          <p:cNvPr id="315" name="Google Shape;315;p22"/>
          <p:cNvSpPr txBox="1"/>
          <p:nvPr/>
        </p:nvSpPr>
        <p:spPr>
          <a:xfrm>
            <a:off x="1381275" y="235388"/>
            <a:ext cx="3000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1700">
                <a:solidFill>
                  <a:schemeClr val="accent1"/>
                </a:solidFill>
                <a:latin typeface="Arial Black"/>
                <a:ea typeface="Arial Black"/>
                <a:cs typeface="Arial Black"/>
                <a:sym typeface="Arial Black"/>
              </a:rPr>
              <a:t>(EX HUB FORUM)</a:t>
            </a:r>
            <a:endParaRPr/>
          </a:p>
        </p:txBody>
      </p:sp>
      <p:sp>
        <p:nvSpPr>
          <p:cNvPr id="316" name="Google Shape;316;p22"/>
          <p:cNvSpPr/>
          <p:nvPr/>
        </p:nvSpPr>
        <p:spPr>
          <a:xfrm>
            <a:off x="561850" y="5505275"/>
            <a:ext cx="4241700" cy="366600"/>
          </a:xfrm>
          <a:prstGeom prst="roundRect">
            <a:avLst>
              <a:gd fmla="val 50000" name="adj"/>
            </a:avLst>
          </a:prstGeom>
          <a:solidFill>
            <a:srgbClr val="B6FCB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317" name="Google Shape;317;p22"/>
          <p:cNvPicPr preferRelativeResize="0"/>
          <p:nvPr/>
        </p:nvPicPr>
        <p:blipFill rotWithShape="1">
          <a:blip r:embed="rId6">
            <a:alphaModFix/>
          </a:blip>
          <a:srcRect b="0" l="0" r="0" t="0"/>
          <a:stretch/>
        </p:blipFill>
        <p:spPr>
          <a:xfrm>
            <a:off x="703543" y="5618941"/>
            <a:ext cx="177205" cy="141684"/>
          </a:xfrm>
          <a:prstGeom prst="rect">
            <a:avLst/>
          </a:prstGeom>
          <a:noFill/>
          <a:ln>
            <a:noFill/>
          </a:ln>
        </p:spPr>
      </p:pic>
      <p:sp>
        <p:nvSpPr>
          <p:cNvPr id="318" name="Google Shape;318;p22"/>
          <p:cNvSpPr/>
          <p:nvPr/>
        </p:nvSpPr>
        <p:spPr>
          <a:xfrm>
            <a:off x="1022425" y="5607106"/>
            <a:ext cx="5150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100">
                <a:latin typeface="Inter"/>
                <a:ea typeface="Inter"/>
                <a:cs typeface="Inter"/>
                <a:sym typeface="Inter"/>
              </a:rPr>
              <a:t>Audience sélectionnée, très qualifiée et internationale</a:t>
            </a:r>
            <a:endParaRPr sz="11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 name="Shape 322"/>
        <p:cNvGrpSpPr/>
        <p:nvPr/>
      </p:nvGrpSpPr>
      <p:grpSpPr>
        <a:xfrm>
          <a:off x="0" y="0"/>
          <a:ext cx="0" cy="0"/>
          <a:chOff x="0" y="0"/>
          <a:chExt cx="0" cy="0"/>
        </a:xfrm>
      </p:grpSpPr>
      <p:sp>
        <p:nvSpPr>
          <p:cNvPr id="323" name="Google Shape;323;p23"/>
          <p:cNvSpPr txBox="1"/>
          <p:nvPr>
            <p:ph idx="1" type="body"/>
          </p:nvPr>
        </p:nvSpPr>
        <p:spPr>
          <a:xfrm>
            <a:off x="464925" y="1055775"/>
            <a:ext cx="6795300" cy="43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LE GRAND RENDEZ-VOUS EUROPÉEN DÉDIÉ À L’IA</a:t>
            </a:r>
            <a:endParaRPr/>
          </a:p>
        </p:txBody>
      </p:sp>
      <p:sp>
        <p:nvSpPr>
          <p:cNvPr id="324" name="Google Shape;324;p23"/>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21/04/2026</a:t>
            </a:r>
            <a:endParaRPr/>
          </a:p>
        </p:txBody>
      </p:sp>
      <p:sp>
        <p:nvSpPr>
          <p:cNvPr id="325" name="Google Shape;325;p23"/>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26" name="Google Shape;326;p23"/>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27" name="Google Shape;327;p23"/>
          <p:cNvSpPr txBox="1"/>
          <p:nvPr>
            <p:ph idx="3" type="body"/>
          </p:nvPr>
        </p:nvSpPr>
        <p:spPr>
          <a:xfrm>
            <a:off x="464925" y="1727475"/>
            <a:ext cx="6528000" cy="3518100"/>
          </a:xfrm>
          <a:prstGeom prst="rect">
            <a:avLst/>
          </a:prstGeom>
          <a:noFill/>
          <a:ln>
            <a:noFill/>
          </a:ln>
        </p:spPr>
        <p:txBody>
          <a:bodyPr anchorCtr="0" anchor="t" bIns="45700" lIns="91425" spcFirstLastPara="1" rIns="91425" wrap="square" tIns="45700">
            <a:noAutofit/>
          </a:bodyPr>
          <a:lstStyle/>
          <a:p>
            <a:pPr indent="-240100" lvl="1" marL="288000" rtl="0" algn="l">
              <a:spcBef>
                <a:spcPts val="0"/>
              </a:spcBef>
              <a:spcAft>
                <a:spcPts val="0"/>
              </a:spcAft>
              <a:buSzPts val="1400"/>
              <a:buChar char="•"/>
            </a:pPr>
            <a:r>
              <a:rPr b="1" lang="fr-FR" sz="1400"/>
              <a:t>Date :</a:t>
            </a:r>
            <a:r>
              <a:rPr lang="fr-FR" sz="1400"/>
              <a:t> </a:t>
            </a:r>
            <a:r>
              <a:rPr lang="fr-FR" sz="1400"/>
              <a:t>3 au 4 décembre 2026</a:t>
            </a:r>
            <a:endParaRPr sz="1400"/>
          </a:p>
          <a:p>
            <a:pPr indent="-240100" lvl="1" marL="288000" rtl="0" algn="l">
              <a:spcBef>
                <a:spcPts val="0"/>
              </a:spcBef>
              <a:spcAft>
                <a:spcPts val="0"/>
              </a:spcAft>
              <a:buSzPts val="1400"/>
              <a:buChar char="•"/>
            </a:pPr>
            <a:r>
              <a:rPr b="1" lang="fr-FR" sz="1400"/>
              <a:t>Lieu : </a:t>
            </a:r>
            <a:r>
              <a:rPr lang="fr-FR" sz="1400"/>
              <a:t>Grand Palais à Paris</a:t>
            </a:r>
            <a:endParaRPr sz="1400"/>
          </a:p>
          <a:p>
            <a:pPr indent="-240100" lvl="1" marL="288000" rtl="0" algn="l">
              <a:spcBef>
                <a:spcPts val="0"/>
              </a:spcBef>
              <a:spcAft>
                <a:spcPts val="0"/>
              </a:spcAft>
              <a:buSzPts val="1400"/>
              <a:buChar char="•"/>
            </a:pPr>
            <a:r>
              <a:rPr b="1" lang="fr-FR" sz="1400"/>
              <a:t>Audience :</a:t>
            </a:r>
            <a:r>
              <a:rPr lang="fr-FR" sz="1400"/>
              <a:t> </a:t>
            </a:r>
            <a:r>
              <a:rPr lang="fr-FR" sz="1400"/>
              <a:t>Dirigeants (C-level), décideurs data/IA, responsables innovation, grands groupes, scale-ups tech</a:t>
            </a:r>
            <a:endParaRPr sz="1400"/>
          </a:p>
          <a:p>
            <a:pPr indent="-240100" lvl="1" marL="288000" rtl="0" algn="l">
              <a:spcBef>
                <a:spcPts val="0"/>
              </a:spcBef>
              <a:spcAft>
                <a:spcPts val="0"/>
              </a:spcAft>
              <a:buSzPts val="1400"/>
              <a:buChar char="•"/>
            </a:pPr>
            <a:r>
              <a:rPr b="1" lang="fr-FR" sz="1400"/>
              <a:t>Taille / portée :</a:t>
            </a:r>
            <a:r>
              <a:rPr lang="fr-FR" sz="1400"/>
              <a:t> </a:t>
            </a:r>
            <a:r>
              <a:rPr lang="fr-FR" sz="1400"/>
              <a:t>20 000+ participants (Audience ultra qualifiée, orientée décideurs)</a:t>
            </a:r>
            <a:endParaRPr sz="1400"/>
          </a:p>
          <a:p>
            <a:pPr indent="-252800" lvl="1" marL="288000" rtl="0" algn="l">
              <a:spcBef>
                <a:spcPts val="0"/>
              </a:spcBef>
              <a:spcAft>
                <a:spcPts val="0"/>
              </a:spcAft>
              <a:buSzPts val="1600"/>
              <a:buChar char="•"/>
            </a:pPr>
            <a:r>
              <a:rPr b="1" lang="fr-FR" sz="1400"/>
              <a:t>Format de l’événement :</a:t>
            </a:r>
            <a:r>
              <a:rPr b="1" lang="fr-FR" sz="900">
                <a:solidFill>
                  <a:srgbClr val="000000"/>
                </a:solidFill>
              </a:rPr>
              <a:t> </a:t>
            </a:r>
            <a:r>
              <a:rPr lang="fr-FR" sz="1400"/>
              <a:t>Keynotes, retours d’expérience, cas clients, workshops, networking, stands démos,...</a:t>
            </a:r>
            <a:endParaRPr b="1" sz="900">
              <a:solidFill>
                <a:srgbClr val="000000"/>
              </a:solidFill>
            </a:endParaRPr>
          </a:p>
          <a:p>
            <a:pPr indent="-252800" lvl="1" marL="288000" rtl="0" algn="l">
              <a:spcBef>
                <a:spcPts val="0"/>
              </a:spcBef>
              <a:spcAft>
                <a:spcPts val="0"/>
              </a:spcAft>
              <a:buSzPts val="1600"/>
              <a:buChar char="•"/>
            </a:pPr>
            <a:r>
              <a:rPr b="1" lang="fr-FR" sz="1400"/>
              <a:t>Infos supplémentaires : </a:t>
            </a:r>
            <a:r>
              <a:rPr lang="fr-FR" sz="1300"/>
              <a:t>Olivier Gavalda speaker en 2025</a:t>
            </a:r>
            <a:endParaRPr sz="1400"/>
          </a:p>
          <a:p>
            <a:pPr indent="0" lvl="0" marL="0" marR="0" rtl="0" algn="l">
              <a:lnSpc>
                <a:spcPct val="100000"/>
              </a:lnSpc>
              <a:spcBef>
                <a:spcPts val="0"/>
              </a:spcBef>
              <a:spcAft>
                <a:spcPts val="0"/>
              </a:spcAft>
              <a:buNone/>
            </a:pPr>
            <a:r>
              <a:t/>
            </a:r>
            <a:endParaRPr sz="14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400" u="sng"/>
          </a:p>
          <a:p>
            <a:pPr indent="-323850" lvl="0" marL="457200" marR="0" rtl="0" algn="l">
              <a:lnSpc>
                <a:spcPct val="100000"/>
              </a:lnSpc>
              <a:spcBef>
                <a:spcPts val="0"/>
              </a:spcBef>
              <a:spcAft>
                <a:spcPts val="0"/>
              </a:spcAft>
              <a:buSzPts val="1500"/>
              <a:buChar char="-"/>
            </a:pPr>
            <a:r>
              <a:rPr lang="fr-FR" sz="1300"/>
              <a:t>Événement organisé par le cabinet de conseil Artefact</a:t>
            </a:r>
            <a:endParaRPr sz="1300"/>
          </a:p>
          <a:p>
            <a:pPr indent="-323850" lvl="0" marL="457200" marR="0" rtl="0" algn="l">
              <a:lnSpc>
                <a:spcPct val="100000"/>
              </a:lnSpc>
              <a:spcBef>
                <a:spcPts val="0"/>
              </a:spcBef>
              <a:spcAft>
                <a:spcPts val="0"/>
              </a:spcAft>
              <a:buSzPts val="1500"/>
              <a:buChar char="-"/>
            </a:pPr>
            <a:r>
              <a:rPr lang="fr-FR" sz="1300"/>
              <a:t>Positionné comme le “Davos de l’IA” </a:t>
            </a:r>
            <a:endParaRPr sz="1300"/>
          </a:p>
          <a:p>
            <a:pPr indent="-323850" lvl="0" marL="457200" marR="0" rtl="0" algn="l">
              <a:lnSpc>
                <a:spcPct val="100000"/>
              </a:lnSpc>
              <a:spcBef>
                <a:spcPts val="0"/>
              </a:spcBef>
              <a:spcAft>
                <a:spcPts val="0"/>
              </a:spcAft>
              <a:buSzPts val="1500"/>
              <a:buChar char="-"/>
            </a:pPr>
            <a:r>
              <a:rPr lang="fr-FR" sz="1300"/>
              <a:t>Partenaires sponsors : Société Générale, BPCE</a:t>
            </a:r>
            <a:endParaRPr sz="1300"/>
          </a:p>
          <a:p>
            <a:pPr indent="-285750" lvl="0" marL="457200" rtl="0" algn="l">
              <a:lnSpc>
                <a:spcPct val="115000"/>
              </a:lnSpc>
              <a:spcBef>
                <a:spcPts val="0"/>
              </a:spcBef>
              <a:spcAft>
                <a:spcPts val="0"/>
              </a:spcAft>
              <a:buClr>
                <a:srgbClr val="000000"/>
              </a:buClr>
              <a:buSzPts val="900"/>
              <a:buChar char="-"/>
            </a:pPr>
            <a:r>
              <a:rPr lang="fr-FR" sz="1300"/>
              <a:t>Créer des opportunités de collaboration avec des acteurs tech et data </a:t>
            </a:r>
            <a:endParaRPr sz="1300"/>
          </a:p>
        </p:txBody>
      </p:sp>
      <p:sp>
        <p:nvSpPr>
          <p:cNvPr id="328" name="Google Shape;328;p23"/>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p23"/>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p23"/>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331" name="Google Shape;331;p23"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332" name="Google Shape;332;p23"/>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333" name="Google Shape;333;p23"/>
          <p:cNvSpPr txBox="1"/>
          <p:nvPr/>
        </p:nvSpPr>
        <p:spPr>
          <a:xfrm>
            <a:off x="7260150" y="1361025"/>
            <a:ext cx="4154400" cy="107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rtl="0" algn="l">
              <a:spcBef>
                <a:spcPts val="0"/>
              </a:spcBef>
              <a:spcAft>
                <a:spcPts val="0"/>
              </a:spcAft>
              <a:buNone/>
            </a:pPr>
            <a:r>
              <a:rPr lang="fr-FR">
                <a:solidFill>
                  <a:schemeClr val="lt1"/>
                </a:solidFill>
              </a:rPr>
              <a:t>Positionner le Crédit Agricole comme une institution financière qui industrialise l’IA à grande échelle.</a:t>
            </a:r>
            <a:endParaRPr>
              <a:solidFill>
                <a:schemeClr val="lt1"/>
              </a:solidFill>
            </a:endParaRPr>
          </a:p>
        </p:txBody>
      </p:sp>
      <p:sp>
        <p:nvSpPr>
          <p:cNvPr id="334" name="Google Shape;334;p23"/>
          <p:cNvSpPr txBox="1"/>
          <p:nvPr/>
        </p:nvSpPr>
        <p:spPr>
          <a:xfrm>
            <a:off x="7273375" y="2900650"/>
            <a:ext cx="4525200" cy="203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Activations recommandées :</a:t>
            </a:r>
            <a:endParaRPr b="1">
              <a:solidFill>
                <a:schemeClr val="lt1"/>
              </a:solidFill>
            </a:endParaRPr>
          </a:p>
          <a:p>
            <a:pPr indent="0" lvl="0" marL="0" rtl="0" algn="l">
              <a:lnSpc>
                <a:spcPct val="115000"/>
              </a:lnSpc>
              <a:spcBef>
                <a:spcPts val="0"/>
              </a:spcBef>
              <a:spcAft>
                <a:spcPts val="0"/>
              </a:spcAft>
              <a:buNone/>
            </a:pPr>
            <a:r>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stratégique</a:t>
            </a:r>
            <a:endParaRPr b="1">
              <a:solidFill>
                <a:schemeClr val="lt1"/>
              </a:solidFill>
            </a:endParaRPr>
          </a:p>
          <a:p>
            <a:pPr indent="0" lvl="0" marL="0" rtl="0" algn="l">
              <a:spcBef>
                <a:spcPts val="0"/>
              </a:spcBef>
              <a:spcAft>
                <a:spcPts val="0"/>
              </a:spcAft>
              <a:buNone/>
            </a:pPr>
            <a:r>
              <a:rPr lang="fr-FR">
                <a:solidFill>
                  <a:schemeClr val="lt1"/>
                </a:solidFill>
              </a:rPr>
              <a:t>→ rencontres ciblées avec décideurs IA / innovation</a:t>
            </a:r>
            <a:endParaRPr b="1">
              <a:solidFill>
                <a:schemeClr val="lt1"/>
              </a:solidFill>
            </a:endParaRPr>
          </a:p>
          <a:p>
            <a:pPr indent="-240100" lvl="1" marL="288000" rtl="0" algn="l">
              <a:spcBef>
                <a:spcPts val="0"/>
              </a:spcBef>
              <a:spcAft>
                <a:spcPts val="0"/>
              </a:spcAft>
              <a:buClr>
                <a:schemeClr val="lt1"/>
              </a:buClr>
              <a:buSzPts val="1400"/>
              <a:buChar char="•"/>
            </a:pPr>
            <a:r>
              <a:rPr b="1" lang="fr-FR">
                <a:solidFill>
                  <a:schemeClr val="lt1"/>
                </a:solidFill>
              </a:rPr>
              <a:t>Keynote premium (niveau C-level)</a:t>
            </a:r>
            <a:endParaRPr b="1">
              <a:solidFill>
                <a:schemeClr val="lt1"/>
              </a:solidFill>
            </a:endParaRPr>
          </a:p>
          <a:p>
            <a:pPr indent="0" lvl="0" marL="0" rtl="0" algn="l">
              <a:spcBef>
                <a:spcPts val="0"/>
              </a:spcBef>
              <a:spcAft>
                <a:spcPts val="0"/>
              </a:spcAft>
              <a:buClr>
                <a:schemeClr val="lt1"/>
              </a:buClr>
              <a:buSzPts val="1800"/>
              <a:buNone/>
            </a:pPr>
            <a:r>
              <a:rPr lang="fr-FR">
                <a:solidFill>
                  <a:schemeClr val="lt1"/>
                </a:solidFill>
              </a:rPr>
              <a:t>→ capitaliser sur la prise de parole type Olivier Gavalda</a:t>
            </a:r>
            <a:endParaRPr b="1">
              <a:solidFill>
                <a:schemeClr val="lt1"/>
              </a:solidFill>
            </a:endParaRPr>
          </a:p>
          <a:p>
            <a:pPr indent="-240100" lvl="1" marL="266400" rtl="0" algn="l">
              <a:spcBef>
                <a:spcPts val="0"/>
              </a:spcBef>
              <a:spcAft>
                <a:spcPts val="0"/>
              </a:spcAft>
              <a:buClr>
                <a:schemeClr val="lt1"/>
              </a:buClr>
              <a:buSzPts val="1400"/>
              <a:buChar char="•"/>
            </a:pPr>
            <a:r>
              <a:rPr b="1" lang="fr-FR">
                <a:solidFill>
                  <a:schemeClr val="lt1"/>
                </a:solidFill>
              </a:rPr>
              <a:t>Sponsoring du déjeuner écosystème</a:t>
            </a:r>
            <a:endParaRPr sz="1100">
              <a:solidFill>
                <a:schemeClr val="lt1"/>
              </a:solidFill>
            </a:endParaRPr>
          </a:p>
        </p:txBody>
      </p:sp>
      <p:pic>
        <p:nvPicPr>
          <p:cNvPr id="335" name="Google Shape;335;p23"/>
          <p:cNvPicPr preferRelativeResize="0"/>
          <p:nvPr/>
        </p:nvPicPr>
        <p:blipFill>
          <a:blip r:embed="rId4">
            <a:alphaModFix/>
          </a:blip>
          <a:stretch>
            <a:fillRect/>
          </a:stretch>
        </p:blipFill>
        <p:spPr>
          <a:xfrm>
            <a:off x="567598" y="317950"/>
            <a:ext cx="1809306" cy="662275"/>
          </a:xfrm>
          <a:prstGeom prst="rect">
            <a:avLst/>
          </a:prstGeom>
          <a:noFill/>
          <a:ln>
            <a:noFill/>
          </a:ln>
        </p:spPr>
      </p:pic>
      <p:sp>
        <p:nvSpPr>
          <p:cNvPr id="336" name="Google Shape;336;p23"/>
          <p:cNvSpPr txBox="1"/>
          <p:nvPr/>
        </p:nvSpPr>
        <p:spPr>
          <a:xfrm>
            <a:off x="7385425" y="50170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https://adoptai.artefact.com/</a:t>
            </a:r>
            <a:r>
              <a:rPr b="1" lang="fr-FR" sz="1300">
                <a:solidFill>
                  <a:schemeClr val="lt1"/>
                </a:solidFill>
              </a:rPr>
              <a:t> </a:t>
            </a:r>
            <a:endParaRPr b="1" sz="13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0" name="Shape 340"/>
        <p:cNvGrpSpPr/>
        <p:nvPr/>
      </p:nvGrpSpPr>
      <p:grpSpPr>
        <a:xfrm>
          <a:off x="0" y="0"/>
          <a:ext cx="0" cy="0"/>
          <a:chOff x="0" y="0"/>
          <a:chExt cx="0" cy="0"/>
        </a:xfrm>
      </p:grpSpPr>
      <p:sp>
        <p:nvSpPr>
          <p:cNvPr id="341" name="Google Shape;341;p24"/>
          <p:cNvSpPr txBox="1"/>
          <p:nvPr>
            <p:ph idx="1" type="body"/>
          </p:nvPr>
        </p:nvSpPr>
        <p:spPr>
          <a:xfrm>
            <a:off x="565625" y="1275900"/>
            <a:ext cx="4154400" cy="43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LA RENCONTRE DES ENTREPRENEURS DE FRANCE</a:t>
            </a:r>
            <a:endParaRPr/>
          </a:p>
        </p:txBody>
      </p:sp>
      <p:sp>
        <p:nvSpPr>
          <p:cNvPr id="342" name="Google Shape;342;p24"/>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21/04/2026</a:t>
            </a:r>
            <a:endParaRPr/>
          </a:p>
        </p:txBody>
      </p:sp>
      <p:sp>
        <p:nvSpPr>
          <p:cNvPr id="343" name="Google Shape;343;p24"/>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44" name="Google Shape;344;p24"/>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45" name="Google Shape;345;p24"/>
          <p:cNvSpPr txBox="1"/>
          <p:nvPr>
            <p:ph idx="3" type="body"/>
          </p:nvPr>
        </p:nvSpPr>
        <p:spPr>
          <a:xfrm>
            <a:off x="464925" y="2184675"/>
            <a:ext cx="6528000" cy="31962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Date :</a:t>
            </a:r>
            <a:r>
              <a:rPr lang="fr-FR" sz="1300"/>
              <a:t> </a:t>
            </a:r>
            <a:r>
              <a:rPr lang="fr-FR" sz="1300"/>
              <a:t>26 au 27 août 2026</a:t>
            </a:r>
            <a:endParaRPr sz="1300"/>
          </a:p>
          <a:p>
            <a:pPr indent="-233750" lvl="1" marL="288000" rtl="0" algn="l">
              <a:spcBef>
                <a:spcPts val="0"/>
              </a:spcBef>
              <a:spcAft>
                <a:spcPts val="0"/>
              </a:spcAft>
              <a:buSzPts val="1300"/>
              <a:buChar char="•"/>
            </a:pPr>
            <a:r>
              <a:rPr b="1" lang="fr-FR" sz="1300"/>
              <a:t>Lieu : </a:t>
            </a:r>
            <a:r>
              <a:rPr lang="fr-FR" sz="1300"/>
              <a:t>Roland Garros</a:t>
            </a:r>
            <a:r>
              <a:rPr lang="fr-FR" sz="1300"/>
              <a:t> à Paris</a:t>
            </a:r>
            <a:endParaRPr sz="1300"/>
          </a:p>
          <a:p>
            <a:pPr indent="-233750" lvl="1" marL="288000" rtl="0" algn="l">
              <a:spcBef>
                <a:spcPts val="0"/>
              </a:spcBef>
              <a:spcAft>
                <a:spcPts val="0"/>
              </a:spcAft>
              <a:buSzPts val="1300"/>
              <a:buChar char="•"/>
            </a:pPr>
            <a:r>
              <a:rPr b="1" lang="fr-FR" sz="1300"/>
              <a:t>Audience :</a:t>
            </a:r>
            <a:r>
              <a:rPr lang="fr-FR" sz="1300"/>
              <a:t> </a:t>
            </a:r>
            <a:r>
              <a:rPr lang="fr-FR" sz="1300"/>
              <a:t>Dirigeants d’entreprises, décideurs publics, politiques, institutions, fédérations, médias</a:t>
            </a:r>
            <a:endParaRPr sz="1300"/>
          </a:p>
          <a:p>
            <a:pPr indent="-233750" lvl="1" marL="288000" rtl="0" algn="l">
              <a:spcBef>
                <a:spcPts val="0"/>
              </a:spcBef>
              <a:spcAft>
                <a:spcPts val="0"/>
              </a:spcAft>
              <a:buSzPts val="1300"/>
              <a:buChar char="•"/>
            </a:pPr>
            <a:r>
              <a:rPr b="1" lang="fr-FR" sz="1300"/>
              <a:t>Taille / portée :</a:t>
            </a:r>
            <a:r>
              <a:rPr lang="fr-FR" sz="1300"/>
              <a:t> 13 000+ participants (Audience ultra qualifiée, orientée dirigeants)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débats, tables rondes, interviews, networking, village partenaires</a:t>
            </a:r>
            <a:endParaRPr sz="1300"/>
          </a:p>
          <a:p>
            <a:pPr indent="-233750" lvl="1" marL="288000" rtl="0" algn="l">
              <a:spcBef>
                <a:spcPts val="0"/>
              </a:spcBef>
              <a:spcAft>
                <a:spcPts val="0"/>
              </a:spcAft>
              <a:buSzPts val="1300"/>
              <a:buChar char="•"/>
            </a:pPr>
            <a:r>
              <a:rPr b="1" lang="fr-FR" sz="1300"/>
              <a:t>Infos supplémentaires : </a:t>
            </a:r>
            <a:r>
              <a:rPr lang="fr-FR" sz="1300"/>
              <a:t>Le rendez-vous économique et politique de la rentrée en France / Boursorama couvrait notamment l’événement en 2025</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marR="0" rtl="0" algn="l">
              <a:lnSpc>
                <a:spcPct val="100000"/>
              </a:lnSpc>
              <a:spcBef>
                <a:spcPts val="0"/>
              </a:spcBef>
              <a:spcAft>
                <a:spcPts val="0"/>
              </a:spcAft>
              <a:buSzPts val="1300"/>
              <a:buChar char="-"/>
            </a:pPr>
            <a:r>
              <a:rPr lang="fr-FR" sz="1300"/>
              <a:t>Événement organisé par le MEDEF</a:t>
            </a:r>
            <a:endParaRPr sz="1300"/>
          </a:p>
          <a:p>
            <a:pPr indent="-311150" lvl="0" marL="457200" marR="0" rtl="0" algn="l">
              <a:lnSpc>
                <a:spcPct val="100000"/>
              </a:lnSpc>
              <a:spcBef>
                <a:spcPts val="0"/>
              </a:spcBef>
              <a:spcAft>
                <a:spcPts val="0"/>
              </a:spcAft>
              <a:buSzPts val="1300"/>
              <a:buChar char="-"/>
            </a:pPr>
            <a:r>
              <a:rPr lang="fr-FR" sz="1300"/>
              <a:t>Forte présence de personnalités politiques et dirigeants majeurs</a:t>
            </a:r>
            <a:endParaRPr sz="1300"/>
          </a:p>
          <a:p>
            <a:pPr indent="-311150" lvl="0" marL="457200" marR="0" rtl="0" algn="l">
              <a:lnSpc>
                <a:spcPct val="100000"/>
              </a:lnSpc>
              <a:spcBef>
                <a:spcPts val="0"/>
              </a:spcBef>
              <a:spcAft>
                <a:spcPts val="0"/>
              </a:spcAft>
              <a:buSzPts val="1300"/>
              <a:buChar char="-"/>
            </a:pPr>
            <a:r>
              <a:rPr lang="fr-FR" sz="1300"/>
              <a:t>Couverture média massive (TV, presse, digital) / </a:t>
            </a:r>
            <a:r>
              <a:rPr lang="fr-FR" sz="1300"/>
              <a:t>+25 médias partenaires en 2025</a:t>
            </a:r>
            <a:endParaRPr sz="1300"/>
          </a:p>
        </p:txBody>
      </p:sp>
      <p:sp>
        <p:nvSpPr>
          <p:cNvPr id="346" name="Google Shape;346;p24"/>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4"/>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8" name="Google Shape;348;p24"/>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349" name="Google Shape;349;p24"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350" name="Google Shape;350;p24"/>
          <p:cNvSpPr txBox="1"/>
          <p:nvPr>
            <p:ph idx="1" type="body"/>
          </p:nvPr>
        </p:nvSpPr>
        <p:spPr>
          <a:xfrm>
            <a:off x="6993035" y="6624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351" name="Google Shape;351;p24"/>
          <p:cNvSpPr txBox="1"/>
          <p:nvPr/>
        </p:nvSpPr>
        <p:spPr>
          <a:xfrm>
            <a:off x="7260150" y="1132425"/>
            <a:ext cx="4154400" cy="172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rtl="0" algn="l">
              <a:spcBef>
                <a:spcPts val="0"/>
              </a:spcBef>
              <a:spcAft>
                <a:spcPts val="0"/>
              </a:spcAft>
              <a:buNone/>
            </a:pPr>
            <a:r>
              <a:rPr lang="fr-FR">
                <a:solidFill>
                  <a:schemeClr val="lt1"/>
                </a:solidFill>
              </a:rPr>
              <a:t>Positionner le Crédit Agricole comme un acteur clé de la souveraineté économique et des transformations des territoires, capable de faire le lien entre économie réelle, innovation et politiques publiques.</a:t>
            </a:r>
            <a:endParaRPr>
              <a:solidFill>
                <a:schemeClr val="lt1"/>
              </a:solidFill>
            </a:endParaRPr>
          </a:p>
          <a:p>
            <a:pPr indent="0" lvl="0" marL="0" rtl="0" algn="l">
              <a:spcBef>
                <a:spcPts val="0"/>
              </a:spcBef>
              <a:spcAft>
                <a:spcPts val="0"/>
              </a:spcAft>
              <a:buNone/>
            </a:pPr>
            <a:r>
              <a:t/>
            </a:r>
            <a:endParaRPr>
              <a:solidFill>
                <a:schemeClr val="lt1"/>
              </a:solidFill>
            </a:endParaRPr>
          </a:p>
        </p:txBody>
      </p:sp>
      <p:sp>
        <p:nvSpPr>
          <p:cNvPr id="352" name="Google Shape;352;p24"/>
          <p:cNvSpPr txBox="1"/>
          <p:nvPr/>
        </p:nvSpPr>
        <p:spPr>
          <a:xfrm>
            <a:off x="7273375" y="2672050"/>
            <a:ext cx="45252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Activations recommandées :</a:t>
            </a:r>
            <a:endParaRPr>
              <a:solidFill>
                <a:schemeClr val="lt1"/>
              </a:solidFill>
            </a:endParaRPr>
          </a:p>
          <a:p>
            <a:pPr indent="0" lvl="0" marL="144000" marR="0" rtl="0" algn="l">
              <a:lnSpc>
                <a:spcPct val="100000"/>
              </a:lnSpc>
              <a:spcBef>
                <a:spcPts val="0"/>
              </a:spcBef>
              <a:spcAft>
                <a:spcPts val="0"/>
              </a:spcAft>
              <a:buNone/>
            </a:pPr>
            <a:r>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stratégique (niveau COMEX)</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sujets : souveraineté économique, financement des entreprises, IA, transition</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visible dans le village partenaires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stand orienté influence + rencontres institutionnelles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Rencontres ciblées (public / privé)</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Activation RP &amp; média</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interviews, tribunes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Production de contenus</a:t>
            </a:r>
            <a:endParaRPr b="1">
              <a:solidFill>
                <a:schemeClr val="lt1"/>
              </a:solidFill>
            </a:endParaRPr>
          </a:p>
        </p:txBody>
      </p:sp>
      <p:pic>
        <p:nvPicPr>
          <p:cNvPr id="353" name="Google Shape;353;p24"/>
          <p:cNvPicPr preferRelativeResize="0"/>
          <p:nvPr/>
        </p:nvPicPr>
        <p:blipFill>
          <a:blip r:embed="rId4">
            <a:alphaModFix/>
          </a:blip>
          <a:stretch>
            <a:fillRect/>
          </a:stretch>
        </p:blipFill>
        <p:spPr>
          <a:xfrm>
            <a:off x="565618" y="226575"/>
            <a:ext cx="1374750" cy="916500"/>
          </a:xfrm>
          <a:prstGeom prst="rect">
            <a:avLst/>
          </a:prstGeom>
          <a:noFill/>
          <a:ln>
            <a:noFill/>
          </a:ln>
        </p:spPr>
      </p:pic>
      <p:sp>
        <p:nvSpPr>
          <p:cNvPr id="354" name="Google Shape;354;p24"/>
          <p:cNvSpPr txBox="1"/>
          <p:nvPr/>
        </p:nvSpPr>
        <p:spPr>
          <a:xfrm>
            <a:off x="7732975" y="525955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https://laref.org/</a:t>
            </a:r>
            <a:r>
              <a:rPr b="1" lang="fr-FR" sz="1300">
                <a:solidFill>
                  <a:schemeClr val="lt1"/>
                </a:solidFill>
              </a:rPr>
              <a:t> </a:t>
            </a:r>
            <a:endParaRPr b="1" sz="13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p25"/>
          <p:cNvSpPr txBox="1"/>
          <p:nvPr>
            <p:ph idx="1" type="body"/>
          </p:nvPr>
        </p:nvSpPr>
        <p:spPr>
          <a:xfrm>
            <a:off x="459907" y="1054563"/>
            <a:ext cx="4864500" cy="68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LES FORCES QUI TRANSFORMENT L’INDUSTRIE BANCAIRE</a:t>
            </a:r>
            <a:endParaRPr/>
          </a:p>
        </p:txBody>
      </p:sp>
      <p:sp>
        <p:nvSpPr>
          <p:cNvPr id="360" name="Google Shape;360;p25"/>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21/04/2026</a:t>
            </a:r>
            <a:endParaRPr/>
          </a:p>
        </p:txBody>
      </p:sp>
      <p:sp>
        <p:nvSpPr>
          <p:cNvPr id="361" name="Google Shape;361;p25"/>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62" name="Google Shape;362;p25"/>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63" name="Google Shape;363;p25"/>
          <p:cNvSpPr txBox="1"/>
          <p:nvPr>
            <p:ph idx="3" type="body"/>
          </p:nvPr>
        </p:nvSpPr>
        <p:spPr>
          <a:xfrm>
            <a:off x="464925" y="1879875"/>
            <a:ext cx="6528000" cy="37227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Date :</a:t>
            </a:r>
            <a:r>
              <a:rPr lang="fr-FR" sz="1300"/>
              <a:t> 6 octobre </a:t>
            </a:r>
            <a:r>
              <a:rPr lang="fr-FR" sz="1300"/>
              <a:t>2026</a:t>
            </a:r>
            <a:r>
              <a:rPr lang="fr-FR" sz="1300"/>
              <a:t> </a:t>
            </a:r>
            <a:endParaRPr sz="1300"/>
          </a:p>
          <a:p>
            <a:pPr indent="-233750" lvl="1" marL="288000" rtl="0" algn="l">
              <a:spcBef>
                <a:spcPts val="0"/>
              </a:spcBef>
              <a:spcAft>
                <a:spcPts val="0"/>
              </a:spcAft>
              <a:buSzPts val="1300"/>
              <a:buChar char="•"/>
            </a:pPr>
            <a:r>
              <a:rPr b="1" lang="fr-FR" sz="1300"/>
              <a:t>Lieu : </a:t>
            </a:r>
            <a:r>
              <a:rPr lang="fr-FR" sz="1300"/>
              <a:t>Palais Brongniart</a:t>
            </a:r>
            <a:r>
              <a:rPr lang="fr-FR" sz="1300"/>
              <a:t> à Paris</a:t>
            </a:r>
            <a:endParaRPr sz="1300"/>
          </a:p>
          <a:p>
            <a:pPr indent="-233750" lvl="1" marL="288000" rtl="0" algn="l">
              <a:spcBef>
                <a:spcPts val="0"/>
              </a:spcBef>
              <a:spcAft>
                <a:spcPts val="0"/>
              </a:spcAft>
              <a:buSzPts val="1300"/>
              <a:buChar char="•"/>
            </a:pPr>
            <a:r>
              <a:rPr b="1" lang="fr-FR" sz="1300"/>
              <a:t>Audience :</a:t>
            </a:r>
            <a:r>
              <a:rPr lang="fr-FR" sz="1300"/>
              <a:t> </a:t>
            </a:r>
            <a:r>
              <a:rPr lang="fr-FR" sz="1300"/>
              <a:t>Décideurs bancaires, dirigeants financiers, experts innovation, fintechs, régulateurs, acteurs de la cybersécurité et de la blockchain</a:t>
            </a:r>
            <a:endParaRPr sz="1300"/>
          </a:p>
          <a:p>
            <a:pPr indent="-233750" lvl="1" marL="288000" rtl="0" algn="l">
              <a:spcBef>
                <a:spcPts val="0"/>
              </a:spcBef>
              <a:spcAft>
                <a:spcPts val="0"/>
              </a:spcAft>
              <a:buSzPts val="1300"/>
              <a:buChar char="•"/>
            </a:pPr>
            <a:r>
              <a:rPr b="1" lang="fr-FR" sz="1300"/>
              <a:t>Taille / portée :</a:t>
            </a:r>
            <a:r>
              <a:rPr lang="fr-FR" sz="1300"/>
              <a:t> 1 000+ participants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Conférences, keynotes, tables rondes, retours d’expérience, débats stratégiques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Thématiques clés : agents IA, nouveaux services bancaires, agence de demain, euro numérique, blockchain, cybersécurité / Peu de partenaires aujourd’hui</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rtl="0" algn="l">
              <a:spcBef>
                <a:spcPts val="0"/>
              </a:spcBef>
              <a:spcAft>
                <a:spcPts val="0"/>
              </a:spcAft>
              <a:buSzPts val="1300"/>
              <a:buChar char="-"/>
            </a:pPr>
            <a:r>
              <a:rPr lang="fr-FR" sz="1300"/>
              <a:t>Événement organisé par L’Agefi</a:t>
            </a:r>
            <a:endParaRPr sz="1300"/>
          </a:p>
          <a:p>
            <a:pPr indent="-311150" lvl="0" marL="457200" rtl="0" algn="l">
              <a:spcBef>
                <a:spcPts val="0"/>
              </a:spcBef>
              <a:spcAft>
                <a:spcPts val="0"/>
              </a:spcAft>
              <a:buSzPts val="1300"/>
              <a:buChar char="-"/>
            </a:pPr>
            <a:r>
              <a:rPr lang="fr-FR" sz="1300"/>
              <a:t>Prendre part aux débats structurants du secteur (IA, monnaie digitale, infrastructure bancaire)</a:t>
            </a:r>
            <a:endParaRPr sz="1300"/>
          </a:p>
          <a:p>
            <a:pPr indent="-311150" lvl="0" marL="457200" rtl="0" algn="l">
              <a:spcBef>
                <a:spcPts val="0"/>
              </a:spcBef>
              <a:spcAft>
                <a:spcPts val="0"/>
              </a:spcAft>
              <a:buSzPts val="1300"/>
              <a:buChar char="-"/>
            </a:pPr>
            <a:r>
              <a:rPr lang="fr-FR" sz="1300"/>
              <a:t>Renforcer la crédibilité auprès des pairs bancaires et régulateurs</a:t>
            </a:r>
            <a:endParaRPr sz="1300"/>
          </a:p>
          <a:p>
            <a:pPr indent="-311150" lvl="0" marL="457200" rtl="0" algn="l">
              <a:spcBef>
                <a:spcPts val="0"/>
              </a:spcBef>
              <a:spcAft>
                <a:spcPts val="0"/>
              </a:spcAft>
              <a:buSzPts val="1300"/>
              <a:buChar char="-"/>
            </a:pPr>
            <a:r>
              <a:rPr lang="fr-FR" sz="1300"/>
              <a:t>Anticiper les ruptures technologiques du secteur financier</a:t>
            </a:r>
            <a:endParaRPr sz="1300"/>
          </a:p>
        </p:txBody>
      </p:sp>
      <p:sp>
        <p:nvSpPr>
          <p:cNvPr id="364" name="Google Shape;364;p25"/>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5" name="Google Shape;365;p25"/>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5"/>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367" name="Google Shape;367;p25"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368" name="Google Shape;368;p25"/>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369" name="Google Shape;369;p25"/>
          <p:cNvSpPr txBox="1"/>
          <p:nvPr/>
        </p:nvSpPr>
        <p:spPr>
          <a:xfrm>
            <a:off x="7260150" y="13610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une banque qui anticipe et construit les modèles bancaires de demain, à la croisée de l’IA, de la régulation et de l’innovation technologique.</a:t>
            </a:r>
            <a:endParaRPr>
              <a:solidFill>
                <a:schemeClr val="lt1"/>
              </a:solidFill>
            </a:endParaRPr>
          </a:p>
        </p:txBody>
      </p:sp>
      <p:sp>
        <p:nvSpPr>
          <p:cNvPr id="370" name="Google Shape;370;p25"/>
          <p:cNvSpPr txBox="1"/>
          <p:nvPr/>
        </p:nvSpPr>
        <p:spPr>
          <a:xfrm>
            <a:off x="7348696" y="2562900"/>
            <a:ext cx="4320000" cy="4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stratégique (C-level / direction innovation)</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“La banque augmentée : entre IA, souveraineté et nouveaux usages”</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Intervention sur cas concrets</a:t>
            </a:r>
            <a:endParaRPr b="1">
              <a:solidFill>
                <a:schemeClr val="lt1"/>
              </a:solidFill>
            </a:endParaRPr>
          </a:p>
          <a:p>
            <a:pPr indent="0" lvl="0" marL="144000" marR="0" rtl="0" algn="l">
              <a:lnSpc>
                <a:spcPct val="100000"/>
              </a:lnSpc>
              <a:spcBef>
                <a:spcPts val="0"/>
              </a:spcBef>
              <a:spcAft>
                <a:spcPts val="0"/>
              </a:spcAft>
              <a:buNone/>
            </a:pPr>
            <a:r>
              <a:rPr lang="fr-FR">
                <a:solidFill>
                  <a:schemeClr val="lt1"/>
                </a:solidFill>
              </a:rPr>
              <a:t>→ agents IA, automatisation bancaire, transformation des agences</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experts &amp; décryptages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leadership thought leadership sur les transformations du secteur</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institutionnel</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échanges avec régulateurs, banques et acteurs de place</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a:p>
            <a:pPr indent="0" lvl="0" marL="0" rtl="0" algn="l">
              <a:spcBef>
                <a:spcPts val="0"/>
              </a:spcBef>
              <a:spcAft>
                <a:spcPts val="0"/>
              </a:spcAft>
              <a:buNone/>
            </a:pPr>
            <a:r>
              <a:rPr b="1" lang="fr-FR" sz="1300">
                <a:solidFill>
                  <a:schemeClr val="accent1"/>
                </a:solidFill>
              </a:rPr>
              <a:t>Site web : </a:t>
            </a:r>
            <a:r>
              <a:rPr b="1" lang="fr-FR" sz="1300" u="sng">
                <a:solidFill>
                  <a:schemeClr val="accent1"/>
                </a:solidFill>
                <a:hlinkClick r:id="rId4">
                  <a:extLst>
                    <a:ext uri="{A12FA001-AC4F-418D-AE19-62706E023703}">
                      <ahyp:hlinkClr val="tx"/>
                    </a:ext>
                  </a:extLst>
                </a:hlinkClick>
              </a:rPr>
              <a:t>https://bankacceleration.evenements.agefi.fr/fr/</a:t>
            </a:r>
            <a:r>
              <a:rPr b="1" lang="fr-FR" sz="1300">
                <a:solidFill>
                  <a:schemeClr val="accent1"/>
                </a:solidFill>
              </a:rPr>
              <a:t> </a:t>
            </a:r>
            <a:endParaRPr b="1" sz="1300">
              <a:solidFill>
                <a:schemeClr val="accent1"/>
              </a:solidFill>
            </a:endParaRPr>
          </a:p>
          <a:p>
            <a:pPr indent="0" lvl="0" marL="0" marR="0" rtl="0" algn="l">
              <a:lnSpc>
                <a:spcPct val="100000"/>
              </a:lnSpc>
              <a:spcBef>
                <a:spcPts val="0"/>
              </a:spcBef>
              <a:spcAft>
                <a:spcPts val="0"/>
              </a:spcAft>
              <a:buNone/>
            </a:pPr>
            <a:r>
              <a:t/>
            </a:r>
            <a:endParaRPr>
              <a:solidFill>
                <a:schemeClr val="lt1"/>
              </a:solidFill>
            </a:endParaRPr>
          </a:p>
          <a:p>
            <a:pPr indent="0" lvl="0" marL="0" rtl="0" algn="l">
              <a:spcBef>
                <a:spcPts val="0"/>
              </a:spcBef>
              <a:spcAft>
                <a:spcPts val="0"/>
              </a:spcAft>
              <a:buNone/>
            </a:pPr>
            <a:r>
              <a:t/>
            </a:r>
            <a:endParaRPr b="1">
              <a:solidFill>
                <a:schemeClr val="lt1"/>
              </a:solidFill>
            </a:endParaRPr>
          </a:p>
        </p:txBody>
      </p:sp>
      <p:pic>
        <p:nvPicPr>
          <p:cNvPr id="371" name="Google Shape;371;p25"/>
          <p:cNvPicPr preferRelativeResize="0"/>
          <p:nvPr/>
        </p:nvPicPr>
        <p:blipFill rotWithShape="1">
          <a:blip r:embed="rId5">
            <a:alphaModFix/>
          </a:blip>
          <a:srcRect b="34275" l="0" r="0" t="0"/>
          <a:stretch/>
        </p:blipFill>
        <p:spPr>
          <a:xfrm>
            <a:off x="251575" y="107976"/>
            <a:ext cx="2737551" cy="806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5" name="Shape 375"/>
        <p:cNvGrpSpPr/>
        <p:nvPr/>
      </p:nvGrpSpPr>
      <p:grpSpPr>
        <a:xfrm>
          <a:off x="0" y="0"/>
          <a:ext cx="0" cy="0"/>
          <a:chOff x="0" y="0"/>
          <a:chExt cx="0" cy="0"/>
        </a:xfrm>
      </p:grpSpPr>
      <p:sp>
        <p:nvSpPr>
          <p:cNvPr id="376" name="Google Shape;376;p26"/>
          <p:cNvSpPr txBox="1"/>
          <p:nvPr>
            <p:ph idx="1" type="body"/>
          </p:nvPr>
        </p:nvSpPr>
        <p:spPr>
          <a:xfrm>
            <a:off x="472778" y="1219267"/>
            <a:ext cx="48645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FAIRE DE L’IA UN MOTEUR</a:t>
            </a:r>
            <a:endParaRPr sz="15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D’AGILITÉ DANS LE SECTEUR</a:t>
            </a:r>
            <a:endParaRPr/>
          </a:p>
        </p:txBody>
      </p:sp>
      <p:sp>
        <p:nvSpPr>
          <p:cNvPr id="377" name="Google Shape;377;p26"/>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21/04/2026</a:t>
            </a:r>
            <a:endParaRPr/>
          </a:p>
        </p:txBody>
      </p:sp>
      <p:sp>
        <p:nvSpPr>
          <p:cNvPr id="378" name="Google Shape;378;p26"/>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79" name="Google Shape;379;p26"/>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80" name="Google Shape;380;p26"/>
          <p:cNvSpPr txBox="1"/>
          <p:nvPr>
            <p:ph idx="3" type="body"/>
          </p:nvPr>
        </p:nvSpPr>
        <p:spPr>
          <a:xfrm>
            <a:off x="464925" y="1976077"/>
            <a:ext cx="6528000" cy="33402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Clr>
                <a:srgbClr val="000000"/>
              </a:buClr>
              <a:buSzPts val="1300"/>
              <a:buFont typeface="Arial"/>
              <a:buChar char="•"/>
            </a:pPr>
            <a:r>
              <a:rPr b="1" lang="fr-FR" sz="1300"/>
              <a:t>Date :</a:t>
            </a:r>
            <a:r>
              <a:rPr lang="fr-FR" sz="1300"/>
              <a:t> 5 novembre 2026 </a:t>
            </a:r>
            <a:endParaRPr sz="1300"/>
          </a:p>
          <a:p>
            <a:pPr indent="-233750" lvl="1" marL="288000" rtl="0" algn="l">
              <a:spcBef>
                <a:spcPts val="0"/>
              </a:spcBef>
              <a:spcAft>
                <a:spcPts val="0"/>
              </a:spcAft>
              <a:buClr>
                <a:srgbClr val="000000"/>
              </a:buClr>
              <a:buSzPts val="1300"/>
              <a:buFont typeface="Arial"/>
              <a:buChar char="•"/>
            </a:pPr>
            <a:r>
              <a:rPr b="1" lang="fr-FR" sz="1300"/>
              <a:t>Lieu :</a:t>
            </a:r>
            <a:r>
              <a:rPr lang="fr-FR" sz="1300"/>
              <a:t> Deskeo Champerret à Paris</a:t>
            </a:r>
            <a:endParaRPr sz="1300"/>
          </a:p>
          <a:p>
            <a:pPr indent="-233750" lvl="1" marL="288000" rtl="0" algn="l">
              <a:spcBef>
                <a:spcPts val="0"/>
              </a:spcBef>
              <a:spcAft>
                <a:spcPts val="0"/>
              </a:spcAft>
              <a:buSzPts val="1300"/>
              <a:buChar char="•"/>
            </a:pPr>
            <a:r>
              <a:rPr b="1" lang="fr-FR" sz="1300"/>
              <a:t>Audience :</a:t>
            </a:r>
            <a:r>
              <a:rPr lang="fr-FR" sz="1300"/>
              <a:t> Dirigeants banque &amp; assurance, responsables innovation, data/IA, digital, expérience client, risk &amp; compliance, fintechs et insurtechs</a:t>
            </a:r>
            <a:endParaRPr sz="1300"/>
          </a:p>
          <a:p>
            <a:pPr indent="-233750" lvl="1" marL="288000" rtl="0" algn="l">
              <a:spcBef>
                <a:spcPts val="0"/>
              </a:spcBef>
              <a:spcAft>
                <a:spcPts val="0"/>
              </a:spcAft>
              <a:buSzPts val="1300"/>
              <a:buChar char="•"/>
            </a:pPr>
            <a:r>
              <a:rPr b="1" lang="fr-FR" sz="1300"/>
              <a:t>Taille / portée :</a:t>
            </a:r>
            <a:r>
              <a:rPr lang="fr-FR" sz="1300"/>
              <a:t> 500+ participants (Audience qualifiée, très décisionnelle)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témoignages dirigeants, sessions d’échanges en petits groupes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Thématiques clés : agilité des organisations, industrialisation de l’IA, personnalisation client, cybersécurité, AI Act</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rtl="0" algn="l">
              <a:spcBef>
                <a:spcPts val="0"/>
              </a:spcBef>
              <a:spcAft>
                <a:spcPts val="0"/>
              </a:spcAft>
              <a:buSzPts val="1300"/>
              <a:buChar char="-"/>
            </a:pPr>
            <a:r>
              <a:rPr lang="fr-FR" sz="1300"/>
              <a:t>Organisé par Hub Institute</a:t>
            </a:r>
            <a:endParaRPr sz="1300"/>
          </a:p>
          <a:p>
            <a:pPr indent="-311150" lvl="0" marL="457200" rtl="0" algn="l">
              <a:lnSpc>
                <a:spcPct val="115000"/>
              </a:lnSpc>
              <a:spcBef>
                <a:spcPts val="0"/>
              </a:spcBef>
              <a:spcAft>
                <a:spcPts val="0"/>
              </a:spcAft>
              <a:buClr>
                <a:srgbClr val="000000"/>
              </a:buClr>
              <a:buSzPts val="1300"/>
              <a:buChar char="-"/>
            </a:pPr>
            <a:r>
              <a:rPr lang="fr-FR" sz="1300"/>
              <a:t>Travailler la crédibilité sur les sujets de confiance, sécurité et conformité</a:t>
            </a:r>
            <a:endParaRPr sz="1300"/>
          </a:p>
          <a:p>
            <a:pPr indent="-311150" lvl="0" marL="457200" rtl="0" algn="l">
              <a:lnSpc>
                <a:spcPct val="115000"/>
              </a:lnSpc>
              <a:spcBef>
                <a:spcPts val="0"/>
              </a:spcBef>
              <a:spcAft>
                <a:spcPts val="0"/>
              </a:spcAft>
              <a:buClr>
                <a:srgbClr val="000000"/>
              </a:buClr>
              <a:buSzPts val="1300"/>
              <a:buChar char="-"/>
            </a:pPr>
            <a:r>
              <a:rPr lang="fr-FR" sz="1300"/>
              <a:t>Se connecter aux enjeux opérationnels banque &amp; assurance</a:t>
            </a:r>
            <a:endParaRPr sz="1300"/>
          </a:p>
          <a:p>
            <a:pPr indent="-311150" lvl="0" marL="457200" rtl="0" algn="l">
              <a:lnSpc>
                <a:spcPct val="115000"/>
              </a:lnSpc>
              <a:spcBef>
                <a:spcPts val="0"/>
              </a:spcBef>
              <a:spcAft>
                <a:spcPts val="0"/>
              </a:spcAft>
              <a:buClr>
                <a:srgbClr val="000000"/>
              </a:buClr>
              <a:buSzPts val="1300"/>
              <a:buChar char="-"/>
            </a:pPr>
            <a:r>
              <a:rPr lang="fr-FR" sz="1300"/>
              <a:t>Identifier des leviers d’industrialisation rapide de l’IA </a:t>
            </a:r>
            <a:endParaRPr sz="1300"/>
          </a:p>
        </p:txBody>
      </p:sp>
      <p:sp>
        <p:nvSpPr>
          <p:cNvPr id="381" name="Google Shape;381;p26"/>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26"/>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26"/>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384" name="Google Shape;384;p26"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385" name="Google Shape;385;p26"/>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386" name="Google Shape;386;p26"/>
          <p:cNvSpPr txBox="1"/>
          <p:nvPr/>
        </p:nvSpPr>
        <p:spPr>
          <a:xfrm>
            <a:off x="7260150" y="1665825"/>
            <a:ext cx="4154400" cy="150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une banque qui industrialise l’IA de manière responsable, en conciliant performance opérationnelle, personnalisation client et exigences de confiance.</a:t>
            </a:r>
            <a:endParaRPr>
              <a:solidFill>
                <a:schemeClr val="lt1"/>
              </a:solidFill>
            </a:endParaRPr>
          </a:p>
          <a:p>
            <a:pPr indent="0" lvl="0" marL="0" marR="0" rtl="0" algn="l">
              <a:lnSpc>
                <a:spcPct val="100000"/>
              </a:lnSpc>
              <a:spcBef>
                <a:spcPts val="0"/>
              </a:spcBef>
              <a:spcAft>
                <a:spcPts val="0"/>
              </a:spcAft>
              <a:buNone/>
            </a:pPr>
            <a:r>
              <a:t/>
            </a:r>
            <a:endParaRPr>
              <a:solidFill>
                <a:schemeClr val="lt1"/>
              </a:solidFill>
            </a:endParaRPr>
          </a:p>
        </p:txBody>
      </p:sp>
      <p:sp>
        <p:nvSpPr>
          <p:cNvPr id="387" name="Google Shape;387;p26"/>
          <p:cNvSpPr txBox="1"/>
          <p:nvPr/>
        </p:nvSpPr>
        <p:spPr>
          <a:xfrm>
            <a:off x="7222775" y="3020111"/>
            <a:ext cx="4525200" cy="172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u="sng">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Témoignage dirigeant / retour d’expérience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transformation IA dans les métiers banque/assurance</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Networking expert</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échanges avec décideurs métiers et innovation</a:t>
            </a:r>
            <a:endParaRPr sz="1100">
              <a:solidFill>
                <a:schemeClr val="lt1"/>
              </a:solidFill>
            </a:endParaRPr>
          </a:p>
          <a:p>
            <a:pPr indent="0" lvl="0" marL="0" rtl="0" algn="l">
              <a:spcBef>
                <a:spcPts val="0"/>
              </a:spcBef>
              <a:spcAft>
                <a:spcPts val="0"/>
              </a:spcAft>
              <a:buNone/>
            </a:pPr>
            <a:r>
              <a:t/>
            </a:r>
            <a:endParaRPr b="1">
              <a:solidFill>
                <a:schemeClr val="lt1"/>
              </a:solidFill>
            </a:endParaRPr>
          </a:p>
        </p:txBody>
      </p:sp>
      <p:pic>
        <p:nvPicPr>
          <p:cNvPr id="388" name="Google Shape;388;p26"/>
          <p:cNvPicPr preferRelativeResize="0"/>
          <p:nvPr/>
        </p:nvPicPr>
        <p:blipFill rotWithShape="1">
          <a:blip r:embed="rId4">
            <a:alphaModFix/>
          </a:blip>
          <a:srcRect b="28201" l="10219" r="10258" t="26843"/>
          <a:stretch/>
        </p:blipFill>
        <p:spPr>
          <a:xfrm>
            <a:off x="560213" y="234049"/>
            <a:ext cx="1984067" cy="630901"/>
          </a:xfrm>
          <a:prstGeom prst="rect">
            <a:avLst/>
          </a:prstGeom>
          <a:noFill/>
          <a:ln>
            <a:noFill/>
          </a:ln>
        </p:spPr>
      </p:pic>
      <p:sp>
        <p:nvSpPr>
          <p:cNvPr id="389" name="Google Shape;389;p26"/>
          <p:cNvSpPr txBox="1"/>
          <p:nvPr/>
        </p:nvSpPr>
        <p:spPr>
          <a:xfrm>
            <a:off x="7323650" y="4643725"/>
            <a:ext cx="40125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https://www.hubinstitute.com/hubtalk/banking-assurance</a:t>
            </a:r>
            <a:r>
              <a:rPr b="1" lang="fr-FR" sz="1300">
                <a:solidFill>
                  <a:schemeClr val="lt1"/>
                </a:solidFill>
              </a:rPr>
              <a:t> </a:t>
            </a:r>
            <a:endParaRPr b="1" sz="13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3" name="Shape 393"/>
        <p:cNvGrpSpPr/>
        <p:nvPr/>
      </p:nvGrpSpPr>
      <p:grpSpPr>
        <a:xfrm>
          <a:off x="0" y="0"/>
          <a:ext cx="0" cy="0"/>
          <a:chOff x="0" y="0"/>
          <a:chExt cx="0" cy="0"/>
        </a:xfrm>
      </p:grpSpPr>
      <p:sp>
        <p:nvSpPr>
          <p:cNvPr id="394" name="Google Shape;394;p27"/>
          <p:cNvSpPr txBox="1"/>
          <p:nvPr>
            <p:ph idx="1" type="body"/>
          </p:nvPr>
        </p:nvSpPr>
        <p:spPr>
          <a:xfrm>
            <a:off x="459311" y="1143067"/>
            <a:ext cx="48645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FAIRE DE L’IA UN MOTEUR</a:t>
            </a:r>
            <a:endParaRPr sz="1500">
              <a:solidFill>
                <a:schemeClr val="accent1"/>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500">
                <a:solidFill>
                  <a:schemeClr val="accent1"/>
                </a:solidFill>
                <a:latin typeface="Arial Black"/>
                <a:ea typeface="Arial Black"/>
                <a:cs typeface="Arial Black"/>
                <a:sym typeface="Arial Black"/>
              </a:rPr>
              <a:t>D’AGILITÉ DANS LE SECTEUR</a:t>
            </a:r>
            <a:endParaRPr/>
          </a:p>
        </p:txBody>
      </p:sp>
      <p:sp>
        <p:nvSpPr>
          <p:cNvPr id="395" name="Google Shape;395;p27"/>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21/04/2026</a:t>
            </a:r>
            <a:endParaRPr/>
          </a:p>
        </p:txBody>
      </p:sp>
      <p:sp>
        <p:nvSpPr>
          <p:cNvPr id="396" name="Google Shape;396;p27"/>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397" name="Google Shape;397;p27"/>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398" name="Google Shape;398;p27"/>
          <p:cNvSpPr txBox="1"/>
          <p:nvPr>
            <p:ph idx="3" type="body"/>
          </p:nvPr>
        </p:nvSpPr>
        <p:spPr>
          <a:xfrm>
            <a:off x="464925" y="1926650"/>
            <a:ext cx="6528000" cy="38778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Date :</a:t>
            </a:r>
            <a:r>
              <a:rPr lang="fr-FR" sz="1300"/>
              <a:t> 24 novembre 2026 </a:t>
            </a:r>
            <a:endParaRPr sz="1300"/>
          </a:p>
          <a:p>
            <a:pPr indent="-233750" lvl="1" marL="288000" rtl="0" algn="l">
              <a:spcBef>
                <a:spcPts val="0"/>
              </a:spcBef>
              <a:spcAft>
                <a:spcPts val="0"/>
              </a:spcAft>
              <a:buSzPts val="1300"/>
              <a:buChar char="•"/>
            </a:pPr>
            <a:r>
              <a:rPr b="1" lang="fr-FR" sz="1300"/>
              <a:t>Lieu :</a:t>
            </a:r>
            <a:r>
              <a:rPr lang="fr-FR" sz="1300"/>
              <a:t> Carrousel du Louvre à Paris</a:t>
            </a:r>
            <a:endParaRPr sz="1300"/>
          </a:p>
          <a:p>
            <a:pPr indent="-233750" lvl="1" marL="288000" rtl="0" algn="l">
              <a:spcBef>
                <a:spcPts val="0"/>
              </a:spcBef>
              <a:spcAft>
                <a:spcPts val="0"/>
              </a:spcAft>
              <a:buSzPts val="1300"/>
              <a:buChar char="•"/>
            </a:pPr>
            <a:r>
              <a:rPr b="1" lang="fr-FR" sz="1300"/>
              <a:t>Audience :</a:t>
            </a:r>
            <a:r>
              <a:rPr lang="fr-FR" sz="1300"/>
              <a:t> </a:t>
            </a:r>
            <a:r>
              <a:rPr lang="fr-FR" sz="1300"/>
              <a:t>Investisseurs particuliers, professionnels de la finance, gestionnaires de patrimoine, fintechs, banques, sociétés de gestion, acteurs crypto et immobilier</a:t>
            </a:r>
            <a:endParaRPr sz="1300"/>
          </a:p>
          <a:p>
            <a:pPr indent="-233750" lvl="1" marL="288000" rtl="0" algn="l">
              <a:spcBef>
                <a:spcPts val="0"/>
              </a:spcBef>
              <a:spcAft>
                <a:spcPts val="0"/>
              </a:spcAft>
              <a:buSzPts val="1300"/>
              <a:buChar char="•"/>
            </a:pPr>
            <a:r>
              <a:rPr b="1" lang="fr-FR" sz="1300"/>
              <a:t>Taille / portée :</a:t>
            </a:r>
            <a:r>
              <a:rPr lang="fr-FR" sz="1300"/>
              <a:t> 8 000+ participants </a:t>
            </a:r>
            <a:r>
              <a:rPr lang="fr-FR" sz="1300"/>
              <a:t>Audience mixte grand public + experts finance et investissement</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Conférences, masterclasses, keynotes, ateliers pédagogiques, networking, espaces exposants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Thématiques larges : crypto, fintech, crowdfunding, investissement responsable, capital investissement, immobilier, fiscalité, bourse, gestion de patrimoine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accent1"/>
                </a:solidFill>
              </a:rPr>
              <a:t>Intérêts stratégiques :</a:t>
            </a:r>
            <a:endParaRPr b="1" sz="1300" u="sng"/>
          </a:p>
          <a:p>
            <a:pPr indent="-311150" lvl="0" marL="457200" rtl="0" algn="l">
              <a:spcBef>
                <a:spcPts val="0"/>
              </a:spcBef>
              <a:spcAft>
                <a:spcPts val="0"/>
              </a:spcAft>
              <a:buSzPts val="1300"/>
              <a:buChar char="-"/>
            </a:pPr>
            <a:r>
              <a:rPr lang="fr-FR" sz="1300"/>
              <a:t>Organisé par Groupe Les Echos-Le Parisien x Hopscotch</a:t>
            </a:r>
            <a:endParaRPr sz="1300"/>
          </a:p>
          <a:p>
            <a:pPr indent="-311150" lvl="0" marL="457200" rtl="0" algn="l">
              <a:lnSpc>
                <a:spcPct val="115000"/>
              </a:lnSpc>
              <a:spcBef>
                <a:spcPts val="0"/>
              </a:spcBef>
              <a:spcAft>
                <a:spcPts val="0"/>
              </a:spcAft>
              <a:buClr>
                <a:srgbClr val="000000"/>
              </a:buClr>
              <a:buSzPts val="1300"/>
              <a:buChar char="-"/>
            </a:pPr>
            <a:r>
              <a:rPr lang="fr-FR" sz="1300"/>
              <a:t>Positionnement hybride : expertise + démocratisation </a:t>
            </a:r>
            <a:endParaRPr sz="1300"/>
          </a:p>
          <a:p>
            <a:pPr indent="-311150" lvl="0" marL="457200" rtl="0" algn="l">
              <a:lnSpc>
                <a:spcPct val="115000"/>
              </a:lnSpc>
              <a:spcBef>
                <a:spcPts val="0"/>
              </a:spcBef>
              <a:spcAft>
                <a:spcPts val="0"/>
              </a:spcAft>
              <a:buSzPts val="1300"/>
              <a:buChar char="-"/>
            </a:pPr>
            <a:r>
              <a:rPr lang="fr-FR" sz="1300"/>
              <a:t>Capter les évolutions des usages d’investissement (crypto, fintech,...)</a:t>
            </a:r>
            <a:endParaRPr sz="1300"/>
          </a:p>
          <a:p>
            <a:pPr indent="-311150" lvl="0" marL="457200" rtl="0" algn="l">
              <a:lnSpc>
                <a:spcPct val="115000"/>
              </a:lnSpc>
              <a:spcBef>
                <a:spcPts val="0"/>
              </a:spcBef>
              <a:spcAft>
                <a:spcPts val="0"/>
              </a:spcAft>
              <a:buSzPts val="1300"/>
              <a:buChar char="-"/>
            </a:pPr>
            <a:r>
              <a:rPr lang="fr-FR" sz="1300"/>
              <a:t>Valoriser l’accompagnement patrimonial et la gestion de l’épargne</a:t>
            </a:r>
            <a:endParaRPr sz="1300"/>
          </a:p>
          <a:p>
            <a:pPr indent="-311150" lvl="0" marL="457200" rtl="0" algn="l">
              <a:lnSpc>
                <a:spcPct val="115000"/>
              </a:lnSpc>
              <a:spcBef>
                <a:spcPts val="0"/>
              </a:spcBef>
              <a:spcAft>
                <a:spcPts val="0"/>
              </a:spcAft>
              <a:buSzPts val="1300"/>
              <a:buChar char="-"/>
            </a:pPr>
            <a:r>
              <a:rPr lang="fr-FR" sz="1300"/>
              <a:t>Accroître la visibilité dans un écosystème grand public à forte audience média</a:t>
            </a:r>
            <a:endParaRPr sz="1300"/>
          </a:p>
          <a:p>
            <a:pPr indent="0" lvl="0" marL="0" rtl="0" algn="l">
              <a:lnSpc>
                <a:spcPct val="115000"/>
              </a:lnSpc>
              <a:spcBef>
                <a:spcPts val="1200"/>
              </a:spcBef>
              <a:spcAft>
                <a:spcPts val="1200"/>
              </a:spcAft>
              <a:buNone/>
            </a:pPr>
            <a:r>
              <a:t/>
            </a:r>
            <a:endParaRPr sz="1300"/>
          </a:p>
        </p:txBody>
      </p:sp>
      <p:sp>
        <p:nvSpPr>
          <p:cNvPr id="399" name="Google Shape;399;p27"/>
          <p:cNvSpPr/>
          <p:nvPr/>
        </p:nvSpPr>
        <p:spPr>
          <a:xfrm>
            <a:off x="7130365" y="424925"/>
            <a:ext cx="4710000" cy="5406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27"/>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27"/>
          <p:cNvSpPr/>
          <p:nvPr/>
        </p:nvSpPr>
        <p:spPr>
          <a:xfrm>
            <a:off x="11297381" y="379126"/>
            <a:ext cx="540000" cy="540000"/>
          </a:xfrm>
          <a:prstGeom prst="ellipse">
            <a:avLst/>
          </a:prstGeom>
          <a:solidFill>
            <a:schemeClr val="accent1"/>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402" name="Google Shape;402;p27"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403" name="Google Shape;403;p27"/>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404" name="Google Shape;404;p27"/>
          <p:cNvSpPr txBox="1"/>
          <p:nvPr/>
        </p:nvSpPr>
        <p:spPr>
          <a:xfrm>
            <a:off x="7260150" y="1361025"/>
            <a:ext cx="4154400" cy="129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Positionner le Crédit Agricole comme une banque de référence sur l’accompagnement patrimonial global, capable de guider les investisseurs dans la complexité des nouveaux marchés financiers.</a:t>
            </a:r>
            <a:endParaRPr>
              <a:solidFill>
                <a:schemeClr val="lt1"/>
              </a:solidFill>
            </a:endParaRPr>
          </a:p>
        </p:txBody>
      </p:sp>
      <p:sp>
        <p:nvSpPr>
          <p:cNvPr id="405" name="Google Shape;405;p27"/>
          <p:cNvSpPr txBox="1"/>
          <p:nvPr/>
        </p:nvSpPr>
        <p:spPr>
          <a:xfrm>
            <a:off x="7222775" y="3020111"/>
            <a:ext cx="4525200" cy="21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Keynote pédagogie investissement</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Stand conseil / expertise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 accompagnement personnalisé sur les stratégies d’investissement</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éducatifs média</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formats courts pédagogiques (épargne, marchés, IA financière, crypto)</a:t>
            </a:r>
            <a:endParaRPr sz="1100">
              <a:solidFill>
                <a:schemeClr val="lt1"/>
              </a:solidFill>
            </a:endParaRPr>
          </a:p>
          <a:p>
            <a:pPr indent="0" lvl="0" marL="0" rtl="0" algn="l">
              <a:spcBef>
                <a:spcPts val="0"/>
              </a:spcBef>
              <a:spcAft>
                <a:spcPts val="0"/>
              </a:spcAft>
              <a:buNone/>
            </a:pPr>
            <a:r>
              <a:t/>
            </a:r>
            <a:endParaRPr b="1">
              <a:solidFill>
                <a:schemeClr val="lt1"/>
              </a:solidFill>
            </a:endParaRPr>
          </a:p>
        </p:txBody>
      </p:sp>
      <p:pic>
        <p:nvPicPr>
          <p:cNvPr id="406" name="Google Shape;406;p27"/>
          <p:cNvPicPr preferRelativeResize="0"/>
          <p:nvPr/>
        </p:nvPicPr>
        <p:blipFill rotWithShape="1">
          <a:blip r:embed="rId4">
            <a:alphaModFix/>
          </a:blip>
          <a:srcRect b="42682" l="0" r="0" t="32414"/>
          <a:stretch/>
        </p:blipFill>
        <p:spPr>
          <a:xfrm>
            <a:off x="560225" y="356125"/>
            <a:ext cx="2168470" cy="540000"/>
          </a:xfrm>
          <a:prstGeom prst="rect">
            <a:avLst/>
          </a:prstGeom>
          <a:noFill/>
          <a:ln>
            <a:noFill/>
          </a:ln>
        </p:spPr>
      </p:pic>
      <p:sp>
        <p:nvSpPr>
          <p:cNvPr id="407" name="Google Shape;407;p27"/>
          <p:cNvSpPr txBox="1"/>
          <p:nvPr/>
        </p:nvSpPr>
        <p:spPr>
          <a:xfrm>
            <a:off x="7398300" y="509422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https://www.investirday.fr/</a:t>
            </a:r>
            <a:r>
              <a:rPr b="1" lang="fr-FR" sz="1300">
                <a:solidFill>
                  <a:schemeClr val="lt1"/>
                </a:solidFill>
              </a:rPr>
              <a:t> </a:t>
            </a:r>
            <a:endParaRPr b="1" sz="13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8"/>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414" name="Google Shape;414;p28"/>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415" name="Google Shape;415;p28"/>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416" name="Google Shape;416;p28"/>
          <p:cNvSpPr txBox="1"/>
          <p:nvPr>
            <p:ph type="ctrTitle"/>
          </p:nvPr>
        </p:nvSpPr>
        <p:spPr>
          <a:xfrm>
            <a:off x="706000" y="338899"/>
            <a:ext cx="10980000" cy="2520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2"/>
              </a:buClr>
              <a:buSzPts val="5400"/>
              <a:buFont typeface="Arial Black"/>
              <a:buNone/>
            </a:pPr>
            <a:r>
              <a:rPr lang="fr-FR"/>
              <a:t>LES ÉVÉNEMENTS EUROPÉENS MAJEURS </a:t>
            </a:r>
            <a:endParaRPr/>
          </a:p>
        </p:txBody>
      </p:sp>
      <p:sp>
        <p:nvSpPr>
          <p:cNvPr id="417" name="Google Shape;417;p28"/>
          <p:cNvSpPr txBox="1"/>
          <p:nvPr>
            <p:ph idx="2" type="subTitle"/>
          </p:nvPr>
        </p:nvSpPr>
        <p:spPr>
          <a:xfrm>
            <a:off x="706000" y="3092843"/>
            <a:ext cx="10980000" cy="23400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accent1"/>
              </a:buClr>
              <a:buSzPts val="5400"/>
              <a:buNone/>
            </a:pPr>
            <a:r>
              <a:rPr lang="fr-FR"/>
              <a:t>LEVIERS DE NOTORIÉTÉ</a:t>
            </a:r>
            <a:endParaRPr/>
          </a:p>
          <a:p>
            <a:pPr indent="0" lvl="0" marL="0" rtl="0" algn="l">
              <a:lnSpc>
                <a:spcPct val="85000"/>
              </a:lnSpc>
              <a:spcBef>
                <a:spcPts val="0"/>
              </a:spcBef>
              <a:spcAft>
                <a:spcPts val="0"/>
              </a:spcAft>
              <a:buClr>
                <a:schemeClr val="accent1"/>
              </a:buClr>
              <a:buSzPts val="5400"/>
              <a:buNone/>
            </a:pPr>
            <a:r>
              <a:rPr lang="fr-FR"/>
              <a:t>&amp; BUSINESS : </a:t>
            </a:r>
            <a:endParaRPr/>
          </a:p>
          <a:p>
            <a:pPr indent="0" lvl="0" marL="0" rtl="0" algn="l">
              <a:lnSpc>
                <a:spcPct val="85000"/>
              </a:lnSpc>
              <a:spcBef>
                <a:spcPts val="0"/>
              </a:spcBef>
              <a:spcAft>
                <a:spcPts val="0"/>
              </a:spcAft>
              <a:buClr>
                <a:schemeClr val="accent1"/>
              </a:buClr>
              <a:buSzPts val="5400"/>
              <a:buNone/>
            </a:pPr>
            <a:r>
              <a:rPr lang="fr-FR" sz="3400"/>
              <a:t>innovation, entrepreneuriat et grand public</a:t>
            </a:r>
            <a:endParaRPr sz="4800"/>
          </a:p>
          <a:p>
            <a:pPr indent="0" lvl="0" marL="0" rtl="0" algn="l">
              <a:lnSpc>
                <a:spcPct val="85000"/>
              </a:lnSpc>
              <a:spcBef>
                <a:spcPts val="0"/>
              </a:spcBef>
              <a:spcAft>
                <a:spcPts val="0"/>
              </a:spcAft>
              <a:buClr>
                <a:schemeClr val="accent1"/>
              </a:buClr>
              <a:buSzPts val="54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9"/>
          <p:cNvSpPr txBox="1"/>
          <p:nvPr>
            <p:ph idx="10" type="dt"/>
          </p:nvPr>
        </p:nvSpPr>
        <p:spPr>
          <a:xfrm>
            <a:off x="1138238" y="6174395"/>
            <a:ext cx="828017"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423" name="Google Shape;423;p29"/>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424" name="Google Shape;424;p29"/>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425" name="Google Shape;425;p29"/>
          <p:cNvSpPr/>
          <p:nvPr/>
        </p:nvSpPr>
        <p:spPr>
          <a:xfrm>
            <a:off x="7130365" y="424925"/>
            <a:ext cx="4710000" cy="5406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6" name="Google Shape;426;p29"/>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29"/>
          <p:cNvSpPr/>
          <p:nvPr/>
        </p:nvSpPr>
        <p:spPr>
          <a:xfrm>
            <a:off x="11297381" y="379126"/>
            <a:ext cx="540000" cy="540000"/>
          </a:xfrm>
          <a:prstGeom prst="ellipse">
            <a:avLst/>
          </a:prstGeom>
          <a:solidFill>
            <a:schemeClr val="lt2"/>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428" name="Google Shape;428;p29"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429" name="Google Shape;429;p29"/>
          <p:cNvSpPr txBox="1"/>
          <p:nvPr>
            <p:ph idx="1" type="body"/>
          </p:nvPr>
        </p:nvSpPr>
        <p:spPr>
          <a:xfrm>
            <a:off x="74502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430" name="Google Shape;430;p29"/>
          <p:cNvSpPr txBox="1"/>
          <p:nvPr/>
        </p:nvSpPr>
        <p:spPr>
          <a:xfrm>
            <a:off x="7260150" y="903825"/>
            <a:ext cx="4154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rtl="0" algn="l">
              <a:lnSpc>
                <a:spcPct val="115000"/>
              </a:lnSpc>
              <a:spcBef>
                <a:spcPts val="0"/>
              </a:spcBef>
              <a:spcAft>
                <a:spcPts val="0"/>
              </a:spcAft>
              <a:buNone/>
            </a:pPr>
            <a:r>
              <a:rPr lang="fr-FR">
                <a:solidFill>
                  <a:schemeClr val="lt1"/>
                </a:solidFill>
              </a:rPr>
              <a:t>Positionner le Crédit Agricole comme une banque européenne ouverte sur les écosystèmes internationaux, capable d’accompagner la croissance et l’expansion des scale-ups en Europe et à l’international.</a:t>
            </a:r>
            <a:endParaRPr>
              <a:solidFill>
                <a:schemeClr val="lt1"/>
              </a:solidFill>
            </a:endParaRPr>
          </a:p>
        </p:txBody>
      </p:sp>
      <p:sp>
        <p:nvSpPr>
          <p:cNvPr id="431" name="Google Shape;431;p29"/>
          <p:cNvSpPr txBox="1"/>
          <p:nvPr/>
        </p:nvSpPr>
        <p:spPr>
          <a:xfrm>
            <a:off x="7286625" y="2564383"/>
            <a:ext cx="4512000" cy="301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networking forte (C-level / innovation)</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a:t>
            </a:r>
            <a:r>
              <a:rPr lang="fr-FR">
                <a:solidFill>
                  <a:schemeClr val="lt1"/>
                </a:solidFill>
              </a:rPr>
              <a:t>dîner ou soirée networking avec VCs et fondateurs européens</a:t>
            </a:r>
            <a:r>
              <a:rPr b="1" lang="fr-FR">
                <a:solidFill>
                  <a:schemeClr val="lt1"/>
                </a:solidFill>
              </a:rPr>
              <a:t> </a:t>
            </a:r>
            <a:r>
              <a:rPr lang="fr-FR">
                <a:solidFill>
                  <a:schemeClr val="lt1"/>
                </a:solidFill>
              </a:rPr>
              <a:t>(notamment de la French Tech)</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internationale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financement des scale-ups, expansion européenne, innovation bancaire basée sur l’humain / le fondateur (thématique 2026)</a:t>
            </a:r>
            <a:endParaRPr>
              <a:solidFill>
                <a:schemeClr val="lt1"/>
              </a:solidFill>
            </a:endParaRPr>
          </a:p>
          <a:p>
            <a:pPr indent="-317500" lvl="0" marL="457200" marR="0" rtl="0" algn="l">
              <a:lnSpc>
                <a:spcPct val="100000"/>
              </a:lnSpc>
              <a:spcBef>
                <a:spcPts val="0"/>
              </a:spcBef>
              <a:spcAft>
                <a:spcPts val="0"/>
              </a:spcAft>
              <a:buClr>
                <a:schemeClr val="lt1"/>
              </a:buClr>
              <a:buSzPts val="1400"/>
              <a:buChar char="●"/>
            </a:pPr>
            <a:r>
              <a:rPr b="1" lang="fr-FR">
                <a:solidFill>
                  <a:schemeClr val="lt1"/>
                </a:solidFill>
              </a:rPr>
              <a:t>P</a:t>
            </a:r>
            <a:r>
              <a:rPr b="1" lang="fr-FR">
                <a:solidFill>
                  <a:schemeClr val="lt1"/>
                </a:solidFill>
              </a:rPr>
              <a:t>articiper au matchmaking</a:t>
            </a:r>
            <a:endParaRPr b="1">
              <a:solidFill>
                <a:schemeClr val="lt1"/>
              </a:solidFill>
            </a:endParaRPr>
          </a:p>
          <a:p>
            <a:pPr indent="0" lvl="0" marL="0" rtl="0" algn="l">
              <a:spcBef>
                <a:spcPts val="0"/>
              </a:spcBef>
              <a:spcAft>
                <a:spcPts val="0"/>
              </a:spcAft>
              <a:buNone/>
            </a:pPr>
            <a:r>
              <a:rPr lang="fr-FR">
                <a:solidFill>
                  <a:schemeClr val="lt1"/>
                </a:solidFill>
              </a:rPr>
              <a:t>→ Rencontres partenaires (fonds, IA, fintech internationales, French Tech Berlin,...)</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Contenus social media &amp; brand awareness</a:t>
            </a:r>
            <a:endParaRPr sz="1100">
              <a:solidFill>
                <a:schemeClr val="lt1"/>
              </a:solidFill>
            </a:endParaRPr>
          </a:p>
          <a:p>
            <a:pPr indent="0" lvl="0" marL="0" rtl="0" algn="l">
              <a:spcBef>
                <a:spcPts val="0"/>
              </a:spcBef>
              <a:spcAft>
                <a:spcPts val="0"/>
              </a:spcAft>
              <a:buNone/>
            </a:pPr>
            <a:r>
              <a:t/>
            </a:r>
            <a:endParaRPr>
              <a:solidFill>
                <a:schemeClr val="lt1"/>
              </a:solidFill>
            </a:endParaRPr>
          </a:p>
        </p:txBody>
      </p:sp>
      <p:sp>
        <p:nvSpPr>
          <p:cNvPr id="432" name="Google Shape;432;p29"/>
          <p:cNvSpPr txBox="1"/>
          <p:nvPr>
            <p:ph idx="1" type="body"/>
          </p:nvPr>
        </p:nvSpPr>
        <p:spPr>
          <a:xfrm>
            <a:off x="561850" y="918150"/>
            <a:ext cx="6528000" cy="434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lt2"/>
                </a:solidFill>
                <a:latin typeface="Arial Black"/>
                <a:ea typeface="Arial Black"/>
                <a:cs typeface="Arial Black"/>
                <a:sym typeface="Arial Black"/>
              </a:rPr>
              <a:t>LA </a:t>
            </a:r>
            <a:r>
              <a:rPr lang="fr-FR" sz="1600">
                <a:solidFill>
                  <a:schemeClr val="lt2"/>
                </a:solidFill>
                <a:latin typeface="Arial Black"/>
                <a:ea typeface="Arial Black"/>
                <a:cs typeface="Arial Black"/>
                <a:sym typeface="Arial Black"/>
              </a:rPr>
              <a:t>CONFÉRENCE INTERNATIONALE</a:t>
            </a:r>
            <a:r>
              <a:rPr lang="fr-FR" sz="1600">
                <a:solidFill>
                  <a:schemeClr val="lt2"/>
                </a:solidFill>
                <a:latin typeface="Arial Black"/>
                <a:ea typeface="Arial Black"/>
                <a:cs typeface="Arial Black"/>
                <a:sym typeface="Arial Black"/>
              </a:rPr>
              <a:t> DE FONDATEURS</a:t>
            </a:r>
            <a:endParaRPr sz="2100">
              <a:solidFill>
                <a:schemeClr val="lt2"/>
              </a:solidFill>
            </a:endParaRPr>
          </a:p>
        </p:txBody>
      </p:sp>
      <p:sp>
        <p:nvSpPr>
          <p:cNvPr id="433" name="Google Shape;433;p29"/>
          <p:cNvSpPr txBox="1"/>
          <p:nvPr>
            <p:ph idx="3" type="body"/>
          </p:nvPr>
        </p:nvSpPr>
        <p:spPr>
          <a:xfrm>
            <a:off x="468036" y="1548875"/>
            <a:ext cx="6528000" cy="3854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Fondateurs de startups, scale-ups, investisseurs, VCs, corporate innovation, acteurs tech européens et internationaux</a:t>
            </a:r>
            <a:endParaRPr sz="1300"/>
          </a:p>
          <a:p>
            <a:pPr indent="-233750" lvl="1" marL="288000" rtl="0" algn="l">
              <a:spcBef>
                <a:spcPts val="0"/>
              </a:spcBef>
              <a:spcAft>
                <a:spcPts val="0"/>
              </a:spcAft>
              <a:buSzPts val="1300"/>
              <a:buChar char="•"/>
            </a:pPr>
            <a:r>
              <a:rPr b="1" lang="fr-FR" sz="1300"/>
              <a:t>Taille / portée :</a:t>
            </a:r>
            <a:r>
              <a:rPr lang="fr-FR" sz="1300"/>
              <a:t> </a:t>
            </a:r>
            <a:r>
              <a:rPr lang="fr-FR" sz="1300"/>
              <a:t>7 500+ participants (Écosystème startup européen à forte dimension internationale)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panels, pitchs startups, networking intensif, side events, rencontres investisseurs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Festival européen majeur de la startup nation (positionné comme un “Oktoberfest du business”)</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Max Junestrand, CEO de Legora - Mirko Novakovic, fondateur de Dash0 - Jeannette Zu Furstenberg, présidente de General Catalyst - Ben Fletcher, partner de Accel - Ritika Pai, partner chez Iconiq,...</a:t>
            </a:r>
            <a:endParaRPr sz="1300"/>
          </a:p>
          <a:p>
            <a:pPr indent="0" lvl="0" marL="0" marR="0" rtl="0" algn="l">
              <a:lnSpc>
                <a:spcPct val="100000"/>
              </a:lnSpc>
              <a:spcBef>
                <a:spcPts val="0"/>
              </a:spcBef>
              <a:spcAft>
                <a:spcPts val="0"/>
              </a:spcAft>
              <a:buNone/>
            </a:pPr>
            <a:r>
              <a:t/>
            </a:r>
            <a:endParaRPr b="1" sz="1400" u="sng">
              <a:solidFill>
                <a:schemeClr val="lt2"/>
              </a:solidFill>
            </a:endParaRPr>
          </a:p>
          <a:p>
            <a:pPr indent="0" lvl="0" marL="0" marR="0" rtl="0" algn="l">
              <a:lnSpc>
                <a:spcPct val="100000"/>
              </a:lnSpc>
              <a:spcBef>
                <a:spcPts val="0"/>
              </a:spcBef>
              <a:spcAft>
                <a:spcPts val="0"/>
              </a:spcAft>
              <a:buNone/>
            </a:pPr>
            <a:r>
              <a:rPr b="1" lang="fr-FR" sz="1400" u="sng">
                <a:solidFill>
                  <a:schemeClr val="lt2"/>
                </a:solidFill>
              </a:rPr>
              <a:t>Intérêts stratégiques :</a:t>
            </a:r>
            <a:endParaRPr b="1" sz="1300" u="sng">
              <a:solidFill>
                <a:schemeClr val="lt2"/>
              </a:solidFill>
            </a:endParaRPr>
          </a:p>
          <a:p>
            <a:pPr indent="-311150" lvl="0" marL="457200" rtl="0" algn="l">
              <a:spcBef>
                <a:spcPts val="0"/>
              </a:spcBef>
              <a:spcAft>
                <a:spcPts val="0"/>
              </a:spcAft>
              <a:buSzPts val="1300"/>
              <a:buChar char="-"/>
            </a:pPr>
            <a:r>
              <a:rPr lang="fr-FR" sz="1300"/>
              <a:t>Organisé par Startup Events GmbH</a:t>
            </a:r>
            <a:endParaRPr sz="1300"/>
          </a:p>
          <a:p>
            <a:pPr indent="-311150" lvl="0" marL="457200" rtl="0" algn="l">
              <a:spcBef>
                <a:spcPts val="0"/>
              </a:spcBef>
              <a:spcAft>
                <a:spcPts val="0"/>
              </a:spcAft>
              <a:buSzPts val="1300"/>
              <a:buChar char="-"/>
            </a:pPr>
            <a:r>
              <a:rPr lang="fr-FR" sz="1300"/>
              <a:t>Renforcer la visibilité du Crédit Agricole à l’échelle européenne</a:t>
            </a:r>
            <a:endParaRPr sz="1300"/>
          </a:p>
          <a:p>
            <a:pPr indent="-311150" lvl="0" marL="457200" rtl="0" algn="l">
              <a:spcBef>
                <a:spcPts val="0"/>
              </a:spcBef>
              <a:spcAft>
                <a:spcPts val="0"/>
              </a:spcAft>
              <a:buSzPts val="1300"/>
              <a:buChar char="-"/>
            </a:pPr>
            <a:r>
              <a:rPr lang="fr-FR" sz="1300"/>
              <a:t>Accéder à un dealflow international (scale-ups, early-stage, VCs)</a:t>
            </a:r>
            <a:endParaRPr sz="1300"/>
          </a:p>
          <a:p>
            <a:pPr indent="-311150" lvl="0" marL="457200" rtl="0" algn="l">
              <a:spcBef>
                <a:spcPts val="0"/>
              </a:spcBef>
              <a:spcAft>
                <a:spcPts val="0"/>
              </a:spcAft>
              <a:buSzPts val="1300"/>
              <a:buChar char="-"/>
            </a:pPr>
            <a:r>
              <a:rPr lang="fr-FR" sz="1300"/>
              <a:t>Développer des opportunités de partenariats hors marché français</a:t>
            </a:r>
            <a:endParaRPr sz="1300"/>
          </a:p>
          <a:p>
            <a:pPr indent="-311150" lvl="0" marL="457200" rtl="0" algn="l">
              <a:spcBef>
                <a:spcPts val="0"/>
              </a:spcBef>
              <a:spcAft>
                <a:spcPts val="0"/>
              </a:spcAft>
              <a:buSzPts val="1300"/>
              <a:buChar char="-"/>
            </a:pPr>
            <a:r>
              <a:rPr lang="fr-FR" sz="1300"/>
              <a:t>Positionner la banque dans les réseaux d’innovation européens</a:t>
            </a:r>
            <a:endParaRPr sz="1300"/>
          </a:p>
        </p:txBody>
      </p:sp>
      <p:pic>
        <p:nvPicPr>
          <p:cNvPr id="434" name="Google Shape;434;p29"/>
          <p:cNvPicPr preferRelativeResize="0"/>
          <p:nvPr/>
        </p:nvPicPr>
        <p:blipFill>
          <a:blip r:embed="rId4">
            <a:alphaModFix/>
          </a:blip>
          <a:stretch>
            <a:fillRect/>
          </a:stretch>
        </p:blipFill>
        <p:spPr>
          <a:xfrm>
            <a:off x="693525" y="150526"/>
            <a:ext cx="1560525" cy="630900"/>
          </a:xfrm>
          <a:prstGeom prst="rect">
            <a:avLst/>
          </a:prstGeom>
          <a:noFill/>
          <a:ln>
            <a:noFill/>
          </a:ln>
        </p:spPr>
      </p:pic>
      <p:sp>
        <p:nvSpPr>
          <p:cNvPr id="435" name="Google Shape;435;p29"/>
          <p:cNvSpPr txBox="1"/>
          <p:nvPr/>
        </p:nvSpPr>
        <p:spPr>
          <a:xfrm>
            <a:off x="7626200" y="529992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https://www.bitsandpretzels.com/</a:t>
            </a:r>
            <a:endParaRPr b="1" sz="1300">
              <a:solidFill>
                <a:schemeClr val="lt1"/>
              </a:solidFill>
            </a:endParaRPr>
          </a:p>
        </p:txBody>
      </p:sp>
      <p:sp>
        <p:nvSpPr>
          <p:cNvPr id="436" name="Google Shape;436;p29"/>
          <p:cNvSpPr/>
          <p:nvPr/>
        </p:nvSpPr>
        <p:spPr>
          <a:xfrm>
            <a:off x="561850" y="1276050"/>
            <a:ext cx="3793500" cy="366600"/>
          </a:xfrm>
          <a:prstGeom prst="roundRect">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7" name="Google Shape;437;p29"/>
          <p:cNvSpPr/>
          <p:nvPr/>
        </p:nvSpPr>
        <p:spPr>
          <a:xfrm>
            <a:off x="725050" y="137365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28 au 30 septembre 2026 - à Munich en </a:t>
            </a:r>
            <a:r>
              <a:rPr lang="fr-FR" sz="1100">
                <a:solidFill>
                  <a:schemeClr val="lt1"/>
                </a:solidFill>
                <a:latin typeface="Inter"/>
                <a:ea typeface="Inter"/>
                <a:cs typeface="Inter"/>
                <a:sym typeface="Inter"/>
              </a:rPr>
              <a:t>Allemagne</a:t>
            </a:r>
            <a:endParaRPr b="0" i="0" sz="1100" u="none" cap="none" strike="noStrike">
              <a:solidFill>
                <a:schemeClr val="lt1"/>
              </a:solidFill>
            </a:endParaRPr>
          </a:p>
        </p:txBody>
      </p:sp>
      <p:sp>
        <p:nvSpPr>
          <p:cNvPr id="438" name="Google Shape;438;p29"/>
          <p:cNvSpPr/>
          <p:nvPr/>
        </p:nvSpPr>
        <p:spPr>
          <a:xfrm>
            <a:off x="561850" y="5461933"/>
            <a:ext cx="6382800" cy="540000"/>
          </a:xfrm>
          <a:prstGeom prst="roundRect">
            <a:avLst>
              <a:gd fmla="val 50000" name="adj"/>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439" name="Google Shape;439;p29"/>
          <p:cNvPicPr preferRelativeResize="0"/>
          <p:nvPr/>
        </p:nvPicPr>
        <p:blipFill rotWithShape="1">
          <a:blip r:embed="rId6">
            <a:alphaModFix/>
          </a:blip>
          <a:srcRect b="0" l="0" r="0" t="0"/>
          <a:stretch/>
        </p:blipFill>
        <p:spPr>
          <a:xfrm>
            <a:off x="703543" y="5575599"/>
            <a:ext cx="177205" cy="141684"/>
          </a:xfrm>
          <a:prstGeom prst="rect">
            <a:avLst/>
          </a:prstGeom>
          <a:noFill/>
          <a:ln>
            <a:noFill/>
          </a:ln>
        </p:spPr>
      </p:pic>
      <p:sp>
        <p:nvSpPr>
          <p:cNvPr id="440" name="Google Shape;440;p29"/>
          <p:cNvSpPr/>
          <p:nvPr/>
        </p:nvSpPr>
        <p:spPr>
          <a:xfrm>
            <a:off x="1022425" y="55637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Audience très internationale (Europe + US + écosystèmes tech globaux) / Forte concentration de fonds d’investissement.</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0"/>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446" name="Google Shape;446;p30"/>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447" name="Google Shape;447;p30"/>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448" name="Google Shape;448;p30"/>
          <p:cNvSpPr/>
          <p:nvPr/>
        </p:nvSpPr>
        <p:spPr>
          <a:xfrm>
            <a:off x="7130365" y="424925"/>
            <a:ext cx="4710000" cy="5406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9" name="Google Shape;449;p30"/>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0" name="Google Shape;450;p30"/>
          <p:cNvSpPr/>
          <p:nvPr/>
        </p:nvSpPr>
        <p:spPr>
          <a:xfrm>
            <a:off x="11297381" y="379126"/>
            <a:ext cx="540000" cy="540000"/>
          </a:xfrm>
          <a:prstGeom prst="ellipse">
            <a:avLst/>
          </a:prstGeom>
          <a:solidFill>
            <a:schemeClr val="lt2"/>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451" name="Google Shape;451;p30"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452" name="Google Shape;452;p30"/>
          <p:cNvSpPr txBox="1"/>
          <p:nvPr>
            <p:ph idx="1" type="body"/>
          </p:nvPr>
        </p:nvSpPr>
        <p:spPr>
          <a:xfrm>
            <a:off x="7450235" y="510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453" name="Google Shape;453;p30"/>
          <p:cNvSpPr txBox="1"/>
          <p:nvPr/>
        </p:nvSpPr>
        <p:spPr>
          <a:xfrm>
            <a:off x="7260150" y="879592"/>
            <a:ext cx="4512000" cy="139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15000"/>
              </a:lnSpc>
              <a:spcBef>
                <a:spcPts val="0"/>
              </a:spcBef>
              <a:spcAft>
                <a:spcPts val="0"/>
              </a:spcAft>
              <a:buNone/>
            </a:pPr>
            <a:r>
              <a:rPr lang="fr-FR">
                <a:solidFill>
                  <a:schemeClr val="lt1"/>
                </a:solidFill>
              </a:rPr>
              <a:t>Positionner le Crédit Agricole comme une banque européenne connectée aux technologies mondiales, capable d’intégrer et de sécuriser les innovations IA et cyber à grande échelle. </a:t>
            </a:r>
            <a:endParaRPr>
              <a:solidFill>
                <a:schemeClr val="lt1"/>
              </a:solidFill>
            </a:endParaRPr>
          </a:p>
        </p:txBody>
      </p:sp>
      <p:sp>
        <p:nvSpPr>
          <p:cNvPr id="454" name="Google Shape;454;p30"/>
          <p:cNvSpPr txBox="1"/>
          <p:nvPr/>
        </p:nvSpPr>
        <p:spPr>
          <a:xfrm>
            <a:off x="7286625" y="2231292"/>
            <a:ext cx="4512000" cy="361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Prise de parole internationale (C-level)</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IA, cybersécurité, souveraineté technologique, infrastructure bancaire</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Présence sur zone innovation / expo</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démonstration de cas d’usage IA / data / sécurité</a:t>
            </a:r>
            <a:endParaRPr>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Participer aux side events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dîner, cocktail, etc (Souvent organisés par SAP, Microsoft, AWS,...)</a:t>
            </a:r>
            <a:endParaRPr>
              <a:solidFill>
                <a:schemeClr val="lt1"/>
              </a:solidFill>
            </a:endParaRPr>
          </a:p>
          <a:p>
            <a:pPr indent="-240100" lvl="1" marL="288000" rtl="0" algn="l">
              <a:spcBef>
                <a:spcPts val="0"/>
              </a:spcBef>
              <a:spcAft>
                <a:spcPts val="0"/>
              </a:spcAft>
              <a:buClr>
                <a:schemeClr val="lt1"/>
              </a:buClr>
              <a:buSzPts val="1400"/>
              <a:buChar char="•"/>
            </a:pPr>
            <a:r>
              <a:rPr b="1" lang="fr-FR">
                <a:solidFill>
                  <a:schemeClr val="lt1"/>
                </a:solidFill>
              </a:rPr>
              <a:t>Participer aux Executive Connect</a:t>
            </a:r>
            <a:endParaRPr b="1">
              <a:solidFill>
                <a:schemeClr val="lt1"/>
              </a:solidFill>
            </a:endParaRPr>
          </a:p>
          <a:p>
            <a:pPr indent="0" lvl="0" marL="0" rtl="0" algn="l">
              <a:spcBef>
                <a:spcPts val="0"/>
              </a:spcBef>
              <a:spcAft>
                <a:spcPts val="0"/>
              </a:spcAft>
              <a:buNone/>
            </a:pPr>
            <a:r>
              <a:rPr lang="fr-FR">
                <a:solidFill>
                  <a:schemeClr val="lt1"/>
                </a:solidFill>
              </a:rPr>
              <a:t>→  Un programme sur invitation uniquement, conçu pour mettre en relation les dirigeants d'entreprises, du secteur public et des industries réglementées avec les fournisseurs d'IA</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t/>
            </a:r>
            <a:endParaRPr b="1" sz="1100"/>
          </a:p>
        </p:txBody>
      </p:sp>
      <p:sp>
        <p:nvSpPr>
          <p:cNvPr id="455" name="Google Shape;455;p30"/>
          <p:cNvSpPr txBox="1"/>
          <p:nvPr>
            <p:ph idx="1" type="body"/>
          </p:nvPr>
        </p:nvSpPr>
        <p:spPr>
          <a:xfrm>
            <a:off x="561850" y="839800"/>
            <a:ext cx="6368400" cy="68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800">
                <a:solidFill>
                  <a:schemeClr val="lt2"/>
                </a:solidFill>
                <a:latin typeface="Arial Black"/>
                <a:ea typeface="Arial Black"/>
                <a:cs typeface="Arial Black"/>
                <a:sym typeface="Arial Black"/>
              </a:rPr>
              <a:t>LE SALON MONDIAL DE LA TECH EN EUROPE</a:t>
            </a:r>
            <a:endParaRPr sz="2200"/>
          </a:p>
        </p:txBody>
      </p:sp>
      <p:sp>
        <p:nvSpPr>
          <p:cNvPr id="456" name="Google Shape;456;p30"/>
          <p:cNvSpPr txBox="1"/>
          <p:nvPr>
            <p:ph idx="3" type="body"/>
          </p:nvPr>
        </p:nvSpPr>
        <p:spPr>
          <a:xfrm>
            <a:off x="463690" y="1557863"/>
            <a:ext cx="6465300" cy="3714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Décideurs tech, dirigeants grands groupes, gouvernements, startups, scale-ups, investisseurs, experts IA, cybersécurité et cloud</a:t>
            </a:r>
            <a:endParaRPr sz="1300"/>
          </a:p>
          <a:p>
            <a:pPr indent="-233750" lvl="1" marL="288000" rtl="0" algn="l">
              <a:spcBef>
                <a:spcPts val="0"/>
              </a:spcBef>
              <a:spcAft>
                <a:spcPts val="0"/>
              </a:spcAft>
              <a:buSzPts val="1300"/>
              <a:buChar char="•"/>
            </a:pPr>
            <a:r>
              <a:rPr b="1" lang="fr-FR" sz="1300"/>
              <a:t>Taille / portée :</a:t>
            </a:r>
            <a:r>
              <a:rPr lang="fr-FR" sz="1300"/>
              <a:t> 60 000+ participants (</a:t>
            </a:r>
            <a:r>
              <a:rPr lang="fr-FR" sz="1300"/>
              <a:t>Événement tech mondial majeur)</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Global tech expo, conférences, keynotes, démonstrations technologiques, zones startups, networking international</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Version européenne de la franchise mondiale GITEX / Focus : IA, cybersécurité, cloud, data, infrastructures numériques, deeptech</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Maya Noel, CEO de France Digitale - Kazuhito Hadano, CEO de Sony Ventures - Ryan Fouty, Vice Président de Perplexity - Alberto Bacchiega, Director, Digital Platforms Directorate, European Commission - Yannick Marin Isambert, Head of Airbus Central Innovation &amp; Head of Corporate Innovation &amp; Governance., Airbus,...</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lt2"/>
                </a:solidFill>
              </a:rPr>
              <a:t>Intérêts stratégiques :</a:t>
            </a:r>
            <a:endParaRPr b="1" sz="1300" u="sng"/>
          </a:p>
          <a:p>
            <a:pPr indent="-311150" lvl="0" marL="457200" rtl="0" algn="l">
              <a:spcBef>
                <a:spcPts val="0"/>
              </a:spcBef>
              <a:spcAft>
                <a:spcPts val="0"/>
              </a:spcAft>
              <a:buSzPts val="1300"/>
              <a:buChar char="-"/>
            </a:pPr>
            <a:r>
              <a:rPr lang="fr-FR" sz="1300"/>
              <a:t>Renforcer la crédibilité sur les sujets IA, cybersécurité et infrastructures digitales</a:t>
            </a:r>
            <a:endParaRPr sz="1300"/>
          </a:p>
          <a:p>
            <a:pPr indent="-311150" lvl="0" marL="457200" rtl="0" algn="l">
              <a:spcBef>
                <a:spcPts val="0"/>
              </a:spcBef>
              <a:spcAft>
                <a:spcPts val="0"/>
              </a:spcAft>
              <a:buSzPts val="1300"/>
              <a:buChar char="-"/>
            </a:pPr>
            <a:r>
              <a:rPr lang="fr-FR" sz="1300"/>
              <a:t>Identifier des partenaires technologiques stratégiques à grande échelle</a:t>
            </a:r>
            <a:endParaRPr sz="1300"/>
          </a:p>
        </p:txBody>
      </p:sp>
      <p:pic>
        <p:nvPicPr>
          <p:cNvPr id="457" name="Google Shape;457;p30"/>
          <p:cNvPicPr preferRelativeResize="0"/>
          <p:nvPr/>
        </p:nvPicPr>
        <p:blipFill rotWithShape="1">
          <a:blip r:embed="rId4">
            <a:alphaModFix/>
          </a:blip>
          <a:srcRect b="20838" l="0" r="0" t="22674"/>
          <a:stretch/>
        </p:blipFill>
        <p:spPr>
          <a:xfrm>
            <a:off x="785425" y="71475"/>
            <a:ext cx="1360083" cy="768325"/>
          </a:xfrm>
          <a:prstGeom prst="rect">
            <a:avLst/>
          </a:prstGeom>
          <a:noFill/>
          <a:ln>
            <a:noFill/>
          </a:ln>
        </p:spPr>
      </p:pic>
      <p:sp>
        <p:nvSpPr>
          <p:cNvPr id="458" name="Google Shape;458;p30"/>
          <p:cNvSpPr txBox="1"/>
          <p:nvPr/>
        </p:nvSpPr>
        <p:spPr>
          <a:xfrm>
            <a:off x="7735250" y="5336892"/>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https://www.gitexeurope.com/</a:t>
            </a:r>
            <a:r>
              <a:rPr b="1" lang="fr-FR" sz="1300">
                <a:solidFill>
                  <a:schemeClr val="lt1"/>
                </a:solidFill>
              </a:rPr>
              <a:t> </a:t>
            </a:r>
            <a:endParaRPr b="1" sz="1300">
              <a:solidFill>
                <a:schemeClr val="lt1"/>
              </a:solidFill>
            </a:endParaRPr>
          </a:p>
        </p:txBody>
      </p:sp>
      <p:sp>
        <p:nvSpPr>
          <p:cNvPr id="459" name="Google Shape;459;p30"/>
          <p:cNvSpPr/>
          <p:nvPr/>
        </p:nvSpPr>
        <p:spPr>
          <a:xfrm>
            <a:off x="561850" y="1276050"/>
            <a:ext cx="3793500" cy="366600"/>
          </a:xfrm>
          <a:prstGeom prst="roundRect">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0" name="Google Shape;460;p30"/>
          <p:cNvSpPr/>
          <p:nvPr/>
        </p:nvSpPr>
        <p:spPr>
          <a:xfrm>
            <a:off x="725050" y="137365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30 juin au 1er juillet</a:t>
            </a:r>
            <a:r>
              <a:rPr lang="fr-FR" sz="1100">
                <a:solidFill>
                  <a:schemeClr val="lt1"/>
                </a:solidFill>
                <a:latin typeface="Inter"/>
                <a:ea typeface="Inter"/>
                <a:cs typeface="Inter"/>
                <a:sym typeface="Inter"/>
              </a:rPr>
              <a:t> 2026 - à Berlin en Allemagne</a:t>
            </a:r>
            <a:endParaRPr b="0" i="0" sz="1100" u="none" cap="none" strike="noStrike">
              <a:solidFill>
                <a:schemeClr val="lt1"/>
              </a:solidFill>
            </a:endParaRPr>
          </a:p>
        </p:txBody>
      </p:sp>
      <p:sp>
        <p:nvSpPr>
          <p:cNvPr id="461" name="Google Shape;461;p30"/>
          <p:cNvSpPr/>
          <p:nvPr/>
        </p:nvSpPr>
        <p:spPr>
          <a:xfrm>
            <a:off x="561850" y="5385725"/>
            <a:ext cx="4399200" cy="366600"/>
          </a:xfrm>
          <a:prstGeom prst="roundRect">
            <a:avLst>
              <a:gd fmla="val 50000" name="adj"/>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462" name="Google Shape;462;p30"/>
          <p:cNvPicPr preferRelativeResize="0"/>
          <p:nvPr/>
        </p:nvPicPr>
        <p:blipFill rotWithShape="1">
          <a:blip r:embed="rId6">
            <a:alphaModFix/>
          </a:blip>
          <a:srcRect b="0" l="0" r="0" t="0"/>
          <a:stretch/>
        </p:blipFill>
        <p:spPr>
          <a:xfrm>
            <a:off x="703543" y="5475166"/>
            <a:ext cx="177205" cy="141684"/>
          </a:xfrm>
          <a:prstGeom prst="rect">
            <a:avLst/>
          </a:prstGeom>
          <a:noFill/>
          <a:ln>
            <a:noFill/>
          </a:ln>
        </p:spPr>
      </p:pic>
      <p:sp>
        <p:nvSpPr>
          <p:cNvPr id="463" name="Google Shape;463;p30"/>
          <p:cNvSpPr/>
          <p:nvPr/>
        </p:nvSpPr>
        <p:spPr>
          <a:xfrm>
            <a:off x="1022425" y="54875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Accès à un écosystème global (Europe, Middle East, US, Asie)</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1"/>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469" name="Google Shape;469;p31"/>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470" name="Google Shape;470;p31"/>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471" name="Google Shape;471;p31"/>
          <p:cNvSpPr/>
          <p:nvPr/>
        </p:nvSpPr>
        <p:spPr>
          <a:xfrm>
            <a:off x="7130365" y="424925"/>
            <a:ext cx="4710000" cy="5406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2" name="Google Shape;472;p31"/>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3" name="Google Shape;473;p31"/>
          <p:cNvSpPr/>
          <p:nvPr/>
        </p:nvSpPr>
        <p:spPr>
          <a:xfrm>
            <a:off x="11297381" y="379126"/>
            <a:ext cx="540000" cy="540000"/>
          </a:xfrm>
          <a:prstGeom prst="ellipse">
            <a:avLst/>
          </a:prstGeom>
          <a:solidFill>
            <a:schemeClr val="lt2"/>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474" name="Google Shape;474;p31"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475" name="Google Shape;475;p31"/>
          <p:cNvSpPr txBox="1"/>
          <p:nvPr>
            <p:ph idx="1" type="body"/>
          </p:nvPr>
        </p:nvSpPr>
        <p:spPr>
          <a:xfrm>
            <a:off x="7069235" y="6624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476" name="Google Shape;476;p31"/>
          <p:cNvSpPr txBox="1"/>
          <p:nvPr/>
        </p:nvSpPr>
        <p:spPr>
          <a:xfrm>
            <a:off x="7336350" y="1132425"/>
            <a:ext cx="4154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rtl="0" algn="l">
              <a:lnSpc>
                <a:spcPct val="115000"/>
              </a:lnSpc>
              <a:spcBef>
                <a:spcPts val="0"/>
              </a:spcBef>
              <a:spcAft>
                <a:spcPts val="0"/>
              </a:spcAft>
              <a:buNone/>
            </a:pPr>
            <a:r>
              <a:rPr lang="fr-FR">
                <a:solidFill>
                  <a:schemeClr val="lt1"/>
                </a:solidFill>
              </a:rPr>
              <a:t>Positionner le Crédit Agricole comme une banque européenne connectée aux technologies mondiales, tout en jouant un rôle clé dans le financement de la croissance des startups et des fonds de capital-risque internationaux.</a:t>
            </a:r>
            <a:endParaRPr>
              <a:solidFill>
                <a:schemeClr val="lt1"/>
              </a:solidFill>
            </a:endParaRPr>
          </a:p>
        </p:txBody>
      </p:sp>
      <p:sp>
        <p:nvSpPr>
          <p:cNvPr id="477" name="Google Shape;477;p31"/>
          <p:cNvSpPr txBox="1"/>
          <p:nvPr/>
        </p:nvSpPr>
        <p:spPr>
          <a:xfrm>
            <a:off x="7362819" y="2828342"/>
            <a:ext cx="4154400" cy="275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a:solidFill>
                <a:schemeClr val="lt1"/>
              </a:solidFill>
            </a:endParaRPr>
          </a:p>
          <a:p>
            <a:pPr indent="-118600" lvl="1" marL="144000" rtl="0" algn="l">
              <a:spcBef>
                <a:spcPts val="0"/>
              </a:spcBef>
              <a:spcAft>
                <a:spcPts val="0"/>
              </a:spcAft>
              <a:buClr>
                <a:schemeClr val="lt1"/>
              </a:buClr>
              <a:buSzPts val="1400"/>
              <a:buChar char="•"/>
            </a:pPr>
            <a:r>
              <a:rPr b="1" lang="fr-FR">
                <a:solidFill>
                  <a:schemeClr val="lt1"/>
                </a:solidFill>
              </a:rPr>
              <a:t>Prendre la parole sur une table ronde avec une fintech européenne</a:t>
            </a:r>
            <a:endParaRPr b="1">
              <a:solidFill>
                <a:schemeClr val="lt1"/>
              </a:solidFill>
            </a:endParaRPr>
          </a:p>
          <a:p>
            <a:pPr indent="0" lvl="0" marL="0" rtl="0" algn="l">
              <a:spcBef>
                <a:spcPts val="0"/>
              </a:spcBef>
              <a:spcAft>
                <a:spcPts val="0"/>
              </a:spcAft>
              <a:buNone/>
            </a:pPr>
            <a:r>
              <a:rPr lang="fr-FR">
                <a:solidFill>
                  <a:schemeClr val="lt1"/>
                </a:solidFill>
              </a:rPr>
              <a:t>→ Rôle des banques dans l’accompagnement des scale-ups globales</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Participer au side event de Mastercard “Fintech &amp; Impact”</a:t>
            </a:r>
            <a:endParaRPr b="1">
              <a:solidFill>
                <a:schemeClr val="lt1"/>
              </a:solidFill>
            </a:endParaRPr>
          </a:p>
          <a:p>
            <a:pPr indent="-240100" lvl="1" marL="288000" marR="0" rtl="0" algn="l">
              <a:lnSpc>
                <a:spcPct val="100000"/>
              </a:lnSpc>
              <a:spcBef>
                <a:spcPts val="0"/>
              </a:spcBef>
              <a:spcAft>
                <a:spcPts val="0"/>
              </a:spcAft>
              <a:buClr>
                <a:schemeClr val="lt1"/>
              </a:buClr>
              <a:buSzPts val="1400"/>
              <a:buChar char="•"/>
            </a:pPr>
            <a:r>
              <a:rPr b="1" lang="fr-FR">
                <a:solidFill>
                  <a:schemeClr val="lt1"/>
                </a:solidFill>
              </a:rPr>
              <a:t>Organiser des meetings ciblés (VC, scale-ups et corporate tech)</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générer du dealflow qualifié et renforcer les partenariats stratégiques</a:t>
            </a:r>
            <a:endParaRPr b="1">
              <a:solidFill>
                <a:schemeClr val="lt1"/>
              </a:solidFill>
            </a:endParaRPr>
          </a:p>
          <a:p>
            <a:pPr indent="0" lvl="0" marL="0" rtl="0" algn="l">
              <a:spcBef>
                <a:spcPts val="0"/>
              </a:spcBef>
              <a:spcAft>
                <a:spcPts val="0"/>
              </a:spcAft>
              <a:buNone/>
            </a:pPr>
            <a:r>
              <a:t/>
            </a:r>
            <a:endParaRPr b="1" sz="1100"/>
          </a:p>
        </p:txBody>
      </p:sp>
      <p:sp>
        <p:nvSpPr>
          <p:cNvPr id="478" name="Google Shape;478;p31"/>
          <p:cNvSpPr txBox="1"/>
          <p:nvPr>
            <p:ph idx="1" type="body"/>
          </p:nvPr>
        </p:nvSpPr>
        <p:spPr>
          <a:xfrm>
            <a:off x="477034" y="707100"/>
            <a:ext cx="65196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500">
                <a:solidFill>
                  <a:schemeClr val="lt2"/>
                </a:solidFill>
                <a:latin typeface="Arial Black"/>
                <a:ea typeface="Arial Black"/>
                <a:cs typeface="Arial Black"/>
                <a:sym typeface="Arial Black"/>
              </a:rPr>
              <a:t>L'ÉVÉNEMENT LE + CENTRÉ SUR LES FONDATEURS</a:t>
            </a:r>
            <a:endParaRPr sz="1500">
              <a:solidFill>
                <a:schemeClr val="lt2"/>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500">
                <a:solidFill>
                  <a:schemeClr val="lt2"/>
                </a:solidFill>
                <a:latin typeface="Arial Black"/>
                <a:ea typeface="Arial Black"/>
                <a:cs typeface="Arial Black"/>
                <a:sym typeface="Arial Black"/>
              </a:rPr>
              <a:t>ET LE PLUS GRAND RASSEMBLEMENT DE CAPITAL-RISQUE</a:t>
            </a:r>
            <a:endParaRPr sz="1500"/>
          </a:p>
          <a:p>
            <a:pPr indent="0" lvl="0" marL="0" rtl="0" algn="l">
              <a:lnSpc>
                <a:spcPct val="115000"/>
              </a:lnSpc>
              <a:spcBef>
                <a:spcPts val="400"/>
              </a:spcBef>
              <a:spcAft>
                <a:spcPts val="0"/>
              </a:spcAft>
              <a:buNone/>
            </a:pPr>
            <a:r>
              <a:t/>
            </a:r>
            <a:endParaRPr b="0" sz="1150">
              <a:solidFill>
                <a:srgbClr val="252525"/>
              </a:solidFill>
              <a:highlight>
                <a:srgbClr val="FFFFFF"/>
              </a:highlight>
              <a:latin typeface="Roboto"/>
              <a:ea typeface="Roboto"/>
              <a:cs typeface="Roboto"/>
              <a:sym typeface="Roboto"/>
            </a:endParaRPr>
          </a:p>
          <a:p>
            <a:pPr indent="0" lvl="0" marL="0" marR="0" rtl="0" algn="l">
              <a:lnSpc>
                <a:spcPct val="100000"/>
              </a:lnSpc>
              <a:spcBef>
                <a:spcPts val="400"/>
              </a:spcBef>
              <a:spcAft>
                <a:spcPts val="0"/>
              </a:spcAft>
              <a:buClr>
                <a:schemeClr val="dk1"/>
              </a:buClr>
              <a:buSzPts val="2000"/>
              <a:buNone/>
            </a:pPr>
            <a:r>
              <a:t/>
            </a:r>
            <a:endParaRPr sz="1800"/>
          </a:p>
        </p:txBody>
      </p:sp>
      <p:sp>
        <p:nvSpPr>
          <p:cNvPr id="479" name="Google Shape;479;p31"/>
          <p:cNvSpPr txBox="1"/>
          <p:nvPr>
            <p:ph idx="3" type="body"/>
          </p:nvPr>
        </p:nvSpPr>
        <p:spPr>
          <a:xfrm>
            <a:off x="464925" y="1627295"/>
            <a:ext cx="6465300" cy="4418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Décideurs tech, </a:t>
            </a:r>
            <a:r>
              <a:rPr lang="fr-FR" sz="1300"/>
              <a:t>Fondateurs de startups early stage à scale-ups, fonds d’investissement internationaux, corporate venture</a:t>
            </a:r>
            <a:endParaRPr sz="1300"/>
          </a:p>
          <a:p>
            <a:pPr indent="-233750" lvl="1" marL="288000" rtl="0" algn="l">
              <a:spcBef>
                <a:spcPts val="0"/>
              </a:spcBef>
              <a:spcAft>
                <a:spcPts val="0"/>
              </a:spcAft>
              <a:buSzPts val="1300"/>
              <a:buChar char="•"/>
            </a:pPr>
            <a:r>
              <a:rPr b="1" lang="fr-FR" sz="1300"/>
              <a:t>Taille / portée :</a:t>
            </a:r>
            <a:r>
              <a:rPr lang="fr-FR" sz="1300"/>
              <a:t> 12 000+ participants (</a:t>
            </a:r>
            <a:r>
              <a:rPr lang="fr-FR" sz="1300"/>
              <a:t>Très forte concentration VC)</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Pitching sessions / startup matchmaking, 1to1 meetings, side events, startup village,...</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Événement extrêmement “founder-first” (positionnement rare en Europe) / Networking ultra ciblé : deals, fundraising, co-investissements.</a:t>
            </a:r>
            <a:endParaRPr sz="1300"/>
          </a:p>
          <a:p>
            <a:pPr indent="-233750" lvl="1" marL="288000" marR="0" rtl="0" algn="l">
              <a:lnSpc>
                <a:spcPct val="100000"/>
              </a:lnSpc>
              <a:spcBef>
                <a:spcPts val="0"/>
              </a:spcBef>
              <a:spcAft>
                <a:spcPts val="0"/>
              </a:spcAft>
              <a:buSzPts val="1300"/>
              <a:buChar char="•"/>
            </a:pPr>
            <a:r>
              <a:rPr b="1" lang="fr-FR" sz="1300"/>
              <a:t>Speakers phares en 2026 : </a:t>
            </a:r>
            <a:r>
              <a:rPr lang="fr-FR" sz="1300">
                <a:uFill>
                  <a:noFill/>
                </a:uFill>
                <a:hlinkClick r:id="rId4"/>
              </a:rPr>
              <a:t>Anton Osika, Founder &amp; CEO Lovable - </a:t>
            </a:r>
            <a:r>
              <a:rPr lang="fr-FR" sz="1300"/>
              <a:t>Lucy Liu, Co-founder &amp; President Airwallex - </a:t>
            </a:r>
            <a:r>
              <a:rPr lang="fr-FR" sz="1300">
                <a:uFill>
                  <a:noFill/>
                </a:uFill>
                <a:hlinkClick r:id="rId5"/>
              </a:rPr>
              <a:t>Markus Villig, Founder &amp; CEO Bolt - </a:t>
            </a:r>
            <a:r>
              <a:rPr lang="fr-FR" sz="1300">
                <a:uFill>
                  <a:noFill/>
                </a:uFill>
                <a:hlinkClick r:id="rId6"/>
              </a:rPr>
              <a:t>Marc Lemaître, Director-General DG RTD European Commission - </a:t>
            </a:r>
            <a:r>
              <a:rPr lang="fr-FR" sz="1300">
                <a:uFill>
                  <a:noFill/>
                </a:uFill>
                <a:hlinkClick r:id="rId7"/>
              </a:rPr>
              <a:t>Tim Zheng, Co-founder &amp; CEO </a:t>
            </a:r>
            <a:r>
              <a:rPr lang="fr-FR" sz="1300">
                <a:uFill>
                  <a:noFill/>
                </a:uFill>
                <a:hlinkClick r:id="rId8"/>
              </a:rPr>
              <a:t>Apollo.io</a:t>
            </a:r>
            <a:r>
              <a:rPr lang="fr-FR"/>
              <a:t> - </a:t>
            </a:r>
            <a:r>
              <a:rPr lang="fr-FR" sz="1300">
                <a:uFill>
                  <a:noFill/>
                </a:uFill>
                <a:hlinkClick r:id="rId9"/>
              </a:rPr>
              <a:t>Eileen O'Mara, Chief Revenue Officer Stripe,...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lt2"/>
                </a:solidFill>
              </a:rPr>
              <a:t>Intérêts stratégiques :</a:t>
            </a:r>
            <a:endParaRPr b="1" sz="1300" u="sng"/>
          </a:p>
          <a:p>
            <a:pPr indent="-311150" lvl="0" marL="457200" rtl="0" algn="l">
              <a:spcBef>
                <a:spcPts val="0"/>
              </a:spcBef>
              <a:spcAft>
                <a:spcPts val="0"/>
              </a:spcAft>
              <a:buSzPts val="1300"/>
              <a:buChar char="-"/>
            </a:pPr>
            <a:r>
              <a:rPr lang="fr-FR" sz="1300"/>
              <a:t>Organisé par Slush (association)</a:t>
            </a:r>
            <a:endParaRPr sz="1300"/>
          </a:p>
          <a:p>
            <a:pPr indent="-311150" lvl="0" marL="457200" rtl="0" algn="l">
              <a:spcBef>
                <a:spcPts val="0"/>
              </a:spcBef>
              <a:spcAft>
                <a:spcPts val="0"/>
              </a:spcAft>
              <a:buSzPts val="1300"/>
              <a:buChar char="-"/>
            </a:pPr>
            <a:r>
              <a:rPr lang="fr-FR" sz="1300"/>
              <a:t>Détection de tendances : IA, climate tech, fintech, deeptech</a:t>
            </a:r>
            <a:endParaRPr sz="1300"/>
          </a:p>
          <a:p>
            <a:pPr indent="-311150" lvl="0" marL="457200" rtl="0" algn="l">
              <a:spcBef>
                <a:spcPts val="0"/>
              </a:spcBef>
              <a:spcAft>
                <a:spcPts val="0"/>
              </a:spcAft>
              <a:buSzPts val="1300"/>
              <a:buChar char="-"/>
            </a:pPr>
            <a:r>
              <a:rPr lang="fr-FR" sz="1300"/>
              <a:t>Accès direct à des startups en levée de fonds (early + growth)</a:t>
            </a:r>
            <a:endParaRPr sz="1300"/>
          </a:p>
        </p:txBody>
      </p:sp>
      <p:pic>
        <p:nvPicPr>
          <p:cNvPr id="480" name="Google Shape;480;p31"/>
          <p:cNvPicPr preferRelativeResize="0"/>
          <p:nvPr/>
        </p:nvPicPr>
        <p:blipFill>
          <a:blip r:embed="rId10">
            <a:alphaModFix/>
          </a:blip>
          <a:stretch>
            <a:fillRect/>
          </a:stretch>
        </p:blipFill>
        <p:spPr>
          <a:xfrm>
            <a:off x="572617" y="234050"/>
            <a:ext cx="1110351" cy="370117"/>
          </a:xfrm>
          <a:prstGeom prst="rect">
            <a:avLst/>
          </a:prstGeom>
          <a:noFill/>
          <a:ln>
            <a:noFill/>
          </a:ln>
        </p:spPr>
      </p:pic>
      <p:sp>
        <p:nvSpPr>
          <p:cNvPr id="481" name="Google Shape;481;p31"/>
          <p:cNvSpPr txBox="1"/>
          <p:nvPr/>
        </p:nvSpPr>
        <p:spPr>
          <a:xfrm>
            <a:off x="7807950" y="538062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11">
                  <a:extLst>
                    <a:ext uri="{A12FA001-AC4F-418D-AE19-62706E023703}">
                      <ahyp:hlinkClr val="tx"/>
                    </a:ext>
                  </a:extLst>
                </a:hlinkClick>
              </a:rPr>
              <a:t>https://slush.org/</a:t>
            </a:r>
            <a:r>
              <a:rPr b="1" lang="fr-FR" sz="1300">
                <a:solidFill>
                  <a:schemeClr val="lt1"/>
                </a:solidFill>
              </a:rPr>
              <a:t> </a:t>
            </a:r>
            <a:endParaRPr b="1" sz="1300">
              <a:solidFill>
                <a:schemeClr val="lt1"/>
              </a:solidFill>
            </a:endParaRPr>
          </a:p>
        </p:txBody>
      </p:sp>
      <p:sp>
        <p:nvSpPr>
          <p:cNvPr id="482" name="Google Shape;482;p31"/>
          <p:cNvSpPr/>
          <p:nvPr/>
        </p:nvSpPr>
        <p:spPr>
          <a:xfrm>
            <a:off x="561850" y="1352250"/>
            <a:ext cx="3542700" cy="366600"/>
          </a:xfrm>
          <a:prstGeom prst="roundRect">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3" name="Google Shape;483;p31"/>
          <p:cNvSpPr/>
          <p:nvPr/>
        </p:nvSpPr>
        <p:spPr>
          <a:xfrm>
            <a:off x="725050" y="144985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18 au 19 novembre 2026 - à Helsinki en Finlande</a:t>
            </a:r>
            <a:endParaRPr b="0" i="0" sz="1100" u="none" cap="none" strike="noStrike">
              <a:solidFill>
                <a:schemeClr val="lt1"/>
              </a:solidFill>
            </a:endParaRPr>
          </a:p>
        </p:txBody>
      </p:sp>
      <p:sp>
        <p:nvSpPr>
          <p:cNvPr id="484" name="Google Shape;484;p31"/>
          <p:cNvSpPr/>
          <p:nvPr/>
        </p:nvSpPr>
        <p:spPr>
          <a:xfrm>
            <a:off x="561850" y="5526008"/>
            <a:ext cx="4399200" cy="366600"/>
          </a:xfrm>
          <a:prstGeom prst="roundRect">
            <a:avLst>
              <a:gd fmla="val 50000" name="adj"/>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485" name="Google Shape;485;p31"/>
          <p:cNvPicPr preferRelativeResize="0"/>
          <p:nvPr/>
        </p:nvPicPr>
        <p:blipFill rotWithShape="1">
          <a:blip r:embed="rId12">
            <a:alphaModFix/>
          </a:blip>
          <a:srcRect b="0" l="0" r="0" t="0"/>
          <a:stretch/>
        </p:blipFill>
        <p:spPr>
          <a:xfrm>
            <a:off x="703543" y="5615450"/>
            <a:ext cx="177205" cy="141684"/>
          </a:xfrm>
          <a:prstGeom prst="rect">
            <a:avLst/>
          </a:prstGeom>
          <a:noFill/>
          <a:ln>
            <a:noFill/>
          </a:ln>
        </p:spPr>
      </p:pic>
      <p:sp>
        <p:nvSpPr>
          <p:cNvPr id="486" name="Google Shape;486;p31"/>
          <p:cNvSpPr/>
          <p:nvPr/>
        </p:nvSpPr>
        <p:spPr>
          <a:xfrm>
            <a:off x="1022425" y="5627842"/>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Opportunité de visibilité auprès des VC internationaux</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2"/>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492" name="Google Shape;492;p32"/>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493" name="Google Shape;493;p32"/>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494" name="Google Shape;494;p32"/>
          <p:cNvSpPr/>
          <p:nvPr/>
        </p:nvSpPr>
        <p:spPr>
          <a:xfrm>
            <a:off x="7130365" y="424925"/>
            <a:ext cx="4710000" cy="5406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5" name="Google Shape;495;p32"/>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6" name="Google Shape;496;p32"/>
          <p:cNvSpPr/>
          <p:nvPr/>
        </p:nvSpPr>
        <p:spPr>
          <a:xfrm>
            <a:off x="11297381" y="379126"/>
            <a:ext cx="540000" cy="540000"/>
          </a:xfrm>
          <a:prstGeom prst="ellipse">
            <a:avLst/>
          </a:prstGeom>
          <a:solidFill>
            <a:schemeClr val="lt2"/>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497" name="Google Shape;497;p32"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498" name="Google Shape;498;p32"/>
          <p:cNvSpPr txBox="1"/>
          <p:nvPr>
            <p:ph idx="1" type="body"/>
          </p:nvPr>
        </p:nvSpPr>
        <p:spPr>
          <a:xfrm>
            <a:off x="7450235" y="510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499" name="Google Shape;499;p32"/>
          <p:cNvSpPr txBox="1"/>
          <p:nvPr/>
        </p:nvSpPr>
        <p:spPr>
          <a:xfrm>
            <a:off x="7260150" y="913828"/>
            <a:ext cx="41544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marR="0" rtl="0" algn="l">
              <a:lnSpc>
                <a:spcPct val="115000"/>
              </a:lnSpc>
              <a:spcBef>
                <a:spcPts val="0"/>
              </a:spcBef>
              <a:spcAft>
                <a:spcPts val="0"/>
              </a:spcAft>
              <a:buNone/>
            </a:pPr>
            <a:r>
              <a:rPr lang="fr-FR">
                <a:solidFill>
                  <a:schemeClr val="lt1"/>
                </a:solidFill>
              </a:rPr>
              <a:t>Positionner le Crédit Agricole comme une banque européenne connectée aux écosystèmes technologiques mondiaux, capable de financer, structurer et sécuriser la croissance des startups et scale-ups dans les secteurs de l’IA, de la fintech.</a:t>
            </a:r>
            <a:endParaRPr>
              <a:solidFill>
                <a:schemeClr val="lt1"/>
              </a:solidFill>
            </a:endParaRPr>
          </a:p>
        </p:txBody>
      </p:sp>
      <p:sp>
        <p:nvSpPr>
          <p:cNvPr id="500" name="Google Shape;500;p32"/>
          <p:cNvSpPr txBox="1"/>
          <p:nvPr/>
        </p:nvSpPr>
        <p:spPr>
          <a:xfrm>
            <a:off x="7286625" y="2652700"/>
            <a:ext cx="44361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u="sng">
              <a:solidFill>
                <a:schemeClr val="lt1"/>
              </a:solidFill>
            </a:endParaRPr>
          </a:p>
          <a:p>
            <a:pPr indent="-118600" lvl="1" marL="144000" marR="0" rtl="0" algn="l">
              <a:lnSpc>
                <a:spcPct val="100000"/>
              </a:lnSpc>
              <a:spcBef>
                <a:spcPts val="0"/>
              </a:spcBef>
              <a:spcAft>
                <a:spcPts val="0"/>
              </a:spcAft>
              <a:buClr>
                <a:schemeClr val="lt1"/>
              </a:buClr>
              <a:buSzPts val="1400"/>
              <a:buChar char="•"/>
            </a:pPr>
            <a:r>
              <a:rPr b="1" lang="fr-FR">
                <a:solidFill>
                  <a:schemeClr val="lt1"/>
                </a:solidFill>
              </a:rPr>
              <a:t>Prendre la parole sur une table ronde VC &amp; founders</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Format très orienté “terrain”, avec une logique de partage d’expérience plutôt que de représentation institutionnelle</a:t>
            </a:r>
            <a:endParaRPr>
              <a:solidFill>
                <a:schemeClr val="lt1"/>
              </a:solidFill>
            </a:endParaRPr>
          </a:p>
          <a:p>
            <a:pPr indent="-118600" lvl="1" marL="144000" marR="0" rtl="0" algn="l">
              <a:lnSpc>
                <a:spcPct val="100000"/>
              </a:lnSpc>
              <a:spcBef>
                <a:spcPts val="0"/>
              </a:spcBef>
              <a:spcAft>
                <a:spcPts val="0"/>
              </a:spcAft>
              <a:buClr>
                <a:schemeClr val="lt1"/>
              </a:buClr>
              <a:buSzPts val="1400"/>
              <a:buChar char="•"/>
            </a:pPr>
            <a:r>
              <a:rPr b="1" lang="fr-FR">
                <a:solidFill>
                  <a:schemeClr val="lt1"/>
                </a:solidFill>
              </a:rPr>
              <a:t>Organiser un side event qui sera référencé et sélectionné par l’événement directement </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Exemple : Relation banques / fonds / startups dans les tours de financement</a:t>
            </a:r>
            <a:endParaRPr b="1">
              <a:solidFill>
                <a:schemeClr val="lt1"/>
              </a:solidFill>
            </a:endParaRPr>
          </a:p>
          <a:p>
            <a:pPr indent="-118600" lvl="1" marL="144000" rtl="0" algn="l">
              <a:spcBef>
                <a:spcPts val="0"/>
              </a:spcBef>
              <a:spcAft>
                <a:spcPts val="0"/>
              </a:spcAft>
              <a:buClr>
                <a:schemeClr val="lt1"/>
              </a:buClr>
              <a:buSzPts val="1400"/>
              <a:buChar char="•"/>
            </a:pPr>
            <a:r>
              <a:rPr b="1" lang="fr-FR">
                <a:solidFill>
                  <a:schemeClr val="lt1"/>
                </a:solidFill>
              </a:rPr>
              <a:t>Contenus social media &amp; brand awareness</a:t>
            </a:r>
            <a:endParaRPr b="1">
              <a:solidFill>
                <a:schemeClr val="lt1"/>
              </a:solidFill>
            </a:endParaRPr>
          </a:p>
        </p:txBody>
      </p:sp>
      <p:sp>
        <p:nvSpPr>
          <p:cNvPr id="501" name="Google Shape;501;p32"/>
          <p:cNvSpPr txBox="1"/>
          <p:nvPr>
            <p:ph idx="1" type="body"/>
          </p:nvPr>
        </p:nvSpPr>
        <p:spPr>
          <a:xfrm>
            <a:off x="527725" y="768075"/>
            <a:ext cx="56448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lt2"/>
                </a:solidFill>
                <a:latin typeface="Arial Black"/>
                <a:ea typeface="Arial Black"/>
                <a:cs typeface="Arial Black"/>
                <a:sym typeface="Arial Black"/>
              </a:rPr>
              <a:t>L’UNE DES CONFÉRENCES TECHNOLOGIQUES LES + INFLUENTES D’ITALIE</a:t>
            </a:r>
            <a:endParaRPr sz="2100"/>
          </a:p>
        </p:txBody>
      </p:sp>
      <p:sp>
        <p:nvSpPr>
          <p:cNvPr id="502" name="Google Shape;502;p32"/>
          <p:cNvSpPr txBox="1"/>
          <p:nvPr>
            <p:ph idx="3" type="body"/>
          </p:nvPr>
        </p:nvSpPr>
        <p:spPr>
          <a:xfrm>
            <a:off x="442900" y="1513026"/>
            <a:ext cx="6465300" cy="4298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Fondateurs, fonds de capital-risque internationaux, corporate venture capital, grands groupes tech et infrastructure (cloud, IA, data, fintech), acteurs publics et écosystèmes innovation européens, média tech et influenceurs spécialisés innovation</a:t>
            </a:r>
            <a:endParaRPr sz="1300"/>
          </a:p>
          <a:p>
            <a:pPr indent="-233750" lvl="1" marL="288000" rtl="0" algn="l">
              <a:spcBef>
                <a:spcPts val="0"/>
              </a:spcBef>
              <a:spcAft>
                <a:spcPts val="0"/>
              </a:spcAft>
              <a:buSzPts val="1300"/>
              <a:buChar char="•"/>
            </a:pPr>
            <a:r>
              <a:rPr b="1" lang="fr-FR" sz="1300"/>
              <a:t>Taille / portée :</a:t>
            </a:r>
            <a:r>
              <a:rPr lang="fr-FR" sz="1300"/>
              <a:t> 15 000+ participants (</a:t>
            </a:r>
            <a:r>
              <a:rPr lang="fr-FR" sz="1300"/>
              <a:t>1 500 startups et +1 500 investisseurs présents)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tables rondes, 1to1 (≈ 4 500 meetings), zones de démos, podcast live et contenus éditoriaux</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Anciennement Italian Tech Week, devenu Wave by Vento (rebranding international) </a:t>
            </a:r>
            <a:endParaRPr sz="1300"/>
          </a:p>
          <a:p>
            <a:pPr indent="-233750" lvl="1" marL="288000" marR="0" rtl="0" algn="l">
              <a:lnSpc>
                <a:spcPct val="100000"/>
              </a:lnSpc>
              <a:spcBef>
                <a:spcPts val="0"/>
              </a:spcBef>
              <a:spcAft>
                <a:spcPts val="0"/>
              </a:spcAft>
              <a:buSzPts val="1300"/>
              <a:buChar char="•"/>
            </a:pPr>
            <a:r>
              <a:rPr b="1" lang="fr-FR" sz="1300"/>
              <a:t>Speakers phares en 2026 :</a:t>
            </a:r>
            <a:r>
              <a:rPr lang="fr-FR" sz="1300"/>
              <a:t> JOHN ELKANN, CEO &amp; Chairman Exor, Stellantis &amp; Ferrari - DARIO AMODEI, CEO Anthropic - ANAS BIAD, Partner Sequoia - ANNE OSDOIT, CEO Moon Surgical - ELÉONORE CRESPO, Co-Founder and Co-CEO Pigment - JOE TSAI, Co-Founder &amp; Chairman Alibaba Group,...</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lt2"/>
                </a:solidFill>
              </a:rPr>
              <a:t>Intérêts stratégiques :</a:t>
            </a:r>
            <a:endParaRPr b="1" sz="1300" u="sng"/>
          </a:p>
          <a:p>
            <a:pPr indent="-311150" lvl="0" marL="457200" rtl="0" algn="l">
              <a:spcBef>
                <a:spcPts val="0"/>
              </a:spcBef>
              <a:spcAft>
                <a:spcPts val="0"/>
              </a:spcAft>
              <a:buSzPts val="1300"/>
              <a:buChar char="-"/>
            </a:pPr>
            <a:r>
              <a:rPr lang="fr-FR" sz="1300"/>
              <a:t>Organisé par Vento Ventures</a:t>
            </a:r>
            <a:endParaRPr sz="1300"/>
          </a:p>
          <a:p>
            <a:pPr indent="-311150" lvl="0" marL="457200" rtl="0" algn="l">
              <a:spcBef>
                <a:spcPts val="0"/>
              </a:spcBef>
              <a:spcAft>
                <a:spcPts val="0"/>
              </a:spcAft>
              <a:buSzPts val="1300"/>
              <a:buChar char="-"/>
            </a:pPr>
            <a:r>
              <a:rPr lang="fr-FR" sz="1300"/>
              <a:t>Opportunité de créer des partenariats VC / corporate / tech à l’échelle européenne</a:t>
            </a:r>
            <a:endParaRPr sz="1300"/>
          </a:p>
        </p:txBody>
      </p:sp>
      <p:pic>
        <p:nvPicPr>
          <p:cNvPr id="503" name="Google Shape;503;p32"/>
          <p:cNvPicPr preferRelativeResize="0"/>
          <p:nvPr/>
        </p:nvPicPr>
        <p:blipFill>
          <a:blip r:embed="rId4">
            <a:alphaModFix/>
          </a:blip>
          <a:stretch>
            <a:fillRect/>
          </a:stretch>
        </p:blipFill>
        <p:spPr>
          <a:xfrm>
            <a:off x="561850" y="61426"/>
            <a:ext cx="1113358" cy="630901"/>
          </a:xfrm>
          <a:prstGeom prst="rect">
            <a:avLst/>
          </a:prstGeom>
          <a:noFill/>
          <a:ln>
            <a:noFill/>
          </a:ln>
        </p:spPr>
      </p:pic>
      <p:sp>
        <p:nvSpPr>
          <p:cNvPr id="504" name="Google Shape;504;p32"/>
          <p:cNvSpPr txBox="1"/>
          <p:nvPr/>
        </p:nvSpPr>
        <p:spPr>
          <a:xfrm>
            <a:off x="7764600" y="529915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https://wavebyvento.com/</a:t>
            </a:r>
            <a:r>
              <a:rPr b="1" lang="fr-FR" sz="1300">
                <a:solidFill>
                  <a:schemeClr val="lt1"/>
                </a:solidFill>
              </a:rPr>
              <a:t> </a:t>
            </a:r>
            <a:endParaRPr b="1" sz="1300">
              <a:solidFill>
                <a:schemeClr val="lt1"/>
              </a:solidFill>
            </a:endParaRPr>
          </a:p>
        </p:txBody>
      </p:sp>
      <p:sp>
        <p:nvSpPr>
          <p:cNvPr id="505" name="Google Shape;505;p32"/>
          <p:cNvSpPr/>
          <p:nvPr/>
        </p:nvSpPr>
        <p:spPr>
          <a:xfrm>
            <a:off x="561850" y="1352250"/>
            <a:ext cx="2811900" cy="366600"/>
          </a:xfrm>
          <a:prstGeom prst="roundRect">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6" name="Google Shape;506;p32"/>
          <p:cNvSpPr/>
          <p:nvPr/>
        </p:nvSpPr>
        <p:spPr>
          <a:xfrm>
            <a:off x="725050" y="144985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7 au 9 octobre 2026 - à Turin en Italie</a:t>
            </a:r>
            <a:endParaRPr b="0" i="0" sz="1100" u="none" cap="none" strike="noStrike">
              <a:solidFill>
                <a:schemeClr val="lt1"/>
              </a:solidFill>
            </a:endParaRPr>
          </a:p>
        </p:txBody>
      </p:sp>
      <p:sp>
        <p:nvSpPr>
          <p:cNvPr id="507" name="Google Shape;507;p32"/>
          <p:cNvSpPr txBox="1"/>
          <p:nvPr/>
        </p:nvSpPr>
        <p:spPr>
          <a:xfrm>
            <a:off x="-1248000" y="1617175"/>
            <a:ext cx="3000000" cy="3849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Char char="-"/>
            </a:pPr>
            <a:r>
              <a:t/>
            </a:r>
            <a:endParaRPr sz="1300">
              <a:solidFill>
                <a:schemeClr val="dk1"/>
              </a:solidFill>
            </a:endParaRPr>
          </a:p>
        </p:txBody>
      </p:sp>
      <p:sp>
        <p:nvSpPr>
          <p:cNvPr id="508" name="Google Shape;508;p32"/>
          <p:cNvSpPr/>
          <p:nvPr/>
        </p:nvSpPr>
        <p:spPr>
          <a:xfrm>
            <a:off x="561850" y="5614317"/>
            <a:ext cx="5538300" cy="366600"/>
          </a:xfrm>
          <a:prstGeom prst="roundRect">
            <a:avLst>
              <a:gd fmla="val 50000" name="adj"/>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509" name="Google Shape;509;p32"/>
          <p:cNvPicPr preferRelativeResize="0"/>
          <p:nvPr/>
        </p:nvPicPr>
        <p:blipFill rotWithShape="1">
          <a:blip r:embed="rId6">
            <a:alphaModFix/>
          </a:blip>
          <a:srcRect b="0" l="0" r="0" t="0"/>
          <a:stretch/>
        </p:blipFill>
        <p:spPr>
          <a:xfrm>
            <a:off x="703543" y="5703766"/>
            <a:ext cx="177205" cy="141684"/>
          </a:xfrm>
          <a:prstGeom prst="rect">
            <a:avLst/>
          </a:prstGeom>
          <a:noFill/>
          <a:ln>
            <a:noFill/>
          </a:ln>
        </p:spPr>
      </p:pic>
      <p:sp>
        <p:nvSpPr>
          <p:cNvPr id="510" name="Google Shape;510;p32"/>
          <p:cNvSpPr/>
          <p:nvPr/>
        </p:nvSpPr>
        <p:spPr>
          <a:xfrm>
            <a:off x="1022425" y="57161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Renforcement de la visibilité auprès des fonds et corporate venture internationaux</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3"/>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516" name="Google Shape;516;p33"/>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517" name="Google Shape;517;p33"/>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518" name="Google Shape;518;p33"/>
          <p:cNvSpPr/>
          <p:nvPr/>
        </p:nvSpPr>
        <p:spPr>
          <a:xfrm>
            <a:off x="7130365" y="424925"/>
            <a:ext cx="4710000" cy="54063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33"/>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33"/>
          <p:cNvSpPr/>
          <p:nvPr/>
        </p:nvSpPr>
        <p:spPr>
          <a:xfrm>
            <a:off x="11297381" y="379126"/>
            <a:ext cx="540000" cy="540000"/>
          </a:xfrm>
          <a:prstGeom prst="ellipse">
            <a:avLst/>
          </a:prstGeom>
          <a:solidFill>
            <a:schemeClr val="lt2"/>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521" name="Google Shape;521;p33"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522" name="Google Shape;522;p33"/>
          <p:cNvSpPr txBox="1"/>
          <p:nvPr>
            <p:ph idx="1" type="body"/>
          </p:nvPr>
        </p:nvSpPr>
        <p:spPr>
          <a:xfrm>
            <a:off x="76026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Font typeface="Arial"/>
              <a:buNone/>
            </a:pPr>
            <a:r>
              <a:rPr lang="fr-FR" sz="1900">
                <a:solidFill>
                  <a:schemeClr val="lt1"/>
                </a:solidFill>
                <a:latin typeface="Arial Black"/>
                <a:ea typeface="Arial Black"/>
                <a:cs typeface="Arial Black"/>
                <a:sym typeface="Arial Black"/>
              </a:rPr>
              <a:t>RECOMMANDATIONS</a:t>
            </a:r>
            <a:endParaRPr sz="900">
              <a:solidFill>
                <a:schemeClr val="lt1"/>
              </a:solidFill>
            </a:endParaRPr>
          </a:p>
        </p:txBody>
      </p:sp>
      <p:sp>
        <p:nvSpPr>
          <p:cNvPr id="523" name="Google Shape;523;p33"/>
          <p:cNvSpPr txBox="1"/>
          <p:nvPr/>
        </p:nvSpPr>
        <p:spPr>
          <a:xfrm>
            <a:off x="7260150" y="927067"/>
            <a:ext cx="4154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lt1"/>
                </a:solidFill>
              </a:rPr>
              <a:t>Positionnement :</a:t>
            </a:r>
            <a:endParaRPr b="1">
              <a:solidFill>
                <a:schemeClr val="lt1"/>
              </a:solidFill>
            </a:endParaRPr>
          </a:p>
          <a:p>
            <a:pPr indent="0" lvl="0" marL="0" rtl="0" algn="l">
              <a:lnSpc>
                <a:spcPct val="115000"/>
              </a:lnSpc>
              <a:spcBef>
                <a:spcPts val="0"/>
              </a:spcBef>
              <a:spcAft>
                <a:spcPts val="0"/>
              </a:spcAft>
              <a:buNone/>
            </a:pPr>
            <a:r>
              <a:rPr lang="fr-FR">
                <a:solidFill>
                  <a:schemeClr val="lt1"/>
                </a:solidFill>
              </a:rPr>
              <a:t>Positionner le Crédit Agricole comme une banque européenne connectée aux écosystèmes technologiques mondiaux, capable de dialoguer avec les grandes plateformes, les investisseurs et les startups globales.</a:t>
            </a:r>
            <a:endParaRPr>
              <a:solidFill>
                <a:schemeClr val="lt1"/>
              </a:solidFill>
            </a:endParaRPr>
          </a:p>
        </p:txBody>
      </p:sp>
      <p:sp>
        <p:nvSpPr>
          <p:cNvPr id="524" name="Google Shape;524;p33"/>
          <p:cNvSpPr txBox="1"/>
          <p:nvPr/>
        </p:nvSpPr>
        <p:spPr>
          <a:xfrm>
            <a:off x="7286619" y="2500300"/>
            <a:ext cx="4154400" cy="301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lt1"/>
                </a:solidFill>
              </a:rPr>
              <a:t>Activations recommandées :</a:t>
            </a:r>
            <a:endParaRPr b="1" u="sng">
              <a:solidFill>
                <a:schemeClr val="lt1"/>
              </a:solidFill>
            </a:endParaRPr>
          </a:p>
          <a:p>
            <a:pPr indent="-118600" lvl="1" marL="144000" marR="0" rtl="0" algn="l">
              <a:lnSpc>
                <a:spcPct val="100000"/>
              </a:lnSpc>
              <a:spcBef>
                <a:spcPts val="0"/>
              </a:spcBef>
              <a:spcAft>
                <a:spcPts val="0"/>
              </a:spcAft>
              <a:buClr>
                <a:schemeClr val="lt1"/>
              </a:buClr>
              <a:buSzPts val="1400"/>
              <a:buChar char="•"/>
            </a:pPr>
            <a:r>
              <a:rPr b="1" lang="fr-FR">
                <a:solidFill>
                  <a:schemeClr val="lt1"/>
                </a:solidFill>
              </a:rPr>
              <a:t>Organiser des meetings multi-cibles (écosystème élargi)</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Activation orientée business et stratégie, dans un environnement très international et hybride</a:t>
            </a:r>
            <a:endParaRPr>
              <a:solidFill>
                <a:schemeClr val="lt1"/>
              </a:solidFill>
            </a:endParaRPr>
          </a:p>
          <a:p>
            <a:pPr indent="-118600" lvl="1" marL="144000" marR="0" rtl="0" algn="l">
              <a:lnSpc>
                <a:spcPct val="100000"/>
              </a:lnSpc>
              <a:spcBef>
                <a:spcPts val="0"/>
              </a:spcBef>
              <a:spcAft>
                <a:spcPts val="0"/>
              </a:spcAft>
              <a:buClr>
                <a:schemeClr val="lt1"/>
              </a:buClr>
              <a:buSzPts val="1400"/>
              <a:buChar char="•"/>
            </a:pPr>
            <a:r>
              <a:rPr b="1" lang="fr-FR">
                <a:solidFill>
                  <a:schemeClr val="lt1"/>
                </a:solidFill>
              </a:rPr>
              <a:t>Sponsoriser la Night Summit (événements dans toute la ville)</a:t>
            </a:r>
            <a:endParaRPr b="1">
              <a:solidFill>
                <a:schemeClr val="lt1"/>
              </a:solidFill>
            </a:endParaRPr>
          </a:p>
          <a:p>
            <a:pPr indent="0" lvl="0" marL="0" marR="0" rtl="0" algn="l">
              <a:lnSpc>
                <a:spcPct val="100000"/>
              </a:lnSpc>
              <a:spcBef>
                <a:spcPts val="0"/>
              </a:spcBef>
              <a:spcAft>
                <a:spcPts val="0"/>
              </a:spcAft>
              <a:buNone/>
            </a:pPr>
            <a:r>
              <a:rPr lang="fr-FR">
                <a:solidFill>
                  <a:schemeClr val="lt1"/>
                </a:solidFill>
              </a:rPr>
              <a:t>→ Opportunité de toucher le grand public en dehors du site principal</a:t>
            </a:r>
            <a:endParaRPr>
              <a:solidFill>
                <a:schemeClr val="lt1"/>
              </a:solidFill>
            </a:endParaRPr>
          </a:p>
          <a:p>
            <a:pPr indent="-118600" lvl="1" marL="144000" marR="0" rtl="0" algn="l">
              <a:lnSpc>
                <a:spcPct val="100000"/>
              </a:lnSpc>
              <a:spcBef>
                <a:spcPts val="0"/>
              </a:spcBef>
              <a:spcAft>
                <a:spcPts val="0"/>
              </a:spcAft>
              <a:buClr>
                <a:schemeClr val="lt1"/>
              </a:buClr>
              <a:buSzPts val="1400"/>
              <a:buChar char="•"/>
            </a:pPr>
            <a:r>
              <a:rPr b="1" lang="fr-FR">
                <a:solidFill>
                  <a:schemeClr val="lt1"/>
                </a:solidFill>
              </a:rPr>
              <a:t>Rejoindre le programme des ambassadeurs</a:t>
            </a:r>
            <a:endParaRPr b="1">
              <a:solidFill>
                <a:schemeClr val="lt1"/>
              </a:solidFill>
            </a:endParaRPr>
          </a:p>
          <a:p>
            <a:pPr indent="0" lvl="0" marL="0" rtl="0" algn="l">
              <a:spcBef>
                <a:spcPts val="0"/>
              </a:spcBef>
              <a:spcAft>
                <a:spcPts val="0"/>
              </a:spcAft>
              <a:buNone/>
            </a:pPr>
            <a:r>
              <a:rPr lang="fr-FR">
                <a:solidFill>
                  <a:schemeClr val="lt1"/>
                </a:solidFill>
              </a:rPr>
              <a:t>→ Accès privilégié de mise en relation et à des formats privés (VIP networking, introductions ciblées)</a:t>
            </a:r>
            <a:endParaRPr>
              <a:solidFill>
                <a:schemeClr val="lt1"/>
              </a:solidFill>
            </a:endParaRPr>
          </a:p>
        </p:txBody>
      </p:sp>
      <p:sp>
        <p:nvSpPr>
          <p:cNvPr id="525" name="Google Shape;525;p33"/>
          <p:cNvSpPr txBox="1"/>
          <p:nvPr>
            <p:ph idx="1" type="body"/>
          </p:nvPr>
        </p:nvSpPr>
        <p:spPr>
          <a:xfrm>
            <a:off x="461425" y="919125"/>
            <a:ext cx="6519600" cy="37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900">
                <a:solidFill>
                  <a:schemeClr val="lt2"/>
                </a:solidFill>
                <a:latin typeface="Arial Black"/>
                <a:ea typeface="Arial Black"/>
                <a:cs typeface="Arial Black"/>
                <a:sym typeface="Arial Black"/>
              </a:rPr>
              <a:t>LE SALON MONDIAL DE LA TECH EN EUROPE</a:t>
            </a:r>
            <a:endParaRPr sz="1900">
              <a:solidFill>
                <a:schemeClr val="lt2"/>
              </a:solidFill>
              <a:latin typeface="Arial Black"/>
              <a:ea typeface="Arial Black"/>
              <a:cs typeface="Arial Black"/>
              <a:sym typeface="Arial Black"/>
            </a:endParaRPr>
          </a:p>
        </p:txBody>
      </p:sp>
      <p:sp>
        <p:nvSpPr>
          <p:cNvPr id="526" name="Google Shape;526;p33"/>
          <p:cNvSpPr txBox="1"/>
          <p:nvPr>
            <p:ph idx="3" type="body"/>
          </p:nvPr>
        </p:nvSpPr>
        <p:spPr>
          <a:xfrm>
            <a:off x="480988" y="1734784"/>
            <a:ext cx="6412200" cy="3908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Décideurs tech, dirigeants grands groupes, gouvernements, startups, scale-ups, investisseurs, m</a:t>
            </a:r>
            <a:r>
              <a:rPr lang="fr-FR" sz="1300"/>
              <a:t>édias internationaux et leaders d’opinion tech, acteurs de l’écosystème (incubateurs, accélérateurs, hubs)</a:t>
            </a:r>
            <a:endParaRPr sz="1300"/>
          </a:p>
          <a:p>
            <a:pPr indent="-233750" lvl="1" marL="288000" rtl="0" algn="l">
              <a:spcBef>
                <a:spcPts val="0"/>
              </a:spcBef>
              <a:spcAft>
                <a:spcPts val="0"/>
              </a:spcAft>
              <a:buSzPts val="1300"/>
              <a:buChar char="•"/>
            </a:pPr>
            <a:r>
              <a:rPr b="1" lang="fr-FR" sz="1300"/>
              <a:t>Taille / portée :</a:t>
            </a:r>
            <a:r>
              <a:rPr lang="fr-FR" sz="1300"/>
              <a:t> 70 000+ participants (Événement tech mondial)</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Keynotes, tables rondes multi-thématiques, Startup pitch competitions, 1to1 meetings, village partenaires.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Mix entre branding, business development et dealflow / Forte présence d’acteurs de la finance et de la fintech (Visa, Capital Numbers, Ankara, Toptal, Globant, Worldline, Payabl., Spendbase, TransactionLink,…)</a:t>
            </a:r>
            <a:endParaRPr sz="1300"/>
          </a:p>
          <a:p>
            <a:pPr indent="-233750" lvl="1" marL="288000" marR="0" rtl="0" algn="l">
              <a:lnSpc>
                <a:spcPct val="100000"/>
              </a:lnSpc>
              <a:spcBef>
                <a:spcPts val="0"/>
              </a:spcBef>
              <a:spcAft>
                <a:spcPts val="0"/>
              </a:spcAft>
              <a:buSzPts val="1300"/>
              <a:buChar char="•"/>
            </a:pPr>
            <a:r>
              <a:rPr b="1" lang="fr-FR" sz="1300"/>
              <a:t>Speakers phares en 2025 </a:t>
            </a:r>
            <a:r>
              <a:rPr lang="fr-FR" sz="1300"/>
              <a:t>: </a:t>
            </a:r>
            <a:r>
              <a:rPr lang="fr-FR" sz="1300"/>
              <a:t>Alex Schultz, CMO Meta - Khaby Lame, Influencer &amp; Content Creator - Toto Wolff, Team Principal &amp; CEO, Mercedes-AMG PETRONAS F1 Team - Cristiano Amon, President &amp; CEO Qualcomm - A.G. Sulzberger, Chairman &amp; Publisher The New York Times,...</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400" u="sng">
                <a:solidFill>
                  <a:schemeClr val="lt2"/>
                </a:solidFill>
              </a:rPr>
              <a:t>Intérêts stratégiques :</a:t>
            </a:r>
            <a:endParaRPr b="1" sz="1300" u="sng"/>
          </a:p>
          <a:p>
            <a:pPr indent="-311150" lvl="0" marL="457200" rtl="0" algn="l">
              <a:spcBef>
                <a:spcPts val="0"/>
              </a:spcBef>
              <a:spcAft>
                <a:spcPts val="0"/>
              </a:spcAft>
              <a:buSzPts val="1300"/>
              <a:buChar char="-"/>
            </a:pPr>
            <a:r>
              <a:rPr lang="fr-FR" sz="1300"/>
              <a:t>Très forte densité de side events privés et corporate activations</a:t>
            </a:r>
            <a:endParaRPr sz="1300"/>
          </a:p>
        </p:txBody>
      </p:sp>
      <p:pic>
        <p:nvPicPr>
          <p:cNvPr id="527" name="Google Shape;527;p33"/>
          <p:cNvPicPr preferRelativeResize="0"/>
          <p:nvPr/>
        </p:nvPicPr>
        <p:blipFill>
          <a:blip r:embed="rId4">
            <a:alphaModFix/>
          </a:blip>
          <a:stretch>
            <a:fillRect/>
          </a:stretch>
        </p:blipFill>
        <p:spPr>
          <a:xfrm>
            <a:off x="561850" y="-12"/>
            <a:ext cx="1070400" cy="1070400"/>
          </a:xfrm>
          <a:prstGeom prst="rect">
            <a:avLst/>
          </a:prstGeom>
          <a:noFill/>
          <a:ln>
            <a:noFill/>
          </a:ln>
        </p:spPr>
      </p:pic>
      <p:sp>
        <p:nvSpPr>
          <p:cNvPr id="528" name="Google Shape;528;p33"/>
          <p:cNvSpPr txBox="1"/>
          <p:nvPr/>
        </p:nvSpPr>
        <p:spPr>
          <a:xfrm>
            <a:off x="7936550" y="5378500"/>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lt1"/>
                </a:solidFill>
              </a:rPr>
              <a:t>Site web : </a:t>
            </a:r>
            <a:r>
              <a:rPr b="1" lang="fr-FR" sz="1300" u="sng">
                <a:solidFill>
                  <a:schemeClr val="lt1"/>
                </a:solidFill>
                <a:hlinkClick r:id="rId5">
                  <a:extLst>
                    <a:ext uri="{A12FA001-AC4F-418D-AE19-62706E023703}">
                      <ahyp:hlinkClr val="tx"/>
                    </a:ext>
                  </a:extLst>
                </a:hlinkClick>
              </a:rPr>
              <a:t>https://websummit.com/</a:t>
            </a:r>
            <a:r>
              <a:rPr b="1" lang="fr-FR" sz="1300">
                <a:solidFill>
                  <a:schemeClr val="lt1"/>
                </a:solidFill>
              </a:rPr>
              <a:t> </a:t>
            </a:r>
            <a:endParaRPr b="1" sz="1300">
              <a:solidFill>
                <a:schemeClr val="lt1"/>
              </a:solidFill>
            </a:endParaRPr>
          </a:p>
        </p:txBody>
      </p:sp>
      <p:sp>
        <p:nvSpPr>
          <p:cNvPr id="529" name="Google Shape;529;p33"/>
          <p:cNvSpPr/>
          <p:nvPr/>
        </p:nvSpPr>
        <p:spPr>
          <a:xfrm>
            <a:off x="561850" y="1352250"/>
            <a:ext cx="3542700" cy="366600"/>
          </a:xfrm>
          <a:prstGeom prst="roundRect">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0" name="Google Shape;530;p33"/>
          <p:cNvSpPr/>
          <p:nvPr/>
        </p:nvSpPr>
        <p:spPr>
          <a:xfrm>
            <a:off x="725050" y="1449853"/>
            <a:ext cx="46077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9 au 12 novembre 2026 - à Lisbonne au Portugal</a:t>
            </a:r>
            <a:endParaRPr b="0" i="0" sz="1100" u="none" cap="none" strike="noStrike">
              <a:solidFill>
                <a:schemeClr val="lt1"/>
              </a:solidFill>
            </a:endParaRPr>
          </a:p>
        </p:txBody>
      </p:sp>
      <p:sp>
        <p:nvSpPr>
          <p:cNvPr id="531" name="Google Shape;531;p33"/>
          <p:cNvSpPr/>
          <p:nvPr/>
        </p:nvSpPr>
        <p:spPr>
          <a:xfrm>
            <a:off x="561850" y="5461917"/>
            <a:ext cx="5538300" cy="366600"/>
          </a:xfrm>
          <a:prstGeom prst="roundRect">
            <a:avLst>
              <a:gd fmla="val 50000" name="adj"/>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532" name="Google Shape;532;p33"/>
          <p:cNvPicPr preferRelativeResize="0"/>
          <p:nvPr/>
        </p:nvPicPr>
        <p:blipFill rotWithShape="1">
          <a:blip r:embed="rId6">
            <a:alphaModFix/>
          </a:blip>
          <a:srcRect b="0" l="0" r="0" t="0"/>
          <a:stretch/>
        </p:blipFill>
        <p:spPr>
          <a:xfrm>
            <a:off x="703543" y="5551366"/>
            <a:ext cx="177205" cy="141684"/>
          </a:xfrm>
          <a:prstGeom prst="rect">
            <a:avLst/>
          </a:prstGeom>
          <a:noFill/>
          <a:ln>
            <a:noFill/>
          </a:ln>
        </p:spPr>
      </p:pic>
      <p:sp>
        <p:nvSpPr>
          <p:cNvPr id="533" name="Google Shape;533;p33"/>
          <p:cNvSpPr/>
          <p:nvPr/>
        </p:nvSpPr>
        <p:spPr>
          <a:xfrm>
            <a:off x="1022425" y="55637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Visibilité mondiale auprès d’un écosystème tech élargi (au-delà du VC pur)</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34"/>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540" name="Google Shape;540;p34"/>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541" name="Google Shape;541;p34"/>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542" name="Google Shape;542;p34"/>
          <p:cNvSpPr txBox="1"/>
          <p:nvPr>
            <p:ph type="ctrTitle"/>
          </p:nvPr>
        </p:nvSpPr>
        <p:spPr>
          <a:xfrm>
            <a:off x="706000" y="719899"/>
            <a:ext cx="10980000" cy="25200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2"/>
              </a:buClr>
              <a:buSzPts val="5400"/>
              <a:buFont typeface="Arial Black"/>
              <a:buNone/>
            </a:pPr>
            <a:r>
              <a:rPr lang="fr-FR"/>
              <a:t>LES ÉVÉNEMENTS “INFLUENCE”</a:t>
            </a:r>
            <a:endParaRPr/>
          </a:p>
        </p:txBody>
      </p:sp>
      <p:sp>
        <p:nvSpPr>
          <p:cNvPr id="543" name="Google Shape;543;p34"/>
          <p:cNvSpPr txBox="1"/>
          <p:nvPr>
            <p:ph idx="2" type="subTitle"/>
          </p:nvPr>
        </p:nvSpPr>
        <p:spPr>
          <a:xfrm>
            <a:off x="706000" y="3473843"/>
            <a:ext cx="10980000" cy="2340000"/>
          </a:xfrm>
          <a:prstGeom prst="rect">
            <a:avLst/>
          </a:prstGeom>
          <a:noFill/>
          <a:ln>
            <a:noFill/>
          </a:ln>
        </p:spPr>
        <p:txBody>
          <a:bodyPr anchorCtr="0" anchor="t" bIns="45700" lIns="91425" spcFirstLastPara="1" rIns="91425" wrap="square" tIns="45700">
            <a:noAutofit/>
          </a:bodyPr>
          <a:lstStyle/>
          <a:p>
            <a:pPr indent="0" lvl="0" marL="0" rtl="0" algn="l">
              <a:lnSpc>
                <a:spcPct val="85000"/>
              </a:lnSpc>
              <a:spcBef>
                <a:spcPts val="0"/>
              </a:spcBef>
              <a:spcAft>
                <a:spcPts val="0"/>
              </a:spcAft>
              <a:buClr>
                <a:schemeClr val="accent1"/>
              </a:buClr>
              <a:buSzPts val="5400"/>
              <a:buNone/>
            </a:pPr>
            <a:r>
              <a:rPr lang="fr-FR"/>
              <a:t>LEVIERS D’INFLUENCE : </a:t>
            </a:r>
            <a:endParaRPr/>
          </a:p>
          <a:p>
            <a:pPr indent="0" lvl="0" marL="0" rtl="0" algn="l">
              <a:lnSpc>
                <a:spcPct val="85000"/>
              </a:lnSpc>
              <a:spcBef>
                <a:spcPts val="0"/>
              </a:spcBef>
              <a:spcAft>
                <a:spcPts val="0"/>
              </a:spcAft>
              <a:buClr>
                <a:schemeClr val="accent1"/>
              </a:buClr>
              <a:buSzPts val="5400"/>
              <a:buNone/>
            </a:pPr>
            <a:r>
              <a:rPr b="0" lang="fr-FR" sz="3400"/>
              <a:t>affaires publiques, clusters et cercles fermés</a:t>
            </a:r>
            <a:endParaRPr b="0" sz="4800"/>
          </a:p>
          <a:p>
            <a:pPr indent="0" lvl="0" marL="0" rtl="0" algn="l">
              <a:lnSpc>
                <a:spcPct val="85000"/>
              </a:lnSpc>
              <a:spcBef>
                <a:spcPts val="0"/>
              </a:spcBef>
              <a:spcAft>
                <a:spcPts val="0"/>
              </a:spcAft>
              <a:buClr>
                <a:schemeClr val="accent1"/>
              </a:buClr>
              <a:buSzPts val="54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35"/>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549" name="Google Shape;549;p35"/>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550" name="Google Shape;550;p35"/>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551" name="Google Shape;551;p35"/>
          <p:cNvSpPr txBox="1"/>
          <p:nvPr>
            <p:ph idx="3" type="body"/>
          </p:nvPr>
        </p:nvSpPr>
        <p:spPr>
          <a:xfrm>
            <a:off x="473956" y="2177226"/>
            <a:ext cx="6561300" cy="34077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Lieu : </a:t>
            </a:r>
            <a:r>
              <a:rPr lang="fr-FR" sz="1300"/>
              <a:t>Abbaye de Royaumont</a:t>
            </a:r>
            <a:endParaRPr sz="1300"/>
          </a:p>
          <a:p>
            <a:pPr indent="-233750" lvl="1" marL="288000" rtl="0" algn="l">
              <a:spcBef>
                <a:spcPts val="0"/>
              </a:spcBef>
              <a:spcAft>
                <a:spcPts val="0"/>
              </a:spcAft>
              <a:buSzPts val="1300"/>
              <a:buChar char="•"/>
            </a:pPr>
            <a:r>
              <a:rPr b="1" lang="fr-FR" sz="1300"/>
              <a:t>Audience :</a:t>
            </a:r>
            <a:r>
              <a:rPr lang="fr-FR" sz="1300"/>
              <a:t> </a:t>
            </a:r>
            <a:r>
              <a:rPr lang="fr-FR" sz="1300"/>
              <a:t>Dirigeants de grandes entreprises françaises et européennes, banquiers et acteurs financiers institutionnels, décideurs publics et hauts fonctionnaires, intellectuels, chercheurs, économistes, journalistes et éditorialistes influents.</a:t>
            </a:r>
            <a:endParaRPr sz="1300"/>
          </a:p>
          <a:p>
            <a:pPr indent="-233750" lvl="1" marL="288000" rtl="0" algn="l">
              <a:spcBef>
                <a:spcPts val="0"/>
              </a:spcBef>
              <a:spcAft>
                <a:spcPts val="0"/>
              </a:spcAft>
              <a:buSzPts val="1300"/>
              <a:buChar char="•"/>
            </a:pPr>
            <a:r>
              <a:rPr b="1" lang="fr-FR" sz="1300"/>
              <a:t>Taille / portée :</a:t>
            </a:r>
            <a:r>
              <a:rPr lang="fr-FR" sz="1300"/>
              <a:t> </a:t>
            </a:r>
            <a:r>
              <a:rPr lang="fr-FR" sz="1300"/>
              <a:t>Format très restreint et sélectif (cercle fermé)</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Tables rondes de haut niveau (économie, géopolitique, société), débats fermés entre dirigeants et experts, dîners et moments de networking informels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Positionnement historiquement très institutionnel et élitiste / BNP Paribas est partenaire. </a:t>
            </a:r>
            <a:endParaRPr sz="1300"/>
          </a:p>
          <a:p>
            <a:pPr indent="0" lvl="0" marL="14400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3"/>
                </a:solidFill>
              </a:rPr>
              <a:t>Intérêts stratégiques :</a:t>
            </a:r>
            <a:endParaRPr b="1" sz="1300" u="sng">
              <a:solidFill>
                <a:schemeClr val="accent3"/>
              </a:solidFill>
            </a:endParaRPr>
          </a:p>
          <a:p>
            <a:pPr indent="-311150" lvl="0" marL="457200" rtl="0" algn="l">
              <a:spcBef>
                <a:spcPts val="0"/>
              </a:spcBef>
              <a:spcAft>
                <a:spcPts val="0"/>
              </a:spcAft>
              <a:buSzPts val="1300"/>
              <a:buChar char="-"/>
            </a:pPr>
            <a:r>
              <a:rPr lang="fr-FR" sz="1300"/>
              <a:t>Accès aux réflexions structurantes sur les transformations économiques et géopolitiques</a:t>
            </a:r>
            <a:endParaRPr b="1" sz="1300" u="sng"/>
          </a:p>
        </p:txBody>
      </p:sp>
      <p:sp>
        <p:nvSpPr>
          <p:cNvPr id="552" name="Google Shape;552;p35"/>
          <p:cNvSpPr/>
          <p:nvPr/>
        </p:nvSpPr>
        <p:spPr>
          <a:xfrm>
            <a:off x="7130365" y="424925"/>
            <a:ext cx="4710000" cy="540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35"/>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4" name="Google Shape;554;p35"/>
          <p:cNvSpPr/>
          <p:nvPr/>
        </p:nvSpPr>
        <p:spPr>
          <a:xfrm>
            <a:off x="11297381" y="379126"/>
            <a:ext cx="540000" cy="540000"/>
          </a:xfrm>
          <a:prstGeom prst="ellipse">
            <a:avLst/>
          </a:prstGeom>
          <a:solidFill>
            <a:schemeClr val="accent4"/>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555" name="Google Shape;555;p35"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556" name="Google Shape;556;p35"/>
          <p:cNvSpPr txBox="1"/>
          <p:nvPr>
            <p:ph idx="1" type="body"/>
          </p:nvPr>
        </p:nvSpPr>
        <p:spPr>
          <a:xfrm>
            <a:off x="7423617" y="500047"/>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RECOMMANDATIONS</a:t>
            </a:r>
            <a:endParaRPr sz="900">
              <a:solidFill>
                <a:schemeClr val="accent1"/>
              </a:solidFill>
            </a:endParaRPr>
          </a:p>
        </p:txBody>
      </p:sp>
      <p:sp>
        <p:nvSpPr>
          <p:cNvPr id="557" name="Google Shape;557;p35"/>
          <p:cNvSpPr txBox="1"/>
          <p:nvPr/>
        </p:nvSpPr>
        <p:spPr>
          <a:xfrm>
            <a:off x="7338438" y="903825"/>
            <a:ext cx="4154400" cy="213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accent1"/>
                </a:solidFill>
              </a:rPr>
              <a:t>Positionnement :</a:t>
            </a:r>
            <a:endParaRPr b="1">
              <a:solidFill>
                <a:schemeClr val="accent1"/>
              </a:solidFill>
            </a:endParaRPr>
          </a:p>
          <a:p>
            <a:pPr indent="0" lvl="0" marL="0" rtl="0" algn="l">
              <a:lnSpc>
                <a:spcPct val="115000"/>
              </a:lnSpc>
              <a:spcBef>
                <a:spcPts val="0"/>
              </a:spcBef>
              <a:spcAft>
                <a:spcPts val="0"/>
              </a:spcAft>
              <a:buNone/>
            </a:pPr>
            <a:r>
              <a:rPr lang="fr-FR">
                <a:solidFill>
                  <a:schemeClr val="accent1"/>
                </a:solidFill>
              </a:rPr>
              <a:t>Positionner le Crédit Agricole comme une banque systémique européenne pleinement intégrée aux cercles de réflexion et de décision économiques et politiques, capable de contribuer aux grands débats structurants sur la transformation des modèles économiques, financiers et sociétaux.</a:t>
            </a:r>
            <a:endParaRPr>
              <a:solidFill>
                <a:schemeClr val="accent1"/>
              </a:solidFill>
            </a:endParaRPr>
          </a:p>
          <a:p>
            <a:pPr indent="0" lvl="0" marL="0" rtl="0" algn="l">
              <a:spcBef>
                <a:spcPts val="0"/>
              </a:spcBef>
              <a:spcAft>
                <a:spcPts val="0"/>
              </a:spcAft>
              <a:buNone/>
            </a:pPr>
            <a:r>
              <a:t/>
            </a:r>
            <a:endParaRPr>
              <a:solidFill>
                <a:schemeClr val="accent1"/>
              </a:solidFill>
            </a:endParaRPr>
          </a:p>
        </p:txBody>
      </p:sp>
      <p:sp>
        <p:nvSpPr>
          <p:cNvPr id="558" name="Google Shape;558;p35"/>
          <p:cNvSpPr txBox="1"/>
          <p:nvPr/>
        </p:nvSpPr>
        <p:spPr>
          <a:xfrm>
            <a:off x="7373638" y="2704725"/>
            <a:ext cx="4401000" cy="280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accent1"/>
                </a:solidFill>
              </a:rPr>
              <a:t>Activations recommandées :</a:t>
            </a:r>
            <a:endParaRPr b="1" u="sng">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Intégrer le cercle des partenaires institutionnels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Objectif d’inscription du Crédit Agricole dans le cercle fermé des partenaires de l’événement</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Participer aux dîners et sessions fermées de haut niveau</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Accès aux formats les plus exclusifs (dîners, tables rondes restreintes, échanges off)</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Prendre part aux tables rondes stratégiques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Intervention ciblée sur les transformations économiques, financières ou géopolitiques</a:t>
            </a:r>
            <a:endParaRPr sz="1100">
              <a:solidFill>
                <a:schemeClr val="accent1"/>
              </a:solidFill>
            </a:endParaRPr>
          </a:p>
        </p:txBody>
      </p:sp>
      <p:pic>
        <p:nvPicPr>
          <p:cNvPr id="559" name="Google Shape;559;p35"/>
          <p:cNvPicPr preferRelativeResize="0"/>
          <p:nvPr/>
        </p:nvPicPr>
        <p:blipFill>
          <a:blip r:embed="rId4">
            <a:alphaModFix/>
          </a:blip>
          <a:stretch>
            <a:fillRect/>
          </a:stretch>
        </p:blipFill>
        <p:spPr>
          <a:xfrm>
            <a:off x="561850" y="81650"/>
            <a:ext cx="828002" cy="865188"/>
          </a:xfrm>
          <a:prstGeom prst="rect">
            <a:avLst/>
          </a:prstGeom>
          <a:noFill/>
          <a:ln>
            <a:noFill/>
          </a:ln>
        </p:spPr>
      </p:pic>
      <p:sp>
        <p:nvSpPr>
          <p:cNvPr id="560" name="Google Shape;560;p35"/>
          <p:cNvSpPr txBox="1"/>
          <p:nvPr>
            <p:ph idx="1" type="body"/>
          </p:nvPr>
        </p:nvSpPr>
        <p:spPr>
          <a:xfrm>
            <a:off x="561850" y="1029010"/>
            <a:ext cx="6359400" cy="1079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LES ENTRETIENS ROYAUMONT : le cercle d’influence des décideurs économiques, politiques et intellectuels</a:t>
            </a:r>
            <a:endParaRPr sz="1600">
              <a:solidFill>
                <a:schemeClr val="accent3"/>
              </a:solidFill>
            </a:endParaRPr>
          </a:p>
        </p:txBody>
      </p:sp>
      <p:sp>
        <p:nvSpPr>
          <p:cNvPr id="561" name="Google Shape;561;p35"/>
          <p:cNvSpPr txBox="1"/>
          <p:nvPr/>
        </p:nvSpPr>
        <p:spPr>
          <a:xfrm>
            <a:off x="7800500" y="5431425"/>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accent1"/>
                </a:solidFill>
              </a:rPr>
              <a:t>Site web : </a:t>
            </a:r>
            <a:r>
              <a:rPr b="1" lang="fr-FR" sz="1300" u="sng">
                <a:solidFill>
                  <a:schemeClr val="accent1"/>
                </a:solidFill>
                <a:hlinkClick r:id="rId5">
                  <a:extLst>
                    <a:ext uri="{A12FA001-AC4F-418D-AE19-62706E023703}">
                      <ahyp:hlinkClr val="tx"/>
                    </a:ext>
                  </a:extLst>
                </a:hlinkClick>
              </a:rPr>
              <a:t>https://www.lesentretiens.com/</a:t>
            </a:r>
            <a:r>
              <a:rPr b="1" lang="fr-FR" sz="1300">
                <a:solidFill>
                  <a:schemeClr val="accent1"/>
                </a:solidFill>
              </a:rPr>
              <a:t> </a:t>
            </a:r>
            <a:endParaRPr b="1" sz="1300">
              <a:solidFill>
                <a:schemeClr val="accent1"/>
              </a:solidFill>
            </a:endParaRPr>
          </a:p>
        </p:txBody>
      </p:sp>
      <p:sp>
        <p:nvSpPr>
          <p:cNvPr id="562" name="Google Shape;562;p35"/>
          <p:cNvSpPr/>
          <p:nvPr/>
        </p:nvSpPr>
        <p:spPr>
          <a:xfrm>
            <a:off x="561850" y="1641914"/>
            <a:ext cx="4951800" cy="366600"/>
          </a:xfrm>
          <a:prstGeom prst="roundRect">
            <a:avLst>
              <a:gd fmla="val 50000"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3" name="Google Shape;563;p35"/>
          <p:cNvSpPr/>
          <p:nvPr/>
        </p:nvSpPr>
        <p:spPr>
          <a:xfrm>
            <a:off x="725050" y="1739514"/>
            <a:ext cx="62679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Édition 2026 (dates à confirmer – généralement organisé à l’automne)</a:t>
            </a:r>
            <a:endParaRPr sz="1100">
              <a:solidFill>
                <a:schemeClr val="lt1"/>
              </a:solidFill>
              <a:latin typeface="Inter"/>
              <a:ea typeface="Inter"/>
              <a:cs typeface="Inter"/>
              <a:sym typeface="Inter"/>
            </a:endParaRPr>
          </a:p>
        </p:txBody>
      </p:sp>
      <p:sp>
        <p:nvSpPr>
          <p:cNvPr id="564" name="Google Shape;564;p35"/>
          <p:cNvSpPr/>
          <p:nvPr/>
        </p:nvSpPr>
        <p:spPr>
          <a:xfrm>
            <a:off x="561850" y="5538125"/>
            <a:ext cx="4320000" cy="366600"/>
          </a:xfrm>
          <a:prstGeom prst="roundRect">
            <a:avLst>
              <a:gd fmla="val 50000" name="adj"/>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565" name="Google Shape;565;p35"/>
          <p:cNvPicPr preferRelativeResize="0"/>
          <p:nvPr/>
        </p:nvPicPr>
        <p:blipFill rotWithShape="1">
          <a:blip r:embed="rId6">
            <a:alphaModFix/>
          </a:blip>
          <a:srcRect b="0" l="0" r="0" t="0"/>
          <a:stretch/>
        </p:blipFill>
        <p:spPr>
          <a:xfrm>
            <a:off x="703543" y="5640614"/>
            <a:ext cx="177205" cy="141684"/>
          </a:xfrm>
          <a:prstGeom prst="rect">
            <a:avLst/>
          </a:prstGeom>
          <a:noFill/>
          <a:ln>
            <a:noFill/>
          </a:ln>
        </p:spPr>
      </p:pic>
      <p:sp>
        <p:nvSpPr>
          <p:cNvPr id="566" name="Google Shape;566;p35"/>
          <p:cNvSpPr/>
          <p:nvPr/>
        </p:nvSpPr>
        <p:spPr>
          <a:xfrm>
            <a:off x="1022425" y="56399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Peu d’activation visible : logique de discrétion et de légitimité</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36"/>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572" name="Google Shape;572;p36"/>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573" name="Google Shape;573;p36"/>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574" name="Google Shape;574;p36"/>
          <p:cNvSpPr txBox="1"/>
          <p:nvPr>
            <p:ph idx="3" type="body"/>
          </p:nvPr>
        </p:nvSpPr>
        <p:spPr>
          <a:xfrm>
            <a:off x="483900" y="2040325"/>
            <a:ext cx="6340500" cy="4894500"/>
          </a:xfrm>
          <a:prstGeom prst="rect">
            <a:avLst/>
          </a:prstGeom>
          <a:noFill/>
          <a:ln>
            <a:noFill/>
          </a:ln>
        </p:spPr>
        <p:txBody>
          <a:bodyPr anchorCtr="0" anchor="t" bIns="45700" lIns="91425" spcFirstLastPara="1" rIns="91425" wrap="square" tIns="45700">
            <a:noAutofit/>
          </a:bodyPr>
          <a:lstStyle/>
          <a:p>
            <a:pPr indent="0" lvl="0" marL="144000" rtl="0" algn="l">
              <a:spcBef>
                <a:spcPts val="0"/>
              </a:spcBef>
              <a:spcAft>
                <a:spcPts val="0"/>
              </a:spcAft>
              <a:buNone/>
            </a:pPr>
            <a:r>
              <a:t/>
            </a:r>
            <a:endParaRPr sz="1300"/>
          </a:p>
          <a:p>
            <a:pPr indent="-233750" lvl="1" marL="288000" rtl="0" algn="l">
              <a:spcBef>
                <a:spcPts val="0"/>
              </a:spcBef>
              <a:spcAft>
                <a:spcPts val="0"/>
              </a:spcAft>
              <a:buSzPts val="1300"/>
              <a:buChar char="•"/>
            </a:pPr>
            <a:r>
              <a:rPr b="1" lang="fr-FR" sz="1300"/>
              <a:t>Audience :</a:t>
            </a:r>
            <a:r>
              <a:rPr lang="fr-FR" sz="1300"/>
              <a:t> </a:t>
            </a:r>
            <a:r>
              <a:rPr lang="fr-FR" sz="1300"/>
              <a:t>Dirigeants de grandes entreprises (CAC 40, ETI, multinationales), banques et acteurs financiers institutionnels, décideurs publics, experts RSE, climat, énergie, biodiversité, ONG, chercheurs,...</a:t>
            </a:r>
            <a:endParaRPr sz="1300"/>
          </a:p>
          <a:p>
            <a:pPr indent="-233750" lvl="1" marL="288000" rtl="0" algn="l">
              <a:spcBef>
                <a:spcPts val="0"/>
              </a:spcBef>
              <a:spcAft>
                <a:spcPts val="0"/>
              </a:spcAft>
              <a:buSzPts val="1300"/>
              <a:buChar char="•"/>
            </a:pPr>
            <a:r>
              <a:rPr b="1" lang="fr-FR" sz="1300"/>
              <a:t>Taille / portée :</a:t>
            </a:r>
            <a:r>
              <a:rPr lang="fr-FR" sz="1300"/>
              <a:t> 1 000+ participants (Événement très sélectif et qualifié, orienté cercle de décideurs)</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Tables rondes, keynotes, networking, Publication de propositions annuelles issues des travaux du Cercle.</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Fort ancrage institutionnel (haut patronage du ministère de l’Économie et des Finances) / BNP Paribas et la Caisse des Dépôts sont partenaires.</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3"/>
                </a:solidFill>
              </a:rPr>
              <a:t>Intérêts stratégiques :</a:t>
            </a:r>
            <a:endParaRPr b="1" sz="1300" u="sng"/>
          </a:p>
          <a:p>
            <a:pPr indent="-311150" lvl="0" marL="457200" rtl="0" algn="l">
              <a:spcBef>
                <a:spcPts val="0"/>
              </a:spcBef>
              <a:spcAft>
                <a:spcPts val="0"/>
              </a:spcAft>
              <a:buSzPts val="1300"/>
              <a:buChar char="-"/>
            </a:pPr>
            <a:r>
              <a:rPr lang="fr-FR" sz="1300"/>
              <a:t>Accéder aux décideurs ESG des grands groupes et aux directions RSE / stratégie</a:t>
            </a:r>
            <a:endParaRPr sz="1300"/>
          </a:p>
          <a:p>
            <a:pPr indent="-311150" lvl="0" marL="457200" rtl="0" algn="l">
              <a:spcBef>
                <a:spcPts val="0"/>
              </a:spcBef>
              <a:spcAft>
                <a:spcPts val="0"/>
              </a:spcAft>
              <a:buSzPts val="1300"/>
              <a:buChar char="-"/>
            </a:pPr>
            <a:r>
              <a:rPr lang="fr-FR" sz="1300"/>
              <a:t>S’intégrer aux cercles de décision RSE et climat des grandes entreprises françaises et européennes</a:t>
            </a:r>
            <a:endParaRPr b="1" sz="1300" u="sng"/>
          </a:p>
        </p:txBody>
      </p:sp>
      <p:sp>
        <p:nvSpPr>
          <p:cNvPr id="575" name="Google Shape;575;p36"/>
          <p:cNvSpPr/>
          <p:nvPr/>
        </p:nvSpPr>
        <p:spPr>
          <a:xfrm>
            <a:off x="7130375" y="256025"/>
            <a:ext cx="4710000" cy="55752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36"/>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36"/>
          <p:cNvSpPr/>
          <p:nvPr/>
        </p:nvSpPr>
        <p:spPr>
          <a:xfrm>
            <a:off x="11297381" y="379126"/>
            <a:ext cx="540000" cy="540000"/>
          </a:xfrm>
          <a:prstGeom prst="ellipse">
            <a:avLst/>
          </a:prstGeom>
          <a:solidFill>
            <a:schemeClr val="accent4"/>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578" name="Google Shape;578;p36"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579" name="Google Shape;579;p36"/>
          <p:cNvSpPr txBox="1"/>
          <p:nvPr>
            <p:ph idx="1" type="body"/>
          </p:nvPr>
        </p:nvSpPr>
        <p:spPr>
          <a:xfrm>
            <a:off x="6993035" y="8910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RECOMMANDATIONS</a:t>
            </a:r>
            <a:endParaRPr sz="900">
              <a:solidFill>
                <a:schemeClr val="accent1"/>
              </a:solidFill>
            </a:endParaRPr>
          </a:p>
        </p:txBody>
      </p:sp>
      <p:sp>
        <p:nvSpPr>
          <p:cNvPr id="580" name="Google Shape;580;p36"/>
          <p:cNvSpPr txBox="1"/>
          <p:nvPr/>
        </p:nvSpPr>
        <p:spPr>
          <a:xfrm>
            <a:off x="7260150" y="1361025"/>
            <a:ext cx="4154400" cy="188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accent1"/>
                </a:solidFill>
              </a:rPr>
              <a:t>Positionnement :</a:t>
            </a:r>
            <a:endParaRPr b="1">
              <a:solidFill>
                <a:schemeClr val="accent1"/>
              </a:solidFill>
            </a:endParaRPr>
          </a:p>
          <a:p>
            <a:pPr indent="0" lvl="0" marL="0" rtl="0" algn="l">
              <a:lnSpc>
                <a:spcPct val="115000"/>
              </a:lnSpc>
              <a:spcBef>
                <a:spcPts val="0"/>
              </a:spcBef>
              <a:spcAft>
                <a:spcPts val="0"/>
              </a:spcAft>
              <a:buNone/>
            </a:pPr>
            <a:r>
              <a:rPr lang="fr-FR">
                <a:solidFill>
                  <a:schemeClr val="accent1"/>
                </a:solidFill>
              </a:rPr>
              <a:t>Positionner le Crédit Agricole comme une banque européenne systémique pleinement intégrée aux cercles de décision de la transition, tout en jouant un rôle d’acteur clé dans la convergence entre finance, industrie et politiques publiques.</a:t>
            </a:r>
            <a:endParaRPr>
              <a:solidFill>
                <a:schemeClr val="accent1"/>
              </a:solidFill>
            </a:endParaRPr>
          </a:p>
          <a:p>
            <a:pPr indent="0" lvl="0" marL="0" rtl="0" algn="l">
              <a:spcBef>
                <a:spcPts val="0"/>
              </a:spcBef>
              <a:spcAft>
                <a:spcPts val="0"/>
              </a:spcAft>
              <a:buNone/>
            </a:pPr>
            <a:r>
              <a:t/>
            </a:r>
            <a:endParaRPr>
              <a:solidFill>
                <a:schemeClr val="accent1"/>
              </a:solidFill>
            </a:endParaRPr>
          </a:p>
        </p:txBody>
      </p:sp>
      <p:sp>
        <p:nvSpPr>
          <p:cNvPr id="581" name="Google Shape;581;p36"/>
          <p:cNvSpPr txBox="1"/>
          <p:nvPr/>
        </p:nvSpPr>
        <p:spPr>
          <a:xfrm>
            <a:off x="7295340" y="3085725"/>
            <a:ext cx="4154400" cy="280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accent1"/>
                </a:solidFill>
              </a:rPr>
              <a:t>Activations recommandées :</a:t>
            </a:r>
            <a:endParaRPr b="1" u="sng">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Participer aux tables rondes RSE, climat et finance durable</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Interventions sur les grands enjeux de transformation des modèles économiques face à l’urgence climatique</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S’inscrire dans les dynamiques de travail du Cercle de Giverny (groupes de propositions)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Contribution aux travaux annuels produisant des propositions concrètes de transformation</a:t>
            </a:r>
            <a:endParaRPr>
              <a:solidFill>
                <a:schemeClr val="accent1"/>
              </a:solidFill>
            </a:endParaRPr>
          </a:p>
          <a:p>
            <a:pPr indent="0" lvl="0" marL="0" marR="0" rtl="0" algn="l">
              <a:lnSpc>
                <a:spcPct val="100000"/>
              </a:lnSpc>
              <a:spcBef>
                <a:spcPts val="0"/>
              </a:spcBef>
              <a:spcAft>
                <a:spcPts val="0"/>
              </a:spcAft>
              <a:buNone/>
            </a:pPr>
            <a:r>
              <a:rPr lang="fr-FR">
                <a:solidFill>
                  <a:schemeClr val="accent1"/>
                </a:solidFill>
              </a:rPr>
              <a:t>	</a:t>
            </a:r>
            <a:r>
              <a:rPr b="1" lang="fr-FR" sz="1300">
                <a:solidFill>
                  <a:schemeClr val="accent1"/>
                </a:solidFill>
              </a:rPr>
              <a:t>Site web : </a:t>
            </a:r>
            <a:r>
              <a:rPr b="1" lang="fr-FR" sz="1300" u="sng">
                <a:solidFill>
                  <a:schemeClr val="accent1"/>
                </a:solidFill>
                <a:hlinkClick r:id="rId4">
                  <a:extLst>
                    <a:ext uri="{A12FA001-AC4F-418D-AE19-62706E023703}">
                      <ahyp:hlinkClr val="tx"/>
                    </a:ext>
                  </a:extLst>
                </a:hlinkClick>
              </a:rPr>
              <a:t>https://cercle-giverny.fr/</a:t>
            </a:r>
            <a:r>
              <a:rPr b="1" lang="fr-FR" sz="1300">
                <a:solidFill>
                  <a:schemeClr val="accent1"/>
                </a:solidFill>
              </a:rPr>
              <a:t> </a:t>
            </a:r>
            <a:endParaRPr>
              <a:solidFill>
                <a:schemeClr val="accent1"/>
              </a:solidFill>
            </a:endParaRPr>
          </a:p>
        </p:txBody>
      </p:sp>
      <p:sp>
        <p:nvSpPr>
          <p:cNvPr id="582" name="Google Shape;582;p36"/>
          <p:cNvSpPr txBox="1"/>
          <p:nvPr>
            <p:ph idx="1" type="body"/>
          </p:nvPr>
        </p:nvSpPr>
        <p:spPr>
          <a:xfrm>
            <a:off x="554550" y="891050"/>
            <a:ext cx="63405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LE CERCLE DE GIVERNY : le rendez-vous des entreprises durables et de la RSE stratégique</a:t>
            </a:r>
            <a:endParaRPr/>
          </a:p>
          <a:p>
            <a:pPr indent="0" lvl="0" marL="0" marR="0" rtl="0" algn="l">
              <a:lnSpc>
                <a:spcPct val="100000"/>
              </a:lnSpc>
              <a:spcBef>
                <a:spcPts val="0"/>
              </a:spcBef>
              <a:spcAft>
                <a:spcPts val="0"/>
              </a:spcAft>
              <a:buClr>
                <a:schemeClr val="dk1"/>
              </a:buClr>
              <a:buSzPts val="2000"/>
              <a:buNone/>
            </a:pPr>
            <a:r>
              <a:t/>
            </a:r>
            <a:endParaRPr/>
          </a:p>
          <a:p>
            <a:pPr indent="0" lvl="0" marL="0" marR="0" rtl="0" algn="l">
              <a:lnSpc>
                <a:spcPct val="100000"/>
              </a:lnSpc>
              <a:spcBef>
                <a:spcPts val="0"/>
              </a:spcBef>
              <a:spcAft>
                <a:spcPts val="0"/>
              </a:spcAft>
              <a:buClr>
                <a:schemeClr val="dk1"/>
              </a:buClr>
              <a:buSzPts val="2000"/>
              <a:buNone/>
            </a:pPr>
            <a:r>
              <a:t/>
            </a:r>
            <a:endParaRPr/>
          </a:p>
        </p:txBody>
      </p:sp>
      <p:pic>
        <p:nvPicPr>
          <p:cNvPr id="583" name="Google Shape;583;p36"/>
          <p:cNvPicPr preferRelativeResize="0"/>
          <p:nvPr/>
        </p:nvPicPr>
        <p:blipFill>
          <a:blip r:embed="rId5">
            <a:alphaModFix/>
          </a:blip>
          <a:stretch>
            <a:fillRect/>
          </a:stretch>
        </p:blipFill>
        <p:spPr>
          <a:xfrm>
            <a:off x="554552" y="170925"/>
            <a:ext cx="1059485" cy="630900"/>
          </a:xfrm>
          <a:prstGeom prst="rect">
            <a:avLst/>
          </a:prstGeom>
          <a:noFill/>
          <a:ln>
            <a:noFill/>
          </a:ln>
        </p:spPr>
      </p:pic>
      <p:sp>
        <p:nvSpPr>
          <p:cNvPr id="584" name="Google Shape;584;p36"/>
          <p:cNvSpPr/>
          <p:nvPr/>
        </p:nvSpPr>
        <p:spPr>
          <a:xfrm>
            <a:off x="561850" y="1641925"/>
            <a:ext cx="4232700" cy="366600"/>
          </a:xfrm>
          <a:prstGeom prst="roundRect">
            <a:avLst>
              <a:gd fmla="val 50000"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5" name="Google Shape;585;p36"/>
          <p:cNvSpPr/>
          <p:nvPr/>
        </p:nvSpPr>
        <p:spPr>
          <a:xfrm>
            <a:off x="725050" y="1739514"/>
            <a:ext cx="6267900" cy="1524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4 septembre 2026 - Musée des </a:t>
            </a:r>
            <a:r>
              <a:rPr lang="fr-FR" sz="1100">
                <a:solidFill>
                  <a:schemeClr val="lt1"/>
                </a:solidFill>
                <a:latin typeface="Inter"/>
                <a:ea typeface="Inter"/>
                <a:cs typeface="Inter"/>
                <a:sym typeface="Inter"/>
              </a:rPr>
              <a:t>impressionnistes</a:t>
            </a:r>
            <a:r>
              <a:rPr lang="fr-FR" sz="1100">
                <a:solidFill>
                  <a:schemeClr val="lt1"/>
                </a:solidFill>
                <a:latin typeface="Inter"/>
                <a:ea typeface="Inter"/>
                <a:cs typeface="Inter"/>
                <a:sym typeface="Inter"/>
              </a:rPr>
              <a:t> à Giverny</a:t>
            </a:r>
            <a:endParaRPr sz="1100">
              <a:solidFill>
                <a:schemeClr val="lt1"/>
              </a:solidFill>
              <a:latin typeface="Inter"/>
              <a:ea typeface="Inter"/>
              <a:cs typeface="Inter"/>
              <a:sym typeface="Int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37"/>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591" name="Google Shape;591;p37"/>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592" name="Google Shape;592;p37"/>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593" name="Google Shape;593;p37"/>
          <p:cNvSpPr txBox="1"/>
          <p:nvPr>
            <p:ph idx="3" type="body"/>
          </p:nvPr>
        </p:nvSpPr>
        <p:spPr>
          <a:xfrm>
            <a:off x="464000" y="2305000"/>
            <a:ext cx="6627600" cy="2621100"/>
          </a:xfrm>
          <a:prstGeom prst="rect">
            <a:avLst/>
          </a:prstGeom>
          <a:noFill/>
          <a:ln>
            <a:noFill/>
          </a:ln>
        </p:spPr>
        <p:txBody>
          <a:bodyPr anchorCtr="0" anchor="t" bIns="45700" lIns="91425" spcFirstLastPara="1" rIns="91425" wrap="square" tIns="45700">
            <a:noAutofit/>
          </a:bodyPr>
          <a:lstStyle/>
          <a:p>
            <a:pPr indent="-233750" lvl="1" marL="288000" marR="0" rtl="0" algn="l">
              <a:lnSpc>
                <a:spcPct val="100000"/>
              </a:lnSpc>
              <a:spcBef>
                <a:spcPts val="0"/>
              </a:spcBef>
              <a:spcAft>
                <a:spcPts val="0"/>
              </a:spcAft>
              <a:buSzPts val="1300"/>
              <a:buChar char="•"/>
            </a:pPr>
            <a:r>
              <a:rPr b="1" lang="fr-FR" sz="1300"/>
              <a:t>Lieu : </a:t>
            </a:r>
            <a:r>
              <a:rPr lang="fr-FR" sz="1300"/>
              <a:t>HEC Paris et lieux partenaires à Paris (ex : Place Vendôme, salons privés)</a:t>
            </a:r>
            <a:endParaRPr b="1" sz="1300"/>
          </a:p>
          <a:p>
            <a:pPr indent="-233750" lvl="1" marL="288000" rtl="0" algn="l">
              <a:spcBef>
                <a:spcPts val="0"/>
              </a:spcBef>
              <a:spcAft>
                <a:spcPts val="0"/>
              </a:spcAft>
              <a:buSzPts val="1300"/>
              <a:buChar char="•"/>
            </a:pPr>
            <a:r>
              <a:rPr b="1" lang="fr-FR" sz="1300"/>
              <a:t>Audience :</a:t>
            </a:r>
            <a:r>
              <a:rPr lang="fr-FR" sz="1300"/>
              <a:t> Alumni HEC et grand public car diffusion Social Media</a:t>
            </a:r>
            <a:endParaRPr sz="1300"/>
          </a:p>
          <a:p>
            <a:pPr indent="-233750" lvl="1" marL="288000" rtl="0" algn="l">
              <a:spcBef>
                <a:spcPts val="0"/>
              </a:spcBef>
              <a:spcAft>
                <a:spcPts val="0"/>
              </a:spcAft>
              <a:buSzPts val="1300"/>
              <a:buChar char="•"/>
            </a:pPr>
            <a:r>
              <a:rPr b="1" lang="fr-FR" sz="1300"/>
              <a:t>Taille / portée :</a:t>
            </a:r>
            <a:r>
              <a:rPr lang="fr-FR" sz="1300"/>
              <a:t> entre </a:t>
            </a:r>
            <a:r>
              <a:rPr lang="fr-FR" sz="1300"/>
              <a:t>150 et 200 invités </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Interview animée par un journaliste, lors d’un petit-déjeuner </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Format historique de la communauté HEC, relancé et structuré comme un cercle de réflexion régulier / Exemple récent : Marie-Anne Barbat-Layani (Présidente de l’AMF) / Partenariat éditorial avec Challenges (anciennement BFM Business sur certaines éditions)</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3"/>
                </a:solidFill>
              </a:rPr>
              <a:t>Intérêts stratégiques :</a:t>
            </a:r>
            <a:endParaRPr b="1" sz="1300" u="sng"/>
          </a:p>
          <a:p>
            <a:pPr indent="-311150" lvl="0" marL="457200" rtl="0" algn="l">
              <a:spcBef>
                <a:spcPts val="0"/>
              </a:spcBef>
              <a:spcAft>
                <a:spcPts val="0"/>
              </a:spcAft>
              <a:buSzPts val="1300"/>
              <a:buChar char="-"/>
            </a:pPr>
            <a:r>
              <a:rPr lang="fr-FR" sz="1300"/>
              <a:t>Lien direct avec les futurs leaders économique de demain</a:t>
            </a:r>
            <a:endParaRPr b="1" sz="1300" u="sng"/>
          </a:p>
          <a:p>
            <a:pPr indent="0" lvl="0" marL="0" marR="0" rtl="0" algn="l">
              <a:lnSpc>
                <a:spcPct val="100000"/>
              </a:lnSpc>
              <a:spcBef>
                <a:spcPts val="0"/>
              </a:spcBef>
              <a:spcAft>
                <a:spcPts val="0"/>
              </a:spcAft>
              <a:buNone/>
            </a:pPr>
            <a:r>
              <a:t/>
            </a:r>
            <a:endParaRPr b="1" sz="1300" u="sng"/>
          </a:p>
        </p:txBody>
      </p:sp>
      <p:sp>
        <p:nvSpPr>
          <p:cNvPr id="594" name="Google Shape;594;p37"/>
          <p:cNvSpPr/>
          <p:nvPr/>
        </p:nvSpPr>
        <p:spPr>
          <a:xfrm>
            <a:off x="7130365" y="424925"/>
            <a:ext cx="4710000" cy="540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37"/>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37"/>
          <p:cNvSpPr/>
          <p:nvPr/>
        </p:nvSpPr>
        <p:spPr>
          <a:xfrm>
            <a:off x="11297381" y="379126"/>
            <a:ext cx="540000" cy="540000"/>
          </a:xfrm>
          <a:prstGeom prst="ellipse">
            <a:avLst/>
          </a:prstGeom>
          <a:solidFill>
            <a:schemeClr val="accent4"/>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597" name="Google Shape;597;p37"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598" name="Google Shape;598;p37"/>
          <p:cNvSpPr txBox="1"/>
          <p:nvPr>
            <p:ph idx="1" type="body"/>
          </p:nvPr>
        </p:nvSpPr>
        <p:spPr>
          <a:xfrm>
            <a:off x="75264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RECOMMANDATIONS</a:t>
            </a:r>
            <a:endParaRPr sz="900">
              <a:solidFill>
                <a:schemeClr val="accent1"/>
              </a:solidFill>
            </a:endParaRPr>
          </a:p>
        </p:txBody>
      </p:sp>
      <p:sp>
        <p:nvSpPr>
          <p:cNvPr id="599" name="Google Shape;599;p37"/>
          <p:cNvSpPr txBox="1"/>
          <p:nvPr/>
        </p:nvSpPr>
        <p:spPr>
          <a:xfrm>
            <a:off x="7260150" y="1056225"/>
            <a:ext cx="4154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accent1"/>
                </a:solidFill>
              </a:rPr>
              <a:t>Positionnement :</a:t>
            </a:r>
            <a:endParaRPr b="1">
              <a:solidFill>
                <a:schemeClr val="accent1"/>
              </a:solidFill>
            </a:endParaRPr>
          </a:p>
          <a:p>
            <a:pPr indent="0" lvl="0" marL="0" rtl="0" algn="l">
              <a:lnSpc>
                <a:spcPct val="115000"/>
              </a:lnSpc>
              <a:spcBef>
                <a:spcPts val="0"/>
              </a:spcBef>
              <a:spcAft>
                <a:spcPts val="0"/>
              </a:spcAft>
              <a:buNone/>
            </a:pPr>
            <a:r>
              <a:rPr lang="fr-FR">
                <a:solidFill>
                  <a:schemeClr val="accent1"/>
                </a:solidFill>
              </a:rPr>
              <a:t>Positionner le Crédit Agricole en lien direct avec les futurs décideurs économiques de demain, et capable de contribuer aux débats structurants sur les grandes transformations du système financier et de l’économie.</a:t>
            </a:r>
            <a:endParaRPr>
              <a:solidFill>
                <a:schemeClr val="accent1"/>
              </a:solidFill>
            </a:endParaRPr>
          </a:p>
        </p:txBody>
      </p:sp>
      <p:sp>
        <p:nvSpPr>
          <p:cNvPr id="600" name="Google Shape;600;p37"/>
          <p:cNvSpPr txBox="1"/>
          <p:nvPr/>
        </p:nvSpPr>
        <p:spPr>
          <a:xfrm>
            <a:off x="7295340" y="2704725"/>
            <a:ext cx="4154400" cy="21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accent1"/>
                </a:solidFill>
              </a:rPr>
              <a:t>Activations recommandées :</a:t>
            </a:r>
            <a:endParaRPr b="1" u="sng">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Participer en tant qu’invité intervenant (CEO / direction générale / direction des affaires publiques)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Intervention sur les grands enjeux de transformation du secteur bancaire et financier</a:t>
            </a:r>
            <a:endParaRPr>
              <a:solidFill>
                <a:schemeClr val="accent1"/>
              </a:solidFill>
            </a:endParaRPr>
          </a:p>
          <a:p>
            <a:pPr indent="0" lvl="0" marL="0" marR="0" rtl="0" algn="l">
              <a:lnSpc>
                <a:spcPct val="100000"/>
              </a:lnSpc>
              <a:spcBef>
                <a:spcPts val="0"/>
              </a:spcBef>
              <a:spcAft>
                <a:spcPts val="0"/>
              </a:spcAft>
              <a:buNone/>
            </a:pPr>
            <a:r>
              <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Accéder au cercle d’invitation régulier des décideurs (influence continue)</a:t>
            </a:r>
            <a:endParaRPr>
              <a:solidFill>
                <a:schemeClr val="accent1"/>
              </a:solidFill>
            </a:endParaRPr>
          </a:p>
        </p:txBody>
      </p:sp>
      <p:sp>
        <p:nvSpPr>
          <p:cNvPr id="601" name="Google Shape;601;p37"/>
          <p:cNvSpPr txBox="1"/>
          <p:nvPr>
            <p:ph idx="1" type="body"/>
          </p:nvPr>
        </p:nvSpPr>
        <p:spPr>
          <a:xfrm>
            <a:off x="469075" y="843034"/>
            <a:ext cx="6426000" cy="63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LES MATINS HEC : le rendez-vous intimiste</a:t>
            </a:r>
            <a:endParaRPr sz="1600">
              <a:solidFill>
                <a:schemeClr val="accent3"/>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des décideurs économiques et politiques</a:t>
            </a:r>
            <a:endParaRPr sz="1700"/>
          </a:p>
        </p:txBody>
      </p:sp>
      <p:pic>
        <p:nvPicPr>
          <p:cNvPr id="602" name="Google Shape;602;p37"/>
          <p:cNvPicPr preferRelativeResize="0"/>
          <p:nvPr/>
        </p:nvPicPr>
        <p:blipFill rotWithShape="1">
          <a:blip r:embed="rId4">
            <a:alphaModFix/>
          </a:blip>
          <a:srcRect b="26654" l="0" r="0" t="11560"/>
          <a:stretch/>
        </p:blipFill>
        <p:spPr>
          <a:xfrm>
            <a:off x="456029" y="107746"/>
            <a:ext cx="1268081" cy="630899"/>
          </a:xfrm>
          <a:prstGeom prst="rect">
            <a:avLst/>
          </a:prstGeom>
          <a:noFill/>
          <a:ln>
            <a:noFill/>
          </a:ln>
        </p:spPr>
      </p:pic>
      <p:sp>
        <p:nvSpPr>
          <p:cNvPr id="603" name="Google Shape;603;p37"/>
          <p:cNvSpPr txBox="1"/>
          <p:nvPr/>
        </p:nvSpPr>
        <p:spPr>
          <a:xfrm>
            <a:off x="7624075" y="4861125"/>
            <a:ext cx="37905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accent1"/>
                </a:solidFill>
              </a:rPr>
              <a:t>Site web : </a:t>
            </a:r>
            <a:r>
              <a:rPr b="1" lang="fr-FR" sz="1300" u="sng">
                <a:solidFill>
                  <a:schemeClr val="accent1"/>
                </a:solidFill>
                <a:hlinkClick r:id="rId5">
                  <a:extLst>
                    <a:ext uri="{A12FA001-AC4F-418D-AE19-62706E023703}">
                      <ahyp:hlinkClr val="tx"/>
                    </a:ext>
                  </a:extLst>
                </a:hlinkClick>
              </a:rPr>
              <a:t>https://hecstories.fr/fr/category/editos/matin-hec/</a:t>
            </a:r>
            <a:r>
              <a:rPr b="1" lang="fr-FR" sz="1300">
                <a:solidFill>
                  <a:schemeClr val="accent1"/>
                </a:solidFill>
              </a:rPr>
              <a:t> </a:t>
            </a:r>
            <a:endParaRPr b="1" sz="1300">
              <a:solidFill>
                <a:schemeClr val="accent1"/>
              </a:solidFill>
            </a:endParaRPr>
          </a:p>
        </p:txBody>
      </p:sp>
      <p:sp>
        <p:nvSpPr>
          <p:cNvPr id="604" name="Google Shape;604;p37"/>
          <p:cNvSpPr/>
          <p:nvPr/>
        </p:nvSpPr>
        <p:spPr>
          <a:xfrm>
            <a:off x="561850" y="1641925"/>
            <a:ext cx="6267900" cy="366600"/>
          </a:xfrm>
          <a:prstGeom prst="roundRect">
            <a:avLst>
              <a:gd fmla="val 50000"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5" name="Google Shape;605;p37"/>
          <p:cNvSpPr/>
          <p:nvPr/>
        </p:nvSpPr>
        <p:spPr>
          <a:xfrm>
            <a:off x="725050" y="1739549"/>
            <a:ext cx="6267900" cy="4998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900">
                <a:solidFill>
                  <a:schemeClr val="lt1"/>
                </a:solidFill>
                <a:latin typeface="Inter"/>
                <a:ea typeface="Inter"/>
                <a:cs typeface="Inter"/>
                <a:sym typeface="Inter"/>
              </a:rPr>
              <a:t>Format récurrent (sessions tout au long de l’année – prochaine édition à programmer selon calendrier 2026)</a:t>
            </a:r>
            <a:endParaRPr sz="1100">
              <a:solidFill>
                <a:schemeClr val="lt1"/>
              </a:solidFill>
              <a:latin typeface="Inter"/>
              <a:ea typeface="Inter"/>
              <a:cs typeface="Inter"/>
              <a:sym typeface="Inter"/>
            </a:endParaRPr>
          </a:p>
        </p:txBody>
      </p:sp>
      <p:sp>
        <p:nvSpPr>
          <p:cNvPr id="606" name="Google Shape;606;p37"/>
          <p:cNvSpPr/>
          <p:nvPr/>
        </p:nvSpPr>
        <p:spPr>
          <a:xfrm>
            <a:off x="561850" y="5080925"/>
            <a:ext cx="6088800" cy="540000"/>
          </a:xfrm>
          <a:prstGeom prst="roundRect">
            <a:avLst>
              <a:gd fmla="val 50000" name="adj"/>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07" name="Google Shape;607;p37"/>
          <p:cNvPicPr preferRelativeResize="0"/>
          <p:nvPr/>
        </p:nvPicPr>
        <p:blipFill rotWithShape="1">
          <a:blip r:embed="rId6">
            <a:alphaModFix/>
          </a:blip>
          <a:srcRect b="0" l="0" r="0" t="0"/>
          <a:stretch/>
        </p:blipFill>
        <p:spPr>
          <a:xfrm>
            <a:off x="703543" y="5183414"/>
            <a:ext cx="177205" cy="141684"/>
          </a:xfrm>
          <a:prstGeom prst="rect">
            <a:avLst/>
          </a:prstGeom>
          <a:noFill/>
          <a:ln>
            <a:noFill/>
          </a:ln>
        </p:spPr>
      </p:pic>
      <p:sp>
        <p:nvSpPr>
          <p:cNvPr id="608" name="Google Shape;608;p37"/>
          <p:cNvSpPr/>
          <p:nvPr/>
        </p:nvSpPr>
        <p:spPr>
          <a:xfrm>
            <a:off x="1022425" y="5182758"/>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Opportunité de contribuer aux débats structurants sur la régulation financière, l’innovation bancaire et la stabilité du système économique</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38"/>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614" name="Google Shape;614;p38"/>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615" name="Google Shape;615;p38"/>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616" name="Google Shape;616;p38"/>
          <p:cNvSpPr txBox="1"/>
          <p:nvPr>
            <p:ph idx="3" type="body"/>
          </p:nvPr>
        </p:nvSpPr>
        <p:spPr>
          <a:xfrm>
            <a:off x="464025" y="2316225"/>
            <a:ext cx="6429600" cy="30321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Lieu : </a:t>
            </a:r>
            <a:r>
              <a:rPr lang="fr-FR" sz="1300"/>
              <a:t>AX – Association des anciens élèves de l’École polytechnique / Paris et lieux partenaires</a:t>
            </a:r>
            <a:endParaRPr sz="1300"/>
          </a:p>
          <a:p>
            <a:pPr indent="-233750" lvl="1" marL="288000" rtl="0" algn="l">
              <a:spcBef>
                <a:spcPts val="0"/>
              </a:spcBef>
              <a:spcAft>
                <a:spcPts val="0"/>
              </a:spcAft>
              <a:buSzPts val="1300"/>
              <a:buChar char="•"/>
            </a:pPr>
            <a:r>
              <a:rPr b="1" lang="fr-FR" sz="1300"/>
              <a:t>Audience :</a:t>
            </a:r>
            <a:r>
              <a:rPr lang="fr-FR" sz="1300"/>
              <a:t> </a:t>
            </a:r>
            <a:r>
              <a:rPr lang="fr-FR" sz="1300"/>
              <a:t>Alumni de l’École polytechnique (ingénieurs, chercheurs, entrepreneurs), fondateurs de startups deeptech, IA, cybersécurité, quantique</a:t>
            </a:r>
            <a:endParaRPr sz="1300"/>
          </a:p>
          <a:p>
            <a:pPr indent="-233750" lvl="1" marL="288000" rtl="0" algn="l">
              <a:spcBef>
                <a:spcPts val="0"/>
              </a:spcBef>
              <a:spcAft>
                <a:spcPts val="0"/>
              </a:spcAft>
              <a:buSzPts val="1300"/>
              <a:buChar char="•"/>
            </a:pPr>
            <a:r>
              <a:rPr b="1" lang="fr-FR" sz="1300"/>
              <a:t>Taille / portée :</a:t>
            </a:r>
            <a:r>
              <a:rPr lang="fr-FR" sz="1300"/>
              <a:t> </a:t>
            </a:r>
            <a:r>
              <a:rPr lang="fr-FR" sz="1300"/>
              <a:t>Audience souvent comprise entre 50 et 300 participants selon les événements</a:t>
            </a:r>
            <a:endParaRPr sz="1300"/>
          </a:p>
          <a:p>
            <a:pPr indent="-233750" lvl="1" marL="288000" marR="0" rtl="0" algn="l">
              <a:lnSpc>
                <a:spcPct val="100000"/>
              </a:lnSpc>
              <a:spcBef>
                <a:spcPts val="0"/>
              </a:spcBef>
              <a:spcAft>
                <a:spcPts val="0"/>
              </a:spcAft>
              <a:buSzPts val="1300"/>
              <a:buChar char="•"/>
            </a:pPr>
            <a:r>
              <a:rPr b="1" lang="fr-FR" sz="1300"/>
              <a:t>Format de l’événement :</a:t>
            </a:r>
            <a:r>
              <a:rPr lang="fr-FR" sz="1300"/>
              <a:t> Interview classique ou dîner networking alumni</a:t>
            </a:r>
            <a:endParaRPr b="1" sz="1300">
              <a:solidFill>
                <a:srgbClr val="000000"/>
              </a:solidFill>
            </a:endParaRPr>
          </a:p>
          <a:p>
            <a:pPr indent="-233750" lvl="1" marL="288000" marR="0" rtl="0" algn="l">
              <a:lnSpc>
                <a:spcPct val="100000"/>
              </a:lnSpc>
              <a:spcBef>
                <a:spcPts val="0"/>
              </a:spcBef>
              <a:spcAft>
                <a:spcPts val="0"/>
              </a:spcAft>
              <a:buSzPts val="1300"/>
              <a:buChar char="•"/>
            </a:pPr>
            <a:r>
              <a:rPr b="1" lang="fr-FR" sz="1300"/>
              <a:t>Infos supplémentaires : </a:t>
            </a:r>
            <a:r>
              <a:rPr lang="fr-FR" sz="1300"/>
              <a:t>Connexion forte entre recherche scientifique, innovation et pouvoir économique</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3"/>
                </a:solidFill>
              </a:rPr>
              <a:t>Intérêts stratégiques :</a:t>
            </a:r>
            <a:endParaRPr b="1" sz="1300" u="sng"/>
          </a:p>
          <a:p>
            <a:pPr indent="-311150" lvl="0" marL="457200" rtl="0" algn="l">
              <a:lnSpc>
                <a:spcPct val="115000"/>
              </a:lnSpc>
              <a:spcBef>
                <a:spcPts val="0"/>
              </a:spcBef>
              <a:spcAft>
                <a:spcPts val="1200"/>
              </a:spcAft>
              <a:buClr>
                <a:srgbClr val="000000"/>
              </a:buClr>
              <a:buSzPts val="1300"/>
              <a:buChar char="-"/>
            </a:pPr>
            <a:r>
              <a:rPr lang="fr-FR" sz="1300"/>
              <a:t>Construction d’une relation long terme avec les futurs décideurs économiques et industriels européens </a:t>
            </a:r>
            <a:endParaRPr b="1" sz="1300" u="sng"/>
          </a:p>
        </p:txBody>
      </p:sp>
      <p:sp>
        <p:nvSpPr>
          <p:cNvPr id="617" name="Google Shape;617;p38"/>
          <p:cNvSpPr/>
          <p:nvPr/>
        </p:nvSpPr>
        <p:spPr>
          <a:xfrm>
            <a:off x="7130365" y="424925"/>
            <a:ext cx="4710000" cy="540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38"/>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9" name="Google Shape;619;p38"/>
          <p:cNvSpPr/>
          <p:nvPr/>
        </p:nvSpPr>
        <p:spPr>
          <a:xfrm>
            <a:off x="11297381" y="379126"/>
            <a:ext cx="540000" cy="540000"/>
          </a:xfrm>
          <a:prstGeom prst="ellipse">
            <a:avLst/>
          </a:prstGeom>
          <a:solidFill>
            <a:schemeClr val="accent4"/>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620" name="Google Shape;620;p38"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621" name="Google Shape;621;p38"/>
          <p:cNvSpPr txBox="1"/>
          <p:nvPr>
            <p:ph idx="1" type="body"/>
          </p:nvPr>
        </p:nvSpPr>
        <p:spPr>
          <a:xfrm>
            <a:off x="7526435" y="586250"/>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RECOMMANDATIONS</a:t>
            </a:r>
            <a:endParaRPr sz="900">
              <a:solidFill>
                <a:schemeClr val="accent1"/>
              </a:solidFill>
            </a:endParaRPr>
          </a:p>
        </p:txBody>
      </p:sp>
      <p:sp>
        <p:nvSpPr>
          <p:cNvPr id="622" name="Google Shape;622;p38"/>
          <p:cNvSpPr txBox="1"/>
          <p:nvPr/>
        </p:nvSpPr>
        <p:spPr>
          <a:xfrm>
            <a:off x="7260150" y="1056225"/>
            <a:ext cx="4154400" cy="23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accent1"/>
                </a:solidFill>
              </a:rPr>
              <a:t>Positionnement :</a:t>
            </a:r>
            <a:endParaRPr b="1">
              <a:solidFill>
                <a:schemeClr val="accent1"/>
              </a:solidFill>
            </a:endParaRPr>
          </a:p>
          <a:p>
            <a:pPr indent="0" lvl="0" marL="0" rtl="0" algn="l">
              <a:lnSpc>
                <a:spcPct val="115000"/>
              </a:lnSpc>
              <a:spcBef>
                <a:spcPts val="0"/>
              </a:spcBef>
              <a:spcAft>
                <a:spcPts val="0"/>
              </a:spcAft>
              <a:buNone/>
            </a:pPr>
            <a:r>
              <a:rPr lang="fr-FR">
                <a:solidFill>
                  <a:schemeClr val="accent1"/>
                </a:solidFill>
              </a:rPr>
              <a:t>Positionner le Crédit Agricole comme une banque européenne connectée aux réseaux d’excellence scientifique et technologique, en lien direct avec les futurs décideurs économiques et industriels de demain, capable d’accompagner la transformation des innovations deeptech en projets économiques et industriels structurants.</a:t>
            </a:r>
            <a:endParaRPr>
              <a:solidFill>
                <a:schemeClr val="accent1"/>
              </a:solidFill>
            </a:endParaRPr>
          </a:p>
          <a:p>
            <a:pPr indent="0" lvl="0" marL="0" rtl="0" algn="l">
              <a:spcBef>
                <a:spcPts val="0"/>
              </a:spcBef>
              <a:spcAft>
                <a:spcPts val="0"/>
              </a:spcAft>
              <a:buNone/>
            </a:pPr>
            <a:r>
              <a:t/>
            </a:r>
            <a:endParaRPr>
              <a:solidFill>
                <a:schemeClr val="accent1"/>
              </a:solidFill>
            </a:endParaRPr>
          </a:p>
        </p:txBody>
      </p:sp>
      <p:sp>
        <p:nvSpPr>
          <p:cNvPr id="623" name="Google Shape;623;p38"/>
          <p:cNvSpPr txBox="1"/>
          <p:nvPr/>
        </p:nvSpPr>
        <p:spPr>
          <a:xfrm>
            <a:off x="7295350" y="3168692"/>
            <a:ext cx="4320000" cy="215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accent1"/>
                </a:solidFill>
              </a:rPr>
              <a:t>Activations recommandées :</a:t>
            </a:r>
            <a:endParaRPr b="1" u="sng">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Prendre part aux conférences et tables rondes thématiques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Interventions sur les enjeux d’innovation technologique et de financement de la deeptech</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Participer aux dîners et formats alumni à forte valeur relationnelle</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Moments de networking très qualifiés avec ingénieurs, entrepreneurs et dirigeants industriels</a:t>
            </a:r>
            <a:endParaRPr sz="1100">
              <a:solidFill>
                <a:schemeClr val="accent1"/>
              </a:solidFill>
            </a:endParaRPr>
          </a:p>
        </p:txBody>
      </p:sp>
      <p:sp>
        <p:nvSpPr>
          <p:cNvPr id="624" name="Google Shape;624;p38"/>
          <p:cNvSpPr txBox="1"/>
          <p:nvPr>
            <p:ph idx="1" type="body"/>
          </p:nvPr>
        </p:nvSpPr>
        <p:spPr>
          <a:xfrm>
            <a:off x="485650" y="1066875"/>
            <a:ext cx="62715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RENCONTRE ALUMNI POLYTECHNIQUE : le réseau d’influence des ingénieurs et décideurs de l’innovation</a:t>
            </a:r>
            <a:endParaRPr/>
          </a:p>
        </p:txBody>
      </p:sp>
      <p:pic>
        <p:nvPicPr>
          <p:cNvPr id="625" name="Google Shape;625;p38"/>
          <p:cNvPicPr preferRelativeResize="0"/>
          <p:nvPr/>
        </p:nvPicPr>
        <p:blipFill>
          <a:blip r:embed="rId4">
            <a:alphaModFix/>
          </a:blip>
          <a:stretch>
            <a:fillRect/>
          </a:stretch>
        </p:blipFill>
        <p:spPr>
          <a:xfrm>
            <a:off x="561848" y="176750"/>
            <a:ext cx="1375950" cy="689450"/>
          </a:xfrm>
          <a:prstGeom prst="rect">
            <a:avLst/>
          </a:prstGeom>
          <a:noFill/>
          <a:ln>
            <a:noFill/>
          </a:ln>
        </p:spPr>
      </p:pic>
      <p:sp>
        <p:nvSpPr>
          <p:cNvPr id="626" name="Google Shape;626;p38"/>
          <p:cNvSpPr txBox="1"/>
          <p:nvPr/>
        </p:nvSpPr>
        <p:spPr>
          <a:xfrm>
            <a:off x="7527022" y="5335453"/>
            <a:ext cx="46263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accent1"/>
                </a:solidFill>
              </a:rPr>
              <a:t>Site web : </a:t>
            </a:r>
            <a:r>
              <a:rPr b="1" lang="fr-FR" sz="1300" u="sng">
                <a:solidFill>
                  <a:schemeClr val="accent1"/>
                </a:solidFill>
                <a:hlinkClick r:id="rId5">
                  <a:extLst>
                    <a:ext uri="{A12FA001-AC4F-418D-AE19-62706E023703}">
                      <ahyp:hlinkClr val="tx"/>
                    </a:ext>
                  </a:extLst>
                </a:hlinkClick>
              </a:rPr>
              <a:t>https://ax.polytechnique.org/fr/agenda</a:t>
            </a:r>
            <a:r>
              <a:rPr b="1" lang="fr-FR" sz="1300">
                <a:solidFill>
                  <a:schemeClr val="accent1"/>
                </a:solidFill>
              </a:rPr>
              <a:t> </a:t>
            </a:r>
            <a:endParaRPr b="1" sz="1300">
              <a:solidFill>
                <a:schemeClr val="accent1"/>
              </a:solidFill>
            </a:endParaRPr>
          </a:p>
        </p:txBody>
      </p:sp>
      <p:sp>
        <p:nvSpPr>
          <p:cNvPr id="627" name="Google Shape;627;p38"/>
          <p:cNvSpPr/>
          <p:nvPr/>
        </p:nvSpPr>
        <p:spPr>
          <a:xfrm>
            <a:off x="561850" y="1718125"/>
            <a:ext cx="5928300" cy="366600"/>
          </a:xfrm>
          <a:prstGeom prst="roundRect">
            <a:avLst>
              <a:gd fmla="val 50000"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8" name="Google Shape;628;p38"/>
          <p:cNvSpPr/>
          <p:nvPr/>
        </p:nvSpPr>
        <p:spPr>
          <a:xfrm>
            <a:off x="725050" y="1815750"/>
            <a:ext cx="5928300" cy="2520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Programmation continue (événements tout au long de l’année 2026 via le réseau AX)</a:t>
            </a:r>
            <a:endParaRPr sz="1100">
              <a:solidFill>
                <a:schemeClr val="lt1"/>
              </a:solidFill>
              <a:latin typeface="Inter"/>
              <a:ea typeface="Inter"/>
              <a:cs typeface="Inter"/>
              <a:sym typeface="Inter"/>
            </a:endParaRPr>
          </a:p>
        </p:txBody>
      </p:sp>
      <p:sp>
        <p:nvSpPr>
          <p:cNvPr id="629" name="Google Shape;629;p38"/>
          <p:cNvSpPr/>
          <p:nvPr/>
        </p:nvSpPr>
        <p:spPr>
          <a:xfrm>
            <a:off x="561850" y="5410439"/>
            <a:ext cx="6088800" cy="366600"/>
          </a:xfrm>
          <a:prstGeom prst="roundRect">
            <a:avLst>
              <a:gd fmla="val 50000" name="adj"/>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30" name="Google Shape;630;p38"/>
          <p:cNvPicPr preferRelativeResize="0"/>
          <p:nvPr/>
        </p:nvPicPr>
        <p:blipFill rotWithShape="1">
          <a:blip r:embed="rId6">
            <a:alphaModFix/>
          </a:blip>
          <a:srcRect b="0" l="0" r="0" t="0"/>
          <a:stretch/>
        </p:blipFill>
        <p:spPr>
          <a:xfrm>
            <a:off x="703543" y="5525799"/>
            <a:ext cx="177205" cy="141684"/>
          </a:xfrm>
          <a:prstGeom prst="rect">
            <a:avLst/>
          </a:prstGeom>
          <a:noFill/>
          <a:ln>
            <a:noFill/>
          </a:ln>
        </p:spPr>
      </p:pic>
      <p:sp>
        <p:nvSpPr>
          <p:cNvPr id="631" name="Google Shape;631;p38"/>
          <p:cNvSpPr/>
          <p:nvPr/>
        </p:nvSpPr>
        <p:spPr>
          <a:xfrm>
            <a:off x="1022425" y="5512259"/>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Accès direct à un vivier d’ingénieurs, entrepreneurs et décideurs technologiques</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9"/>
          <p:cNvSpPr txBox="1"/>
          <p:nvPr>
            <p:ph idx="10" type="dt"/>
          </p:nvPr>
        </p:nvSpPr>
        <p:spPr>
          <a:xfrm>
            <a:off x="1138238" y="6174395"/>
            <a:ext cx="828000" cy="252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r>
              <a:rPr lang="fr-FR"/>
              <a:t>27/04/2026</a:t>
            </a:r>
            <a:endParaRPr/>
          </a:p>
        </p:txBody>
      </p:sp>
      <p:sp>
        <p:nvSpPr>
          <p:cNvPr id="637" name="Google Shape;637;p39"/>
          <p:cNvSpPr txBox="1"/>
          <p:nvPr>
            <p:ph idx="11" type="ftr"/>
          </p:nvPr>
        </p:nvSpPr>
        <p:spPr>
          <a:xfrm>
            <a:off x="1852612" y="6174395"/>
            <a:ext cx="432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fr-FR"/>
              <a:t>-  ÉVÉNEMENTS STRATÉGIQUES CRÉDIT AGRICOLE</a:t>
            </a:r>
            <a:endParaRPr/>
          </a:p>
        </p:txBody>
      </p:sp>
      <p:sp>
        <p:nvSpPr>
          <p:cNvPr id="638" name="Google Shape;638;p39"/>
          <p:cNvSpPr txBox="1"/>
          <p:nvPr>
            <p:ph idx="12" type="sldNum"/>
          </p:nvPr>
        </p:nvSpPr>
        <p:spPr>
          <a:xfrm>
            <a:off x="705996" y="6174395"/>
            <a:ext cx="540000" cy="252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fld id="{00000000-1234-1234-1234-123412341234}" type="slidenum">
              <a:rPr lang="fr-FR"/>
              <a:t>‹#›</a:t>
            </a:fld>
            <a:endParaRPr/>
          </a:p>
        </p:txBody>
      </p:sp>
      <p:sp>
        <p:nvSpPr>
          <p:cNvPr id="639" name="Google Shape;639;p39"/>
          <p:cNvSpPr txBox="1"/>
          <p:nvPr>
            <p:ph idx="3" type="body"/>
          </p:nvPr>
        </p:nvSpPr>
        <p:spPr>
          <a:xfrm>
            <a:off x="471750" y="2026248"/>
            <a:ext cx="6357900" cy="3831900"/>
          </a:xfrm>
          <a:prstGeom prst="rect">
            <a:avLst/>
          </a:prstGeom>
          <a:noFill/>
          <a:ln>
            <a:noFill/>
          </a:ln>
        </p:spPr>
        <p:txBody>
          <a:bodyPr anchorCtr="0" anchor="t" bIns="45700" lIns="91425" spcFirstLastPara="1" rIns="91425" wrap="square" tIns="45700">
            <a:noAutofit/>
          </a:bodyPr>
          <a:lstStyle/>
          <a:p>
            <a:pPr indent="-233750" lvl="1" marL="288000" rtl="0" algn="l">
              <a:spcBef>
                <a:spcPts val="0"/>
              </a:spcBef>
              <a:spcAft>
                <a:spcPts val="0"/>
              </a:spcAft>
              <a:buSzPts val="1300"/>
              <a:buChar char="•"/>
            </a:pPr>
            <a:r>
              <a:rPr b="1" lang="fr-FR" sz="1300"/>
              <a:t>Lieu : </a:t>
            </a:r>
            <a:r>
              <a:rPr lang="fr-FR" sz="1300"/>
              <a:t>Événement</a:t>
            </a:r>
            <a:r>
              <a:rPr lang="fr-FR" sz="1300"/>
              <a:t> de reveal à Paris</a:t>
            </a:r>
            <a:endParaRPr sz="1300"/>
          </a:p>
          <a:p>
            <a:pPr indent="-233750" lvl="1" marL="288000" rtl="0" algn="l">
              <a:spcBef>
                <a:spcPts val="0"/>
              </a:spcBef>
              <a:spcAft>
                <a:spcPts val="0"/>
              </a:spcAft>
              <a:buSzPts val="1300"/>
              <a:buChar char="•"/>
            </a:pPr>
            <a:r>
              <a:rPr b="1" lang="fr-FR" sz="1300"/>
              <a:t>Audience :</a:t>
            </a:r>
            <a:r>
              <a:rPr lang="fr-FR" sz="1300"/>
              <a:t> </a:t>
            </a:r>
            <a:r>
              <a:rPr lang="fr-FR" sz="1300"/>
              <a:t>Fondateurs de startups françaises, investisseurs grands groupes, décideurs économiques et médias spécialisés</a:t>
            </a:r>
            <a:endParaRPr sz="1300"/>
          </a:p>
          <a:p>
            <a:pPr indent="-233750" lvl="1" marL="288000" rtl="0" algn="l">
              <a:spcBef>
                <a:spcPts val="0"/>
              </a:spcBef>
              <a:spcAft>
                <a:spcPts val="0"/>
              </a:spcAft>
              <a:buSzPts val="1300"/>
              <a:buChar char="•"/>
            </a:pPr>
            <a:r>
              <a:rPr b="1" lang="fr-FR" sz="1300"/>
              <a:t>Taille / portée :</a:t>
            </a:r>
            <a:r>
              <a:rPr lang="fr-FR" sz="1300"/>
              <a:t> </a:t>
            </a:r>
            <a:r>
              <a:rPr lang="fr-FR" sz="1300"/>
              <a:t>100 startups sélectionnées chaque année / Forte audience B2B via la publication Challenges / Large diffusion auprès des professionnels de la tech et de la finance / Événement de reveal associé avec écosystème VC et corporate</a:t>
            </a:r>
            <a:endParaRPr sz="1300"/>
          </a:p>
          <a:p>
            <a:pPr indent="-233750" lvl="1" marL="288000" rtl="0" algn="l">
              <a:spcBef>
                <a:spcPts val="0"/>
              </a:spcBef>
              <a:spcAft>
                <a:spcPts val="0"/>
              </a:spcAft>
              <a:buSzPts val="1300"/>
              <a:buChar char="•"/>
            </a:pPr>
            <a:r>
              <a:rPr b="1" lang="fr-FR" sz="1300"/>
              <a:t>Format de l’événement :</a:t>
            </a:r>
            <a:r>
              <a:rPr b="1" lang="fr-FR" sz="1300">
                <a:solidFill>
                  <a:srgbClr val="000000"/>
                </a:solidFill>
              </a:rPr>
              <a:t> </a:t>
            </a:r>
            <a:r>
              <a:rPr lang="fr-FR" sz="1300"/>
              <a:t>Publication d’un classement éditorial de référence, pitchs et rencontres entre startups et investisseurs, sessions de networking et rencontres business, valorisation médiatique forte via Challenges</a:t>
            </a:r>
            <a:endParaRPr sz="1300"/>
          </a:p>
          <a:p>
            <a:pPr indent="-233750" lvl="1" marL="288000" marR="0" rtl="0" algn="l">
              <a:lnSpc>
                <a:spcPct val="100000"/>
              </a:lnSpc>
              <a:spcBef>
                <a:spcPts val="0"/>
              </a:spcBef>
              <a:spcAft>
                <a:spcPts val="0"/>
              </a:spcAft>
              <a:buSzPts val="1300"/>
              <a:buChar char="•"/>
            </a:pPr>
            <a:r>
              <a:rPr b="1" lang="fr-FR" sz="1300"/>
              <a:t>Infos supplémentaires : </a:t>
            </a:r>
            <a:r>
              <a:rPr lang="fr-FR" sz="1300"/>
              <a:t>Alumni du classement devenus leaders européens et mondiaux : Doctolib, Back Market, Qonto, etc.</a:t>
            </a:r>
            <a:endParaRPr sz="1300"/>
          </a:p>
          <a:p>
            <a:pPr indent="0" lvl="0" marL="0" marR="0" rtl="0" algn="l">
              <a:lnSpc>
                <a:spcPct val="100000"/>
              </a:lnSpc>
              <a:spcBef>
                <a:spcPts val="0"/>
              </a:spcBef>
              <a:spcAft>
                <a:spcPts val="0"/>
              </a:spcAft>
              <a:buNone/>
            </a:pPr>
            <a:r>
              <a:t/>
            </a:r>
            <a:endParaRPr sz="1300"/>
          </a:p>
          <a:p>
            <a:pPr indent="0" lvl="0" marL="0" marR="0" rtl="0" algn="l">
              <a:lnSpc>
                <a:spcPct val="100000"/>
              </a:lnSpc>
              <a:spcBef>
                <a:spcPts val="0"/>
              </a:spcBef>
              <a:spcAft>
                <a:spcPts val="0"/>
              </a:spcAft>
              <a:buNone/>
            </a:pPr>
            <a:r>
              <a:rPr b="1" lang="fr-FR" sz="1300" u="sng">
                <a:solidFill>
                  <a:schemeClr val="accent3"/>
                </a:solidFill>
              </a:rPr>
              <a:t>Intérêts stratégiques :</a:t>
            </a:r>
            <a:endParaRPr b="1" sz="1300" u="sng"/>
          </a:p>
          <a:p>
            <a:pPr indent="-311150" lvl="0" marL="457200" rtl="0" algn="l">
              <a:spcBef>
                <a:spcPts val="0"/>
              </a:spcBef>
              <a:spcAft>
                <a:spcPts val="0"/>
              </a:spcAft>
              <a:buSzPts val="1300"/>
              <a:buChar char="-"/>
            </a:pPr>
            <a:r>
              <a:rPr lang="fr-FR" sz="1300"/>
              <a:t>Renforcement du rôle du Crédit Agricole dans le financement de l’innovation en France</a:t>
            </a:r>
            <a:endParaRPr b="1" sz="1300" u="sng"/>
          </a:p>
        </p:txBody>
      </p:sp>
      <p:sp>
        <p:nvSpPr>
          <p:cNvPr id="640" name="Google Shape;640;p39"/>
          <p:cNvSpPr/>
          <p:nvPr/>
        </p:nvSpPr>
        <p:spPr>
          <a:xfrm>
            <a:off x="7130365" y="424925"/>
            <a:ext cx="4710000" cy="54063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39"/>
          <p:cNvSpPr/>
          <p:nvPr/>
        </p:nvSpPr>
        <p:spPr>
          <a:xfrm>
            <a:off x="11189977" y="359775"/>
            <a:ext cx="754800" cy="6309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39"/>
          <p:cNvSpPr/>
          <p:nvPr/>
        </p:nvSpPr>
        <p:spPr>
          <a:xfrm>
            <a:off x="11297381" y="379126"/>
            <a:ext cx="540000" cy="540000"/>
          </a:xfrm>
          <a:prstGeom prst="ellipse">
            <a:avLst/>
          </a:prstGeom>
          <a:solidFill>
            <a:schemeClr val="accent4"/>
          </a:solidFill>
          <a:ln>
            <a:noFill/>
          </a:ln>
        </p:spPr>
        <p:txBody>
          <a:bodyPr anchorCtr="0" anchor="ctr" bIns="177700" lIns="177700" spcFirstLastPara="1" rIns="177700" wrap="square" tIns="177700">
            <a:noAutofit/>
          </a:bodyPr>
          <a:lstStyle/>
          <a:p>
            <a:pPr indent="0" lvl="0" marL="0" rtl="0" algn="ctr">
              <a:spcBef>
                <a:spcPts val="0"/>
              </a:spcBef>
              <a:spcAft>
                <a:spcPts val="0"/>
              </a:spcAft>
              <a:buNone/>
            </a:pPr>
            <a:r>
              <a:t/>
            </a:r>
            <a:endParaRPr sz="2721"/>
          </a:p>
        </p:txBody>
      </p:sp>
      <p:pic>
        <p:nvPicPr>
          <p:cNvPr id="643" name="Google Shape;643;p39" title="blanc.png"/>
          <p:cNvPicPr preferRelativeResize="0"/>
          <p:nvPr/>
        </p:nvPicPr>
        <p:blipFill>
          <a:blip r:embed="rId3">
            <a:alphaModFix/>
          </a:blip>
          <a:stretch>
            <a:fillRect/>
          </a:stretch>
        </p:blipFill>
        <p:spPr>
          <a:xfrm rot="-1939490">
            <a:off x="11381952" y="509464"/>
            <a:ext cx="370796" cy="279247"/>
          </a:xfrm>
          <a:prstGeom prst="rect">
            <a:avLst/>
          </a:prstGeom>
          <a:noFill/>
          <a:ln>
            <a:noFill/>
          </a:ln>
        </p:spPr>
      </p:pic>
      <p:sp>
        <p:nvSpPr>
          <p:cNvPr id="644" name="Google Shape;644;p39"/>
          <p:cNvSpPr txBox="1"/>
          <p:nvPr>
            <p:ph idx="1" type="body"/>
          </p:nvPr>
        </p:nvSpPr>
        <p:spPr>
          <a:xfrm>
            <a:off x="7714035" y="558675"/>
            <a:ext cx="3542700" cy="43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000"/>
              <a:buNone/>
            </a:pPr>
            <a:r>
              <a:rPr lang="fr-FR" sz="1900">
                <a:solidFill>
                  <a:schemeClr val="accent1"/>
                </a:solidFill>
                <a:latin typeface="Arial Black"/>
                <a:ea typeface="Arial Black"/>
                <a:cs typeface="Arial Black"/>
                <a:sym typeface="Arial Black"/>
              </a:rPr>
              <a:t>RECOMMANDATIONS</a:t>
            </a:r>
            <a:endParaRPr sz="900">
              <a:solidFill>
                <a:schemeClr val="accent1"/>
              </a:solidFill>
            </a:endParaRPr>
          </a:p>
        </p:txBody>
      </p:sp>
      <p:sp>
        <p:nvSpPr>
          <p:cNvPr id="645" name="Google Shape;645;p39"/>
          <p:cNvSpPr txBox="1"/>
          <p:nvPr/>
        </p:nvSpPr>
        <p:spPr>
          <a:xfrm>
            <a:off x="7260150" y="980025"/>
            <a:ext cx="41544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a:solidFill>
                  <a:schemeClr val="accent1"/>
                </a:solidFill>
              </a:rPr>
              <a:t>Positionnement :</a:t>
            </a:r>
            <a:endParaRPr b="1">
              <a:solidFill>
                <a:schemeClr val="accent1"/>
              </a:solidFill>
            </a:endParaRPr>
          </a:p>
          <a:p>
            <a:pPr indent="0" lvl="0" marL="0" rtl="0" algn="l">
              <a:lnSpc>
                <a:spcPct val="115000"/>
              </a:lnSpc>
              <a:spcBef>
                <a:spcPts val="0"/>
              </a:spcBef>
              <a:spcAft>
                <a:spcPts val="0"/>
              </a:spcAft>
              <a:buNone/>
            </a:pPr>
            <a:r>
              <a:rPr lang="fr-FR">
                <a:solidFill>
                  <a:schemeClr val="accent1"/>
                </a:solidFill>
              </a:rPr>
              <a:t>Positionner le Crédit Agricole comme une banque européenne ancrée dans le financement de la nouvelle génération d’entrepreneurs, capable d’accompagner les startups les plus prometteuses dès leurs premières phases de croissance.</a:t>
            </a:r>
            <a:endParaRPr>
              <a:solidFill>
                <a:schemeClr val="accent1"/>
              </a:solidFill>
            </a:endParaRPr>
          </a:p>
        </p:txBody>
      </p:sp>
      <p:sp>
        <p:nvSpPr>
          <p:cNvPr id="646" name="Google Shape;646;p39"/>
          <p:cNvSpPr txBox="1"/>
          <p:nvPr/>
        </p:nvSpPr>
        <p:spPr>
          <a:xfrm>
            <a:off x="7295351" y="2628525"/>
            <a:ext cx="4440600" cy="258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fr-FR" u="sng">
                <a:solidFill>
                  <a:schemeClr val="accent1"/>
                </a:solidFill>
              </a:rPr>
              <a:t>Activations recommandées :</a:t>
            </a:r>
            <a:endParaRPr b="1" u="sng">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Faire partie du jury de sélection</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Intégration au comité d’évaluation des 100 startups sélectionnées</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Prendre la parole en tant que sponsor lors de l’événement de reveal (keynote)</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Prise de parole sur les enjeux de financement de l’innovation et de passage à l’échelle des startups</a:t>
            </a:r>
            <a:endParaRPr>
              <a:solidFill>
                <a:schemeClr val="accent1"/>
              </a:solidFill>
            </a:endParaRPr>
          </a:p>
          <a:p>
            <a:pPr indent="-240100" lvl="1" marL="288000" marR="0" rtl="0" algn="l">
              <a:lnSpc>
                <a:spcPct val="100000"/>
              </a:lnSpc>
              <a:spcBef>
                <a:spcPts val="0"/>
              </a:spcBef>
              <a:spcAft>
                <a:spcPts val="0"/>
              </a:spcAft>
              <a:buClr>
                <a:schemeClr val="accent1"/>
              </a:buClr>
              <a:buSzPts val="1400"/>
              <a:buChar char="•"/>
            </a:pPr>
            <a:r>
              <a:rPr b="1" lang="fr-FR">
                <a:solidFill>
                  <a:schemeClr val="accent1"/>
                </a:solidFill>
              </a:rPr>
              <a:t>Proposer une dotation aux lauréats</a:t>
            </a:r>
            <a:endParaRPr b="1">
              <a:solidFill>
                <a:schemeClr val="accent1"/>
              </a:solidFill>
            </a:endParaRPr>
          </a:p>
          <a:p>
            <a:pPr indent="0" lvl="0" marL="0" marR="0" rtl="0" algn="l">
              <a:lnSpc>
                <a:spcPct val="100000"/>
              </a:lnSpc>
              <a:spcBef>
                <a:spcPts val="0"/>
              </a:spcBef>
              <a:spcAft>
                <a:spcPts val="0"/>
              </a:spcAft>
              <a:buNone/>
            </a:pPr>
            <a:r>
              <a:rPr lang="fr-FR">
                <a:solidFill>
                  <a:schemeClr val="accent1"/>
                </a:solidFill>
              </a:rPr>
              <a:t>→ Mise en place d’un prix ou d’un accompagnement dédié (financement, mentoring, accès réseau)</a:t>
            </a:r>
            <a:endParaRPr sz="1100"/>
          </a:p>
        </p:txBody>
      </p:sp>
      <p:sp>
        <p:nvSpPr>
          <p:cNvPr id="647" name="Google Shape;647;p39"/>
          <p:cNvSpPr txBox="1"/>
          <p:nvPr>
            <p:ph idx="1" type="body"/>
          </p:nvPr>
        </p:nvSpPr>
        <p:spPr>
          <a:xfrm>
            <a:off x="471750" y="707100"/>
            <a:ext cx="6357900" cy="1002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LES 100 STARTUPS OÙ INVESTIR :</a:t>
            </a:r>
            <a:endParaRPr sz="1600">
              <a:solidFill>
                <a:schemeClr val="accent3"/>
              </a:solidFill>
              <a:latin typeface="Arial Black"/>
              <a:ea typeface="Arial Black"/>
              <a:cs typeface="Arial Black"/>
              <a:sym typeface="Arial Black"/>
            </a:endParaRPr>
          </a:p>
          <a:p>
            <a:pPr indent="0" lvl="0" marL="0" marR="0" rtl="0" algn="l">
              <a:lnSpc>
                <a:spcPct val="100000"/>
              </a:lnSpc>
              <a:spcBef>
                <a:spcPts val="0"/>
              </a:spcBef>
              <a:spcAft>
                <a:spcPts val="0"/>
              </a:spcAft>
              <a:buClr>
                <a:schemeClr val="dk1"/>
              </a:buClr>
              <a:buSzPts val="2000"/>
              <a:buNone/>
            </a:pPr>
            <a:r>
              <a:rPr lang="fr-FR" sz="1600">
                <a:solidFill>
                  <a:schemeClr val="accent3"/>
                </a:solidFill>
                <a:latin typeface="Arial Black"/>
                <a:ea typeface="Arial Black"/>
                <a:cs typeface="Arial Black"/>
                <a:sym typeface="Arial Black"/>
              </a:rPr>
              <a:t>LE CLASSEMENT ET L’ÉVÉNEMENT</a:t>
            </a:r>
            <a:endParaRPr/>
          </a:p>
        </p:txBody>
      </p:sp>
      <p:pic>
        <p:nvPicPr>
          <p:cNvPr id="648" name="Google Shape;648;p39"/>
          <p:cNvPicPr preferRelativeResize="0"/>
          <p:nvPr/>
        </p:nvPicPr>
        <p:blipFill>
          <a:blip r:embed="rId4">
            <a:alphaModFix/>
          </a:blip>
          <a:stretch>
            <a:fillRect/>
          </a:stretch>
        </p:blipFill>
        <p:spPr>
          <a:xfrm>
            <a:off x="561850" y="234050"/>
            <a:ext cx="1497600" cy="378900"/>
          </a:xfrm>
          <a:prstGeom prst="rect">
            <a:avLst/>
          </a:prstGeom>
          <a:noFill/>
          <a:ln>
            <a:noFill/>
          </a:ln>
        </p:spPr>
      </p:pic>
      <p:sp>
        <p:nvSpPr>
          <p:cNvPr id="649" name="Google Shape;649;p39"/>
          <p:cNvSpPr txBox="1"/>
          <p:nvPr/>
        </p:nvSpPr>
        <p:spPr>
          <a:xfrm>
            <a:off x="7584875" y="5225325"/>
            <a:ext cx="3939600" cy="31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FR" sz="1300">
                <a:solidFill>
                  <a:schemeClr val="accent1"/>
                </a:solidFill>
              </a:rPr>
              <a:t>Site web : </a:t>
            </a:r>
            <a:r>
              <a:rPr b="1" lang="fr-FR" sz="1300" u="sng">
                <a:solidFill>
                  <a:schemeClr val="accent1"/>
                </a:solidFill>
                <a:hlinkClick r:id="rId5">
                  <a:extLst>
                    <a:ext uri="{A12FA001-AC4F-418D-AE19-62706E023703}">
                      <ahyp:hlinkClr val="tx"/>
                    </a:ext>
                  </a:extLst>
                </a:hlinkClick>
              </a:rPr>
              <a:t>https://www.challenges.fr/classements/start-up/</a:t>
            </a:r>
            <a:r>
              <a:rPr b="1" lang="fr-FR" sz="1300">
                <a:solidFill>
                  <a:schemeClr val="accent1"/>
                </a:solidFill>
              </a:rPr>
              <a:t> </a:t>
            </a:r>
            <a:endParaRPr b="1" sz="1300">
              <a:solidFill>
                <a:schemeClr val="accent1"/>
              </a:solidFill>
            </a:endParaRPr>
          </a:p>
        </p:txBody>
      </p:sp>
      <p:sp>
        <p:nvSpPr>
          <p:cNvPr id="650" name="Google Shape;650;p39"/>
          <p:cNvSpPr/>
          <p:nvPr/>
        </p:nvSpPr>
        <p:spPr>
          <a:xfrm>
            <a:off x="561850" y="1413325"/>
            <a:ext cx="5928300" cy="366600"/>
          </a:xfrm>
          <a:prstGeom prst="roundRect">
            <a:avLst>
              <a:gd fmla="val 50000" name="adj"/>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1" name="Google Shape;651;p39"/>
          <p:cNvSpPr/>
          <p:nvPr/>
        </p:nvSpPr>
        <p:spPr>
          <a:xfrm>
            <a:off x="725050" y="1510950"/>
            <a:ext cx="5928300" cy="252000"/>
          </a:xfrm>
          <a:prstGeom prst="rect">
            <a:avLst/>
          </a:prstGeom>
          <a:noFill/>
          <a:ln>
            <a:noFill/>
          </a:ln>
        </p:spPr>
        <p:txBody>
          <a:bodyPr anchorCtr="0" anchor="t" bIns="0" lIns="0" spcFirstLastPara="1" rIns="0" wrap="square" tIns="0">
            <a:noAutofit/>
          </a:bodyPr>
          <a:lstStyle/>
          <a:p>
            <a:pPr indent="0" lvl="0" marL="0" marR="0" rtl="0" algn="l">
              <a:lnSpc>
                <a:spcPct val="147058"/>
              </a:lnSpc>
              <a:spcBef>
                <a:spcPts val="0"/>
              </a:spcBef>
              <a:spcAft>
                <a:spcPts val="0"/>
              </a:spcAft>
              <a:buClr>
                <a:srgbClr val="000000"/>
              </a:buClr>
              <a:buSzPts val="1100"/>
              <a:buFont typeface="Inter"/>
              <a:buNone/>
            </a:pPr>
            <a:r>
              <a:rPr lang="fr-FR" sz="1100">
                <a:solidFill>
                  <a:schemeClr val="lt1"/>
                </a:solidFill>
                <a:latin typeface="Inter"/>
                <a:ea typeface="Inter"/>
                <a:cs typeface="Inter"/>
                <a:sym typeface="Inter"/>
              </a:rPr>
              <a:t>Edition 2026 (publication annuelle - généralement en mars)</a:t>
            </a:r>
            <a:endParaRPr sz="1100">
              <a:solidFill>
                <a:schemeClr val="lt1"/>
              </a:solidFill>
              <a:latin typeface="Inter"/>
              <a:ea typeface="Inter"/>
              <a:cs typeface="Inter"/>
              <a:sym typeface="Inter"/>
            </a:endParaRPr>
          </a:p>
        </p:txBody>
      </p:sp>
      <p:sp>
        <p:nvSpPr>
          <p:cNvPr id="652" name="Google Shape;652;p39"/>
          <p:cNvSpPr/>
          <p:nvPr/>
        </p:nvSpPr>
        <p:spPr>
          <a:xfrm>
            <a:off x="561850" y="5410450"/>
            <a:ext cx="4226400" cy="366600"/>
          </a:xfrm>
          <a:prstGeom prst="roundRect">
            <a:avLst>
              <a:gd fmla="val 50000" name="adj"/>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pic>
        <p:nvPicPr>
          <p:cNvPr descr="preencoded.png" id="653" name="Google Shape;653;p39"/>
          <p:cNvPicPr preferRelativeResize="0"/>
          <p:nvPr/>
        </p:nvPicPr>
        <p:blipFill rotWithShape="1">
          <a:blip r:embed="rId6">
            <a:alphaModFix/>
          </a:blip>
          <a:srcRect b="0" l="0" r="0" t="0"/>
          <a:stretch/>
        </p:blipFill>
        <p:spPr>
          <a:xfrm>
            <a:off x="703543" y="5525799"/>
            <a:ext cx="177205" cy="141684"/>
          </a:xfrm>
          <a:prstGeom prst="rect">
            <a:avLst/>
          </a:prstGeom>
          <a:noFill/>
          <a:ln>
            <a:noFill/>
          </a:ln>
        </p:spPr>
      </p:pic>
      <p:sp>
        <p:nvSpPr>
          <p:cNvPr id="654" name="Google Shape;654;p39"/>
          <p:cNvSpPr/>
          <p:nvPr/>
        </p:nvSpPr>
        <p:spPr>
          <a:xfrm>
            <a:off x="1022425" y="5512259"/>
            <a:ext cx="5732100" cy="252000"/>
          </a:xfrm>
          <a:prstGeom prst="rect">
            <a:avLst/>
          </a:prstGeom>
          <a:noFill/>
          <a:ln>
            <a:noFill/>
          </a:ln>
        </p:spPr>
        <p:txBody>
          <a:bodyPr anchorCtr="0" anchor="t" bIns="0" lIns="0" spcFirstLastPara="1" rIns="0" wrap="square" tIns="0">
            <a:noAutofit/>
          </a:bodyPr>
          <a:lstStyle/>
          <a:p>
            <a:pPr indent="0" lvl="0" marL="0" marR="0" rtl="0" algn="l">
              <a:lnSpc>
                <a:spcPct val="143750"/>
              </a:lnSpc>
              <a:spcBef>
                <a:spcPts val="0"/>
              </a:spcBef>
              <a:spcAft>
                <a:spcPts val="0"/>
              </a:spcAft>
              <a:buClr>
                <a:srgbClr val="000000"/>
              </a:buClr>
              <a:buSzPts val="1100"/>
              <a:buFont typeface="Inter"/>
              <a:buNone/>
            </a:pPr>
            <a:r>
              <a:rPr lang="fr-FR" sz="1000">
                <a:latin typeface="Inter"/>
                <a:ea typeface="Inter"/>
                <a:cs typeface="Inter"/>
                <a:sym typeface="Inter"/>
              </a:rPr>
              <a:t>Outil de veille stratégique pour anticiper les futures licornes</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000">
              <a:latin typeface="Inter"/>
              <a:ea typeface="Inter"/>
              <a:cs typeface="Inter"/>
              <a:sym typeface="Inter"/>
            </a:endParaRPr>
          </a:p>
          <a:p>
            <a:pPr indent="0" lvl="0" marL="0" marR="0" rtl="0" algn="l">
              <a:lnSpc>
                <a:spcPct val="143750"/>
              </a:lnSpc>
              <a:spcBef>
                <a:spcPts val="0"/>
              </a:spcBef>
              <a:spcAft>
                <a:spcPts val="0"/>
              </a:spcAft>
              <a:buClr>
                <a:srgbClr val="000000"/>
              </a:buClr>
              <a:buSzPts val="1100"/>
              <a:buFont typeface="Inter"/>
              <a:buNone/>
            </a:pPr>
            <a:r>
              <a:t/>
            </a:r>
            <a:endParaRPr sz="1100">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édit Agricole / Nouveau Terrritoire">
  <a:themeElements>
    <a:clrScheme name="Crédit Agricole - Nouveau Territoire">
      <a:dk1>
        <a:srgbClr val="707173"/>
      </a:dk1>
      <a:lt1>
        <a:srgbClr val="FFFFFF"/>
      </a:lt1>
      <a:dk2>
        <a:srgbClr val="ED1B2F"/>
      </a:dk2>
      <a:lt2>
        <a:srgbClr val="009597"/>
      </a:lt2>
      <a:accent1>
        <a:srgbClr val="006A4E"/>
      </a:accent1>
      <a:accent2>
        <a:srgbClr val="99C3B8"/>
      </a:accent2>
      <a:accent3>
        <a:srgbClr val="99CC00"/>
      </a:accent3>
      <a:accent4>
        <a:srgbClr val="D6EB99"/>
      </a:accent4>
      <a:accent5>
        <a:srgbClr val="009597"/>
      </a:accent5>
      <a:accent6>
        <a:srgbClr val="99D5D5"/>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